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Three-model pipeline on CUAD. Most of what we report is negative, and we present those results as the contribution.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ig/bracu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1516" y="292608"/>
            <a:ext cx="1645920" cy="15087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38048" y="1920240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Department of Computer Science and Engineering</a:t>
            </a:r>
            <a:endParaRPr lang="en-US" sz="2100" dirty="0"/>
          </a:p>
        </p:txBody>
      </p:sp>
      <p:sp>
        <p:nvSpPr>
          <p:cNvPr id="4" name="Text 1"/>
          <p:cNvSpPr txBox="1"/>
          <p:nvPr/>
        </p:nvSpPr>
        <p:spPr>
          <a:xfrm>
            <a:off x="838048" y="2395728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Legal Document Analysis System:</a:t>
            </a:r>
            <a:endParaRPr lang="en-US" sz="2700" dirty="0"/>
          </a:p>
          <a:p>
            <a:pPr algn="ctr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Clause Detection, Category-Level Risk Prioritization</a:t>
            </a:r>
            <a:endParaRPr lang="en-US" sz="2700" dirty="0"/>
          </a:p>
          <a:p>
            <a:pPr algn="ctr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Plain-Language Explanation on CUAD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838048" y="37490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838048" y="40233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ID: P25301051</a:t>
            </a:r>
            <a:endParaRPr lang="en-US" sz="1950" dirty="0"/>
          </a:p>
        </p:txBody>
      </p:sp>
      <p:sp>
        <p:nvSpPr>
          <p:cNvPr id="7" name="Text 4"/>
          <p:cNvSpPr txBox="1"/>
          <p:nvPr/>
        </p:nvSpPr>
        <p:spPr>
          <a:xfrm>
            <a:off x="838048" y="4352544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Jerin Aktar, 22101279</a:t>
            </a:r>
            <a:endParaRPr lang="en-US" sz="20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Afnan Mazumdar, 24141229</a:t>
            </a:r>
            <a:endParaRPr lang="en-US" sz="20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Shoyeb Hasan Sayem, 22101386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38048" y="5321808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750" dirty="0"/>
          </a:p>
        </p:txBody>
      </p:sp>
      <p:sp>
        <p:nvSpPr>
          <p:cNvPr id="9" name="Text 6"/>
          <p:cNvSpPr txBox="1"/>
          <p:nvPr/>
        </p:nvSpPr>
        <p:spPr>
          <a:xfrm>
            <a:off x="838048" y="559612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8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Utsha Kumar Roy</a:t>
            </a:r>
            <a:endParaRPr lang="en-US" sz="185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850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1850" dirty="0"/>
          </a:p>
        </p:txBody>
      </p:sp>
      <p:sp>
        <p:nvSpPr>
          <p:cNvPr id="10" name="Text 7"/>
          <p:cNvSpPr txBox="1"/>
          <p:nvPr/>
        </p:nvSpPr>
        <p:spPr>
          <a:xfrm>
            <a:off x="838048" y="6272784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Brac University  .  September 2026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3728" y="329184"/>
            <a:ext cx="110642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5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problem, and the data</a:t>
            </a:r>
            <a:endParaRPr lang="en-US" sz="3500" dirty="0"/>
          </a:p>
        </p:txBody>
      </p:sp>
      <p:sp>
        <p:nvSpPr>
          <p:cNvPr id="3" name="Text 1"/>
          <p:cNvSpPr txBox="1"/>
          <p:nvPr/>
        </p:nvSpPr>
        <p:spPr>
          <a:xfrm>
            <a:off x="563728" y="1024128"/>
            <a:ext cx="11064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are long, the clauses that matter are short, and 510 contracts is the whole dataset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600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33,000</a:t>
            </a:r>
            <a:endParaRPr lang="en-US" sz="4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66544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chars</a:t>
            </a:r>
            <a:endParaRPr lang="en-US" sz="1750" dirty="0"/>
          </a:p>
        </p:txBody>
      </p:sp>
      <p:sp>
        <p:nvSpPr>
          <p:cNvPr id="6" name="Text 4"/>
          <p:cNvSpPr txBox="1"/>
          <p:nvPr/>
        </p:nvSpPr>
        <p:spPr>
          <a:xfrm>
            <a:off x="2221992" y="1463040"/>
            <a:ext cx="1600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196</a:t>
            </a:r>
            <a:endParaRPr lang="en-US" sz="4250" dirty="0"/>
          </a:p>
        </p:txBody>
      </p:sp>
      <p:sp>
        <p:nvSpPr>
          <p:cNvPr id="7" name="Text 5"/>
          <p:cNvSpPr txBox="1"/>
          <p:nvPr/>
        </p:nvSpPr>
        <p:spPr>
          <a:xfrm>
            <a:off x="2221992" y="2066544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clause</a:t>
            </a:r>
            <a:endParaRPr lang="en-US" sz="1750" dirty="0"/>
          </a:p>
        </p:txBody>
      </p:sp>
      <p:sp>
        <p:nvSpPr>
          <p:cNvPr id="8" name="Text 6"/>
          <p:cNvSpPr txBox="1"/>
          <p:nvPr/>
        </p:nvSpPr>
        <p:spPr>
          <a:xfrm>
            <a:off x="3895344" y="1463040"/>
            <a:ext cx="1600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16×</a:t>
            </a:r>
            <a:endParaRPr lang="en-US" sz="4250" dirty="0"/>
          </a:p>
        </p:txBody>
      </p:sp>
      <p:sp>
        <p:nvSpPr>
          <p:cNvPr id="9" name="Text 7"/>
          <p:cNvSpPr txBox="1"/>
          <p:nvPr/>
        </p:nvSpPr>
        <p:spPr>
          <a:xfrm>
            <a:off x="3895344" y="2066544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the window</a:t>
            </a:r>
            <a:endParaRPr lang="en-US" sz="1750" dirty="0"/>
          </a:p>
        </p:txBody>
      </p:sp>
      <p:sp>
        <p:nvSpPr>
          <p:cNvPr id="10" name="Text 8"/>
          <p:cNvSpPr txBox="1"/>
          <p:nvPr/>
        </p:nvSpPr>
        <p:spPr>
          <a:xfrm>
            <a:off x="5568696" y="1463040"/>
            <a:ext cx="1600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</a:t>
            </a:r>
            <a:endParaRPr lang="en-US" sz="4250" dirty="0"/>
          </a:p>
        </p:txBody>
      </p:sp>
      <p:sp>
        <p:nvSpPr>
          <p:cNvPr id="11" name="Text 9"/>
          <p:cNvSpPr txBox="1"/>
          <p:nvPr/>
        </p:nvSpPr>
        <p:spPr>
          <a:xfrm>
            <a:off x="5568696" y="2066544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750" dirty="0"/>
          </a:p>
        </p:txBody>
      </p:sp>
      <p:pic>
        <p:nvPicPr>
          <p:cNvPr id="12" name="Image 0" descr="fig/split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606040"/>
            <a:ext cx="6583680" cy="3712464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548640" y="63367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Per-category positive rate, train vs test (Fig. 3.1)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406640" y="1371600"/>
            <a:ext cx="4297680" cy="1508760"/>
          </a:xfrm>
          <a:prstGeom prst="roundRect">
            <a:avLst>
              <a:gd name="adj" fmla="val 4242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589520" y="1545336"/>
            <a:ext cx="256032" cy="256032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936992" y="1481328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Contract-level 80/20 split</a:t>
            </a:r>
            <a:endParaRPr lang="en-US" sz="1950" dirty="0"/>
          </a:p>
        </p:txBody>
      </p:sp>
      <p:sp>
        <p:nvSpPr>
          <p:cNvPr id="17" name="Text 14"/>
          <p:cNvSpPr txBox="1"/>
          <p:nvPr/>
        </p:nvSpPr>
        <p:spPr>
          <a:xfrm>
            <a:off x="7607808" y="1883664"/>
            <a:ext cx="389534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408 train / 102 test, seed 42, shared by all three models. No training clause reaches the test set.</a:t>
            </a:r>
            <a:endParaRPr lang="en-US" sz="1750" dirty="0"/>
          </a:p>
        </p:txBody>
      </p:sp>
      <p:sp>
        <p:nvSpPr>
          <p:cNvPr id="18" name="Shape 15"/>
          <p:cNvSpPr/>
          <p:nvPr/>
        </p:nvSpPr>
        <p:spPr>
          <a:xfrm>
            <a:off x="7406640" y="3017520"/>
            <a:ext cx="4297680" cy="1600200"/>
          </a:xfrm>
          <a:prstGeom prst="roundRect">
            <a:avLst>
              <a:gd name="adj" fmla="val 4000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589520" y="3191256"/>
            <a:ext cx="256032" cy="256032"/>
          </a:xfrm>
          <a:prstGeom prst="ellipse">
            <a:avLst/>
          </a:prstGeom>
          <a:solidFill>
            <a:srgbClr val="E8A13A"/>
          </a:solidFill>
          <a:ln w="12700">
            <a:solidFill>
              <a:srgbClr val="E8A13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936992" y="3127248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imbalance</a:t>
            </a:r>
            <a:endParaRPr lang="en-US" sz="1950" dirty="0"/>
          </a:p>
        </p:txBody>
      </p:sp>
      <p:sp>
        <p:nvSpPr>
          <p:cNvPr id="21" name="Text 18"/>
          <p:cNvSpPr txBox="1"/>
          <p:nvPr/>
        </p:nvSpPr>
        <p:spPr>
          <a:xfrm>
            <a:off x="7607808" y="3529584"/>
            <a:ext cx="389534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rates run 100% to 2.5%. Five categories have ≤7 positive test contracts and score 0.000 F1.</a:t>
            </a:r>
            <a:endParaRPr lang="en-US" sz="1750" dirty="0"/>
          </a:p>
        </p:txBody>
      </p:sp>
      <p:sp>
        <p:nvSpPr>
          <p:cNvPr id="22" name="Shape 19"/>
          <p:cNvSpPr/>
          <p:nvPr/>
        </p:nvSpPr>
        <p:spPr>
          <a:xfrm>
            <a:off x="7406640" y="4754880"/>
            <a:ext cx="4297680" cy="1554480"/>
          </a:xfrm>
          <a:prstGeom prst="roundRect">
            <a:avLst>
              <a:gd name="adj" fmla="val 4118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589520" y="4928616"/>
            <a:ext cx="256032" cy="25603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936992" y="4864608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cannot be grown</a:t>
            </a:r>
            <a:endParaRPr lang="en-US" sz="1950" dirty="0"/>
          </a:p>
        </p:txBody>
      </p:sp>
      <p:sp>
        <p:nvSpPr>
          <p:cNvPr id="25" name="Text 22"/>
          <p:cNvSpPr txBox="1"/>
          <p:nvPr/>
        </p:nvSpPr>
        <p:spPr>
          <a:xfrm>
            <a:off x="7607808" y="5266944"/>
            <a:ext cx="389534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 reportedly cost =$2M of attorney time. Transfer learning is mandatory; overfitting is the enemy.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3728" y="329184"/>
            <a:ext cx="110642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5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pipeline, and how it reads a contract</a:t>
            </a:r>
            <a:endParaRPr lang="en-US" sz="3500" dirty="0"/>
          </a:p>
        </p:txBody>
      </p:sp>
      <p:sp>
        <p:nvSpPr>
          <p:cNvPr id="3" name="Text 1"/>
          <p:cNvSpPr txBox="1"/>
          <p:nvPr/>
        </p:nvSpPr>
        <p:spPr>
          <a:xfrm>
            <a:off x="563728" y="1024128"/>
            <a:ext cx="11064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stages, with a failure point at every boundary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057400" cy="1325880"/>
          </a:xfrm>
          <a:prstGeom prst="roundRect">
            <a:avLst>
              <a:gd name="adj" fmla="val 5517"/>
            </a:avLst>
          </a:prstGeom>
          <a:solidFill>
            <a:srgbClr val="EFF1F7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63040"/>
            <a:ext cx="1911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Contract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1847088"/>
            <a:ext cx="1911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text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2615184" y="1783080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C3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900" dirty="0"/>
          </a:p>
        </p:txBody>
      </p:sp>
      <p:sp>
        <p:nvSpPr>
          <p:cNvPr id="8" name="Shape 6"/>
          <p:cNvSpPr/>
          <p:nvPr/>
        </p:nvSpPr>
        <p:spPr>
          <a:xfrm>
            <a:off x="2807208" y="1371600"/>
            <a:ext cx="2057400" cy="1325880"/>
          </a:xfrm>
          <a:prstGeom prst="roundRect">
            <a:avLst>
              <a:gd name="adj" fmla="val 5517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80360" y="1463040"/>
            <a:ext cx="1911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Presence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2880360" y="1847088"/>
            <a:ext cx="1911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windowed BERT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873752" y="1783080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C3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900" dirty="0"/>
          </a:p>
        </p:txBody>
      </p:sp>
      <p:sp>
        <p:nvSpPr>
          <p:cNvPr id="12" name="Shape 10"/>
          <p:cNvSpPr/>
          <p:nvPr/>
        </p:nvSpPr>
        <p:spPr>
          <a:xfrm>
            <a:off x="5065776" y="1371600"/>
            <a:ext cx="2057400" cy="1325880"/>
          </a:xfrm>
          <a:prstGeom prst="roundRect">
            <a:avLst>
              <a:gd name="adj" fmla="val 5517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38928" y="1463040"/>
            <a:ext cx="1911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Span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5138928" y="1847088"/>
            <a:ext cx="1911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DistilBERT-QA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7132320" y="1783080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C3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900" dirty="0"/>
          </a:p>
        </p:txBody>
      </p:sp>
      <p:sp>
        <p:nvSpPr>
          <p:cNvPr id="16" name="Shape 14"/>
          <p:cNvSpPr/>
          <p:nvPr/>
        </p:nvSpPr>
        <p:spPr>
          <a:xfrm>
            <a:off x="7324344" y="1371600"/>
            <a:ext cx="2057400" cy="1325880"/>
          </a:xfrm>
          <a:prstGeom prst="roundRect">
            <a:avLst>
              <a:gd name="adj" fmla="val 5517"/>
            </a:avLst>
          </a:prstGeom>
          <a:solidFill>
            <a:srgbClr val="FDF6F0"/>
          </a:solidFill>
          <a:ln w="12700">
            <a:solidFill>
              <a:srgbClr val="F3DFC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97496" y="1463040"/>
            <a:ext cx="1911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Risk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7397496" y="1847088"/>
            <a:ext cx="1911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per-category lookup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9390888" y="1783080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C3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900" dirty="0"/>
          </a:p>
        </p:txBody>
      </p:sp>
      <p:sp>
        <p:nvSpPr>
          <p:cNvPr id="20" name="Shape 18"/>
          <p:cNvSpPr/>
          <p:nvPr/>
        </p:nvSpPr>
        <p:spPr>
          <a:xfrm>
            <a:off x="9582912" y="1371600"/>
            <a:ext cx="2057400" cy="1325880"/>
          </a:xfrm>
          <a:prstGeom prst="roundRect">
            <a:avLst>
              <a:gd name="adj" fmla="val 5517"/>
            </a:avLst>
          </a:prstGeom>
          <a:solidFill>
            <a:srgbClr val="FDF6F0"/>
          </a:solidFill>
          <a:ln w="12700">
            <a:solidFill>
              <a:srgbClr val="F3DFC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56064" y="1463040"/>
            <a:ext cx="1911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Explanation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9656064" y="1847088"/>
            <a:ext cx="1911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FLAN-T5 template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2807208" y="2816352"/>
            <a:ext cx="2057400" cy="420624"/>
          </a:xfrm>
          <a:prstGeom prst="roundRect">
            <a:avLst>
              <a:gd name="adj" fmla="val 10870"/>
            </a:avLst>
          </a:prstGeom>
          <a:solidFill>
            <a:srgbClr val="FDF0F1"/>
          </a:solidFill>
          <a:ln w="12700">
            <a:solidFill>
              <a:srgbClr val="F6D5D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852928" y="2816352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9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22.0% lost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5065776" y="2816352"/>
            <a:ext cx="2057400" cy="420624"/>
          </a:xfrm>
          <a:prstGeom prst="roundRect">
            <a:avLst>
              <a:gd name="adj" fmla="val 10870"/>
            </a:avLst>
          </a:prstGeom>
          <a:solidFill>
            <a:srgbClr val="FDF0F1"/>
          </a:solidFill>
          <a:ln w="12700">
            <a:solidFill>
              <a:srgbClr val="F6D5D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111496" y="2816352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9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56.3% lost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7324344" y="2816352"/>
            <a:ext cx="2057400" cy="420624"/>
          </a:xfrm>
          <a:prstGeom prst="roundRect">
            <a:avLst>
              <a:gd name="adj" fmla="val 10870"/>
            </a:avLst>
          </a:prstGeom>
          <a:solidFill>
            <a:srgbClr val="EEF8F3"/>
          </a:solidFill>
          <a:ln w="12700">
            <a:solidFill>
              <a:srgbClr val="CDEBD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370064" y="2816352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0%, lookup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9582912" y="2816352"/>
            <a:ext cx="2057400" cy="420624"/>
          </a:xfrm>
          <a:prstGeom prst="roundRect">
            <a:avLst>
              <a:gd name="adj" fmla="val 10870"/>
            </a:avLst>
          </a:prstGeom>
          <a:solidFill>
            <a:srgbClr val="FDF0F1"/>
          </a:solidFill>
          <a:ln w="12700">
            <a:solidFill>
              <a:srgbClr val="F6D5D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628632" y="2816352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9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wrong template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548640" y="3611880"/>
            <a:ext cx="7315200" cy="329184"/>
          </a:xfrm>
          <a:prstGeom prst="rect">
            <a:avLst/>
          </a:prstGeom>
          <a:solidFill>
            <a:srgbClr val="EFF1F7"/>
          </a:solidFill>
          <a:ln w="12700">
            <a:solidFill>
              <a:srgbClr val="D9DEE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46320" y="3611880"/>
            <a:ext cx="201168" cy="329184"/>
          </a:xfrm>
          <a:prstGeom prst="rect">
            <a:avLst/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794760" y="3291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D9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clause, 196 chars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548640" y="4069080"/>
            <a:ext cx="2011680" cy="310896"/>
          </a:xfrm>
          <a:prstGeom prst="roundRect">
            <a:avLst>
              <a:gd name="adj" fmla="val 11765"/>
            </a:avLst>
          </a:prstGeom>
          <a:solidFill>
            <a:srgbClr val="F6F7FB"/>
          </a:solidFill>
          <a:ln w="12700">
            <a:solidFill>
              <a:srgbClr val="D9DEE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48640" y="406908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1</a:t>
            </a:r>
            <a:endParaRPr lang="en-US" sz="1650" dirty="0"/>
          </a:p>
        </p:txBody>
      </p:sp>
      <p:sp>
        <p:nvSpPr>
          <p:cNvPr id="36" name="Text 34"/>
          <p:cNvSpPr txBox="1"/>
          <p:nvPr/>
        </p:nvSpPr>
        <p:spPr>
          <a:xfrm>
            <a:off x="2596896" y="406908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C3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1920240" y="4434840"/>
            <a:ext cx="2011680" cy="310896"/>
          </a:xfrm>
          <a:prstGeom prst="roundRect">
            <a:avLst>
              <a:gd name="adj" fmla="val 11765"/>
            </a:avLst>
          </a:prstGeom>
          <a:solidFill>
            <a:srgbClr val="F6F7FB"/>
          </a:solidFill>
          <a:ln w="12700">
            <a:solidFill>
              <a:srgbClr val="D9DEE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920240" y="443484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2</a:t>
            </a:r>
            <a:endParaRPr lang="en-US" sz="1650" dirty="0"/>
          </a:p>
        </p:txBody>
      </p:sp>
      <p:sp>
        <p:nvSpPr>
          <p:cNvPr id="39" name="Text 37"/>
          <p:cNvSpPr txBox="1"/>
          <p:nvPr/>
        </p:nvSpPr>
        <p:spPr>
          <a:xfrm>
            <a:off x="3968496" y="443484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C3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0.11</a:t>
            </a:r>
            <a:endParaRPr lang="en-US" sz="1650" dirty="0"/>
          </a:p>
        </p:txBody>
      </p:sp>
      <p:sp>
        <p:nvSpPr>
          <p:cNvPr id="40" name="Shape 38"/>
          <p:cNvSpPr/>
          <p:nvPr/>
        </p:nvSpPr>
        <p:spPr>
          <a:xfrm>
            <a:off x="3291840" y="4800600"/>
            <a:ext cx="2011680" cy="310896"/>
          </a:xfrm>
          <a:prstGeom prst="roundRect">
            <a:avLst>
              <a:gd name="adj" fmla="val 11765"/>
            </a:avLst>
          </a:prstGeom>
          <a:solidFill>
            <a:srgbClr val="F6F7FB"/>
          </a:solidFill>
          <a:ln w="12700">
            <a:solidFill>
              <a:srgbClr val="D9DEEC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291840" y="480060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3</a:t>
            </a:r>
            <a:endParaRPr lang="en-US" sz="1650" dirty="0"/>
          </a:p>
        </p:txBody>
      </p:sp>
      <p:sp>
        <p:nvSpPr>
          <p:cNvPr id="42" name="Text 40"/>
          <p:cNvSpPr txBox="1"/>
          <p:nvPr/>
        </p:nvSpPr>
        <p:spPr>
          <a:xfrm>
            <a:off x="5340096" y="480060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C3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</a:t>
            </a:r>
            <a:endParaRPr lang="en-US" sz="1650" dirty="0"/>
          </a:p>
        </p:txBody>
      </p:sp>
      <p:sp>
        <p:nvSpPr>
          <p:cNvPr id="43" name="Shape 41"/>
          <p:cNvSpPr/>
          <p:nvPr/>
        </p:nvSpPr>
        <p:spPr>
          <a:xfrm>
            <a:off x="4663440" y="5166360"/>
            <a:ext cx="2011680" cy="310896"/>
          </a:xfrm>
          <a:prstGeom prst="roundRect">
            <a:avLst>
              <a:gd name="adj" fmla="val 11765"/>
            </a:avLst>
          </a:prstGeom>
          <a:solidFill>
            <a:srgbClr val="EEF8F3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663440" y="516636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4</a:t>
            </a:r>
            <a:endParaRPr lang="en-US" sz="1650" dirty="0"/>
          </a:p>
        </p:txBody>
      </p:sp>
      <p:sp>
        <p:nvSpPr>
          <p:cNvPr id="45" name="Text 43"/>
          <p:cNvSpPr txBox="1"/>
          <p:nvPr/>
        </p:nvSpPr>
        <p:spPr>
          <a:xfrm>
            <a:off x="6711696" y="516636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</a:t>
            </a:r>
            <a:endParaRPr lang="en-US" sz="1650" dirty="0"/>
          </a:p>
        </p:txBody>
      </p:sp>
      <p:sp>
        <p:nvSpPr>
          <p:cNvPr id="46" name="Text 44"/>
          <p:cNvSpPr txBox="1"/>
          <p:nvPr/>
        </p:nvSpPr>
        <p:spPr>
          <a:xfrm>
            <a:off x="548640" y="555955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⋮  22 windows median, 226 longest</a:t>
            </a:r>
            <a:endParaRPr lang="en-US" sz="1650" dirty="0"/>
          </a:p>
        </p:txBody>
      </p:sp>
      <p:sp>
        <p:nvSpPr>
          <p:cNvPr id="47" name="Shape 45"/>
          <p:cNvSpPr/>
          <p:nvPr/>
        </p:nvSpPr>
        <p:spPr>
          <a:xfrm>
            <a:off x="5760720" y="4251960"/>
            <a:ext cx="2103120" cy="822960"/>
          </a:xfrm>
          <a:prstGeom prst="roundRect">
            <a:avLst>
              <a:gd name="adj" fmla="val 888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5806440" y="437083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= 0.91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present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8138160" y="3611880"/>
            <a:ext cx="3566160" cy="1280160"/>
          </a:xfrm>
          <a:prstGeom prst="roundRect">
            <a:avLst>
              <a:gd name="adj" fmla="val 5000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321040" y="3785616"/>
            <a:ext cx="256032" cy="256032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8668512" y="3721608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the ceiling</a:t>
            </a:r>
            <a:endParaRPr lang="en-US" sz="1950" dirty="0"/>
          </a:p>
        </p:txBody>
      </p:sp>
      <p:sp>
        <p:nvSpPr>
          <p:cNvPr id="52" name="Text 50"/>
          <p:cNvSpPr txBox="1"/>
          <p:nvPr/>
        </p:nvSpPr>
        <p:spPr>
          <a:xfrm>
            <a:off x="8339328" y="4123944"/>
            <a:ext cx="3163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 of 500 chars exceeds the median clause.</a:t>
            </a:r>
            <a:endParaRPr lang="en-US" sz="1750" dirty="0"/>
          </a:p>
        </p:txBody>
      </p:sp>
      <p:sp>
        <p:nvSpPr>
          <p:cNvPr id="53" name="Shape 51"/>
          <p:cNvSpPr/>
          <p:nvPr/>
        </p:nvSpPr>
        <p:spPr>
          <a:xfrm>
            <a:off x="8138160" y="5029200"/>
            <a:ext cx="3566160" cy="1325880"/>
          </a:xfrm>
          <a:prstGeom prst="roundRect">
            <a:avLst>
              <a:gd name="adj" fmla="val 4828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321040" y="5202936"/>
            <a:ext cx="256032" cy="256032"/>
          </a:xfrm>
          <a:prstGeom prst="ellipse">
            <a:avLst/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8668512" y="5138928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precision</a:t>
            </a:r>
            <a:endParaRPr lang="en-US" sz="1950" dirty="0"/>
          </a:p>
        </p:txBody>
      </p:sp>
      <p:sp>
        <p:nvSpPr>
          <p:cNvPr id="56" name="Text 54"/>
          <p:cNvSpPr txBox="1"/>
          <p:nvPr/>
        </p:nvSpPr>
        <p:spPr>
          <a:xfrm>
            <a:off x="8339328" y="5541264"/>
            <a:ext cx="316382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spurious window flips the whole contract positive.</a:t>
            </a:r>
            <a:endParaRPr lang="en-US" sz="1750" dirty="0"/>
          </a:p>
        </p:txBody>
      </p:sp>
      <p:sp>
        <p:nvSpPr>
          <p:cNvPr id="57" name="Text 55"/>
          <p:cNvSpPr txBox="1"/>
          <p:nvPr/>
        </p:nvSpPr>
        <p:spPr>
          <a:xfrm>
            <a:off x="548640" y="5943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caps recall at 64.0%, below the baseline, so it was dropped.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3728" y="329184"/>
            <a:ext cx="110642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5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trained, and how we test</a:t>
            </a:r>
            <a:endParaRPr lang="en-US" sz="3500" dirty="0"/>
          </a:p>
        </p:txBody>
      </p:sp>
      <p:sp>
        <p:nvSpPr>
          <p:cNvPr id="3" name="Text 1"/>
          <p:cNvSpPr txBox="1"/>
          <p:nvPr/>
        </p:nvSpPr>
        <p:spPr>
          <a:xfrm>
            <a:off x="563728" y="1024128"/>
            <a:ext cx="11064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models on one laptop; one held-out split reused by all of them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6675120" cy="512064"/>
          </a:xfrm>
          <a:prstGeom prst="rect">
            <a:avLst/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499616"/>
            <a:ext cx="256032" cy="25603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78992" y="1371600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</a:t>
            </a:r>
            <a:endParaRPr lang="en-US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2514600" y="1371600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· 24,000 of 53,662 windows · batch 16 · LR 2e-5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6263640" y="1371600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=49 min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48640" y="1938528"/>
            <a:ext cx="66751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2066544"/>
            <a:ext cx="256032" cy="25603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78992" y="1938528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</a:t>
            </a:r>
            <a:endParaRPr lang="en-US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2514600" y="1938528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DistilBERT-QA · 8,000 of 11,156 · 320 tokens · LR 3e-5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1938528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=23 min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548640" y="2505456"/>
            <a:ext cx="6675120" cy="512064"/>
          </a:xfrm>
          <a:prstGeom prst="rect">
            <a:avLst/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" y="2633472"/>
            <a:ext cx="256032" cy="256032"/>
          </a:xfrm>
          <a:prstGeom prst="ellipse">
            <a:avLst/>
          </a:prstGeom>
          <a:solidFill>
            <a:srgbClr val="E8A13A"/>
          </a:solidFill>
          <a:ln w="12700">
            <a:solidFill>
              <a:srgbClr val="E8A13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78992" y="2505456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lang="en-US" sz="1650" dirty="0"/>
          </a:p>
        </p:txBody>
      </p:sp>
      <p:sp>
        <p:nvSpPr>
          <p:cNvPr id="17" name="Text 15"/>
          <p:cNvSpPr txBox="1"/>
          <p:nvPr/>
        </p:nvSpPr>
        <p:spPr>
          <a:xfrm>
            <a:off x="2514600" y="2505456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FLAN-T5-small · 4,000 of 11,156 · CPU · LR 3e-4</a:t>
            </a:r>
            <a:endParaRPr lang="en-US" sz="165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2505456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=8 min</a:t>
            </a:r>
            <a:endParaRPr lang="en-US" sz="1750" dirty="0"/>
          </a:p>
        </p:txBody>
      </p:sp>
      <p:pic>
        <p:nvPicPr>
          <p:cNvPr id="19" name="Image 0" descr="fig/lr_schedu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0"/>
            <a:ext cx="6675120" cy="1883664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548640" y="5102352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decay, no warmup (Fig. 5.1)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5349240"/>
            <a:ext cx="6675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M4, 16 GB, Metal, no CUDA. DeBERTa-v3 gave NaN gradients; clipping fires on 98.4% of steps.</a:t>
            </a:r>
            <a:endParaRPr lang="en-US" sz="1700" dirty="0"/>
          </a:p>
        </p:txBody>
      </p:sp>
      <p:sp>
        <p:nvSpPr>
          <p:cNvPr id="22" name="Shape 19"/>
          <p:cNvSpPr/>
          <p:nvPr/>
        </p:nvSpPr>
        <p:spPr>
          <a:xfrm>
            <a:off x="7498080" y="1371600"/>
            <a:ext cx="4206240" cy="1481328"/>
          </a:xfrm>
          <a:prstGeom prst="roundRect">
            <a:avLst>
              <a:gd name="adj" fmla="val 4321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680960" y="1545336"/>
            <a:ext cx="256032" cy="256032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028432" y="1481328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held out</a:t>
            </a:r>
            <a:endParaRPr lang="en-US" sz="1950" dirty="0"/>
          </a:p>
        </p:txBody>
      </p:sp>
      <p:sp>
        <p:nvSpPr>
          <p:cNvPr id="25" name="Text 22"/>
          <p:cNvSpPr txBox="1"/>
          <p:nvPr/>
        </p:nvSpPr>
        <p:spPr>
          <a:xfrm>
            <a:off x="7699248" y="1883664"/>
            <a:ext cx="38039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Presence: 5% of TRAINING windows. Span and summarizer: nothing. No hyperparameter was ever tuned.</a:t>
            </a:r>
            <a:endParaRPr lang="en-US" sz="1750" dirty="0"/>
          </a:p>
        </p:txBody>
      </p:sp>
      <p:sp>
        <p:nvSpPr>
          <p:cNvPr id="26" name="Shape 23"/>
          <p:cNvSpPr/>
          <p:nvPr/>
        </p:nvSpPr>
        <p:spPr>
          <a:xfrm>
            <a:off x="7498080" y="2971800"/>
            <a:ext cx="4206240" cy="1481328"/>
          </a:xfrm>
          <a:prstGeom prst="roundRect">
            <a:avLst>
              <a:gd name="adj" fmla="val 4321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680960" y="3145536"/>
            <a:ext cx="256032" cy="256032"/>
          </a:xfrm>
          <a:prstGeom prst="ellipse">
            <a:avLst/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028432" y="3081528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thing we got wrong</a:t>
            </a:r>
            <a:endParaRPr lang="en-US" sz="1950" dirty="0"/>
          </a:p>
        </p:txBody>
      </p:sp>
      <p:sp>
        <p:nvSpPr>
          <p:cNvPr id="29" name="Text 26"/>
          <p:cNvSpPr txBox="1"/>
          <p:nvPr/>
        </p:nvSpPr>
        <p:spPr>
          <a:xfrm>
            <a:off x="7699248" y="3483864"/>
            <a:ext cx="38039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exploratory summarizer run monitored loss on 300 TEST clauses. It selected no checkpoint.</a:t>
            </a:r>
            <a:endParaRPr lang="en-US" sz="1750" dirty="0"/>
          </a:p>
        </p:txBody>
      </p:sp>
      <p:sp>
        <p:nvSpPr>
          <p:cNvPr id="30" name="Shape 27"/>
          <p:cNvSpPr/>
          <p:nvPr/>
        </p:nvSpPr>
        <p:spPr>
          <a:xfrm>
            <a:off x="7498080" y="4517136"/>
            <a:ext cx="4206240" cy="1783080"/>
          </a:xfrm>
          <a:prstGeom prst="roundRect">
            <a:avLst>
              <a:gd name="adj" fmla="val 3590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680960" y="4690872"/>
            <a:ext cx="256032" cy="25603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028432" y="4626864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test</a:t>
            </a:r>
            <a:endParaRPr lang="en-US" sz="1950" dirty="0"/>
          </a:p>
        </p:txBody>
      </p:sp>
      <p:sp>
        <p:nvSpPr>
          <p:cNvPr id="33" name="Text 30"/>
          <p:cNvSpPr txBox="1"/>
          <p:nvPr/>
        </p:nvSpPr>
        <p:spPr>
          <a:xfrm>
            <a:off x="7699248" y="5029200"/>
            <a:ext cx="380390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 unseen contracts, 4,182 decisions, 2,667 span windows. Bootstrap resamples CONTRACTS, not cells.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3728" y="329184"/>
            <a:ext cx="110642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5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RQ1: the transformer loses to a bag of words</a:t>
            </a:r>
            <a:endParaRPr lang="en-US" sz="3500" dirty="0"/>
          </a:p>
        </p:txBody>
      </p:sp>
      <p:sp>
        <p:nvSpPr>
          <p:cNvPr id="3" name="Text 1"/>
          <p:cNvSpPr txBox="1"/>
          <p:nvPr/>
        </p:nvSpPr>
        <p:spPr>
          <a:xfrm>
            <a:off x="563728" y="1024128"/>
            <a:ext cx="11064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micro-F1 over 4,182 (contract, category) decisions</a:t>
            </a:r>
            <a:endParaRPr lang="en-US" sz="1600" dirty="0"/>
          </a:p>
        </p:txBody>
      </p:sp>
      <p:pic>
        <p:nvPicPr>
          <p:cNvPr id="4" name="Image 0" descr="fig/chart_leader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035040" cy="3465576"/>
          </a:xfrm>
          <a:prstGeom prst="rect">
            <a:avLst/>
          </a:prstGeom>
        </p:spPr>
      </p:pic>
      <p:pic>
        <p:nvPicPr>
          <p:cNvPr id="5" name="Image 1" descr="fig/per_category_f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892040"/>
            <a:ext cx="2788920" cy="171907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3520440" y="52120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Per-category F1, twelve</a:t>
            </a:r>
            <a:endParaRPr lang="en-US" sz="1700" dirty="0"/>
          </a:p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categories (Fig. 6.3)</a:t>
            </a:r>
            <a:endParaRPr lang="en-US" sz="1700" dirty="0"/>
          </a:p>
        </p:txBody>
      </p:sp>
      <p:sp>
        <p:nvSpPr>
          <p:cNvPr id="7" name="Shape 3"/>
          <p:cNvSpPr/>
          <p:nvPr/>
        </p:nvSpPr>
        <p:spPr>
          <a:xfrm>
            <a:off x="6766560" y="1371600"/>
            <a:ext cx="4937760" cy="1463040"/>
          </a:xfrm>
          <a:prstGeom prst="roundRect">
            <a:avLst>
              <a:gd name="adj" fmla="val 4375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6949440" y="1545336"/>
            <a:ext cx="256032" cy="256032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296912" y="1481328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stand behind</a:t>
            </a:r>
            <a:endParaRPr lang="en-US" sz="1950" dirty="0"/>
          </a:p>
        </p:txBody>
      </p:sp>
      <p:sp>
        <p:nvSpPr>
          <p:cNvPr id="10" name="Text 6"/>
          <p:cNvSpPr txBox="1"/>
          <p:nvPr/>
        </p:nvSpPr>
        <p:spPr>
          <a:xfrm>
            <a:off x="6967728" y="1883664"/>
            <a:ext cx="45354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lexical baseline beats the windowed transformer by +0.081, and it survives every control we could construct.</a:t>
            </a:r>
            <a:endParaRPr lang="en-US" sz="1750" dirty="0"/>
          </a:p>
        </p:txBody>
      </p:sp>
      <p:sp>
        <p:nvSpPr>
          <p:cNvPr id="11" name="Shape 7"/>
          <p:cNvSpPr/>
          <p:nvPr/>
        </p:nvSpPr>
        <p:spPr>
          <a:xfrm>
            <a:off x="6766560" y="2971800"/>
            <a:ext cx="4937760" cy="1463040"/>
          </a:xfrm>
          <a:prstGeom prst="roundRect">
            <a:avLst>
              <a:gd name="adj" fmla="val 4375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949440" y="3145536"/>
            <a:ext cx="256032" cy="256032"/>
          </a:xfrm>
          <a:prstGeom prst="ellipse">
            <a:avLst/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296912" y="3081528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withdrew</a:t>
            </a:r>
            <a:endParaRPr lang="en-US" sz="1950" dirty="0"/>
          </a:p>
        </p:txBody>
      </p:sp>
      <p:sp>
        <p:nvSpPr>
          <p:cNvPr id="14" name="Text 10"/>
          <p:cNvSpPr txBox="1"/>
          <p:nvPr/>
        </p:nvSpPr>
        <p:spPr>
          <a:xfrm>
            <a:off x="6967728" y="3483864"/>
            <a:ext cx="45354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ensemble's +0.0014 lead is not a result: bootstrap, seed variance and split variance all exceed it.</a:t>
            </a:r>
            <a:endParaRPr lang="en-US" sz="1750" dirty="0"/>
          </a:p>
        </p:txBody>
      </p:sp>
      <p:sp>
        <p:nvSpPr>
          <p:cNvPr id="15" name="Shape 11"/>
          <p:cNvSpPr/>
          <p:nvPr/>
        </p:nvSpPr>
        <p:spPr>
          <a:xfrm>
            <a:off x="6766560" y="4572000"/>
            <a:ext cx="4937760" cy="1737360"/>
          </a:xfrm>
          <a:prstGeom prst="roundRect">
            <a:avLst>
              <a:gd name="adj" fmla="val 3684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949440" y="4745736"/>
            <a:ext cx="256032" cy="256032"/>
          </a:xfrm>
          <a:prstGeom prst="ellipse">
            <a:avLst/>
          </a:prstGeom>
          <a:solidFill>
            <a:srgbClr val="E8A13A"/>
          </a:solidFill>
          <a:ln w="12700">
            <a:solidFill>
              <a:srgbClr val="E8A13A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7296912" y="4681728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ends of the scale</a:t>
            </a:r>
            <a:endParaRPr lang="en-US" sz="1950" dirty="0"/>
          </a:p>
        </p:txBody>
      </p:sp>
      <p:sp>
        <p:nvSpPr>
          <p:cNvPr id="18" name="Text 14"/>
          <p:cNvSpPr txBox="1"/>
          <p:nvPr/>
        </p:nvSpPr>
        <p:spPr>
          <a:xfrm>
            <a:off x="6967728" y="5084064"/>
            <a:ext cx="453542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Name 1.000, Parties 0.995, Governing Law 0.961. Five categories with ≤7 test positives score 0.000, micro-F1 0.776 against macro-F1 0.572.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3728" y="329184"/>
            <a:ext cx="110642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5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ranked a leaderboard by noise</a:t>
            </a:r>
            <a:endParaRPr lang="en-US" sz="3500" dirty="0"/>
          </a:p>
        </p:txBody>
      </p:sp>
      <p:sp>
        <p:nvSpPr>
          <p:cNvPr id="3" name="Text 1"/>
          <p:cNvSpPr txBox="1"/>
          <p:nvPr/>
        </p:nvSpPr>
        <p:spPr>
          <a:xfrm>
            <a:off x="563728" y="1024128"/>
            <a:ext cx="11064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alternative explanation for the transformer's defeat, tested one at a time</a:t>
            </a:r>
            <a:endParaRPr lang="en-US" sz="1600" dirty="0"/>
          </a:p>
        </p:txBody>
      </p:sp>
      <p:pic>
        <p:nvPicPr>
          <p:cNvPr id="4" name="Image 0" descr="fig/chart_vari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309360" cy="38130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086600" y="1417320"/>
            <a:ext cx="461772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Undertrained?  all 53,662 windows → −0.0004</a:t>
            </a:r>
            <a:endParaRPr lang="en-US" sz="17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Unlucky seed?  3 seeds → the gap is 9.5 SD</a:t>
            </a:r>
            <a:endParaRPr lang="en-US" sz="17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pooling?  6 rules → none reach the baseline</a:t>
            </a:r>
            <a:endParaRPr lang="en-US" sz="17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7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threshold?  explains 0.056, a real caveat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7086600" y="3337560"/>
            <a:ext cx="4617720" cy="1371600"/>
          </a:xfrm>
          <a:prstGeom prst="roundRect">
            <a:avLst>
              <a:gd name="adj" fmla="val 4667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269480" y="3511296"/>
            <a:ext cx="256032" cy="25603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616952" y="344728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keep the ensemble at all?</a:t>
            </a:r>
            <a:endParaRPr lang="en-US" sz="1950" dirty="0"/>
          </a:p>
        </p:txBody>
      </p:sp>
      <p:sp>
        <p:nvSpPr>
          <p:cNvPr id="9" name="Text 6"/>
          <p:cNvSpPr txBox="1"/>
          <p:nvPr/>
        </p:nvSpPr>
        <p:spPr>
          <a:xfrm>
            <a:off x="7287768" y="3849624"/>
            <a:ext cx="42153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it changes nothing measurably, which is itself a finding.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086600" y="4846320"/>
            <a:ext cx="4617720" cy="1463040"/>
          </a:xfrm>
          <a:prstGeom prst="roundRect">
            <a:avLst>
              <a:gd name="adj" fmla="val 4375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269480" y="5020056"/>
            <a:ext cx="256032" cy="256032"/>
          </a:xfrm>
          <a:prstGeom prst="ellipse">
            <a:avLst/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616952" y="495604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conclusion</a:t>
            </a:r>
            <a:endParaRPr lang="en-US" sz="1950" dirty="0"/>
          </a:p>
        </p:txBody>
      </p:sp>
      <p:sp>
        <p:nvSpPr>
          <p:cNvPr id="13" name="Text 10"/>
          <p:cNvSpPr txBox="1"/>
          <p:nvPr/>
        </p:nvSpPr>
        <p:spPr>
          <a:xfrm>
            <a:off x="7287768" y="5358384"/>
            <a:ext cx="421538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transformer loses. Not a budget, seed or aggregation artefact.</a:t>
            </a:r>
            <a:endParaRPr lang="en-US" sz="175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5349240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variance (SD 0.0063 over 20 refits) is the largest, and reseeding cannot see it.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3728" y="329184"/>
            <a:ext cx="110642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5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threshold, and what the confidence means</a:t>
            </a:r>
            <a:endParaRPr lang="en-US" sz="3500" dirty="0"/>
          </a:p>
        </p:txBody>
      </p:sp>
      <p:sp>
        <p:nvSpPr>
          <p:cNvPr id="3" name="Text 1"/>
          <p:cNvSpPr txBox="1"/>
          <p:nvPr/>
        </p:nvSpPr>
        <p:spPr>
          <a:xfrm>
            <a:off x="563728" y="1024128"/>
            <a:ext cx="11064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measured only after the fact, and both turned out to matter</a:t>
            </a:r>
            <a:endParaRPr lang="en-US" sz="1600" dirty="0"/>
          </a:p>
        </p:txBody>
      </p:sp>
      <p:pic>
        <p:nvPicPr>
          <p:cNvPr id="4" name="Image 0" descr="fig/threshold_calib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949440" cy="2651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0416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sweep and reliability diagram (Fig. 6.4)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772400" y="1371600"/>
            <a:ext cx="3931920" cy="1325880"/>
          </a:xfrm>
          <a:prstGeom prst="roundRect">
            <a:avLst>
              <a:gd name="adj" fmla="val 4828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955280" y="1545336"/>
            <a:ext cx="256032" cy="256032"/>
          </a:xfrm>
          <a:prstGeom prst="ellipse">
            <a:avLst/>
          </a:prstGeom>
          <a:solidFill>
            <a:srgbClr val="E8A13A"/>
          </a:solidFill>
          <a:ln w="12700">
            <a:solidFill>
              <a:srgbClr val="E8A13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302752" y="148132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is the softmax default</a:t>
            </a:r>
            <a:endParaRPr lang="en-US" sz="1950" dirty="0"/>
          </a:p>
        </p:txBody>
      </p:sp>
      <p:sp>
        <p:nvSpPr>
          <p:cNvPr id="9" name="Text 6"/>
          <p:cNvSpPr txBox="1"/>
          <p:nvPr/>
        </p:nvSpPr>
        <p:spPr>
          <a:xfrm>
            <a:off x="7973568" y="1883664"/>
            <a:ext cx="352958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Swept, it reaches 0.750 instead of 0.694.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772400" y="2816352"/>
            <a:ext cx="3931920" cy="1353312"/>
          </a:xfrm>
          <a:prstGeom prst="roundRect">
            <a:avLst>
              <a:gd name="adj" fmla="val 4730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955280" y="2990088"/>
            <a:ext cx="256032" cy="256032"/>
          </a:xfrm>
          <a:prstGeom prst="ellipse">
            <a:avLst/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02752" y="2926080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 0.201</a:t>
            </a:r>
            <a:endParaRPr lang="en-US" sz="1950" dirty="0"/>
          </a:p>
        </p:txBody>
      </p:sp>
      <p:sp>
        <p:nvSpPr>
          <p:cNvPr id="13" name="Text 10"/>
          <p:cNvSpPr txBox="1"/>
          <p:nvPr/>
        </p:nvSpPr>
        <p:spPr>
          <a:xfrm>
            <a:off x="7973568" y="3328416"/>
            <a:ext cx="35295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0.9 means the clause is there about 73% of the time.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548640" y="4370832"/>
            <a:ext cx="11155680" cy="1353312"/>
          </a:xfrm>
          <a:prstGeom prst="roundRect">
            <a:avLst>
              <a:gd name="adj" fmla="val 4730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31520" y="4544568"/>
            <a:ext cx="256032" cy="256032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78992" y="4480560"/>
            <a:ext cx="10469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would do about it</a:t>
            </a:r>
            <a:endParaRPr lang="en-US" sz="1950" dirty="0"/>
          </a:p>
        </p:txBody>
      </p:sp>
      <p:sp>
        <p:nvSpPr>
          <p:cNvPr id="17" name="Text 14"/>
          <p:cNvSpPr txBox="1"/>
          <p:nvPr/>
        </p:nvSpPr>
        <p:spPr>
          <a:xfrm>
            <a:off x="749808" y="4882896"/>
            <a:ext cx="107533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 not adopt it: choosing a threshold on test data is the tuning our protocol forbids. The fix is to carve a validation split from the training contracts and select it there.</a:t>
            </a:r>
            <a:endParaRPr lang="en-US" sz="175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5870448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presence model also over-fires by design: precision 0.562 at threshold 0.5, and more training data moved recall up (0.908 → 0.927) while precision fell, a maximum over -35 windows is 35 chances to be wrong.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3728" y="329184"/>
            <a:ext cx="110642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5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metric disagrees with the purpose</a:t>
            </a:r>
            <a:endParaRPr lang="en-US" sz="3500" dirty="0"/>
          </a:p>
        </p:txBody>
      </p:sp>
      <p:sp>
        <p:nvSpPr>
          <p:cNvPr id="3" name="Text 1"/>
          <p:cNvSpPr txBox="1"/>
          <p:nvPr/>
        </p:nvSpPr>
        <p:spPr>
          <a:xfrm>
            <a:off x="563728" y="1024128"/>
            <a:ext cx="11064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 of HIGH-RISK clauses missed, by configuration</a:t>
            </a:r>
            <a:endParaRPr lang="en-US" sz="1600" dirty="0"/>
          </a:p>
        </p:txBody>
      </p:sp>
      <p:pic>
        <p:nvPicPr>
          <p:cNvPr id="4" name="Image 0" descr="fig/chart_highris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6675120" cy="40325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60920" y="1517904"/>
            <a:ext cx="4343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94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best model on micro-F1 is the worst on high-risk clauses.</a:t>
            </a:r>
            <a:endParaRPr lang="en-US" sz="2100" dirty="0"/>
          </a:p>
        </p:txBody>
      </p:sp>
      <p:sp>
        <p:nvSpPr>
          <p:cNvPr id="6" name="Text 3"/>
          <p:cNvSpPr txBox="1"/>
          <p:nvPr/>
        </p:nvSpPr>
        <p:spPr>
          <a:xfrm>
            <a:off x="7360920" y="2359152"/>
            <a:ext cx="43434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176 High-risk gold clauses in 102 contracts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finds 110 and loses 66; OR finds 152 and loses 24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on micro-F1 costs a signer 42 High-risk clauses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thirds of micro-F1's mass is dates and party names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7360920" y="4434840"/>
            <a:ext cx="4343400" cy="1691640"/>
          </a:xfrm>
          <a:prstGeom prst="roundRect">
            <a:avLst>
              <a:gd name="adj" fmla="val 3784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543800" y="4608576"/>
            <a:ext cx="256032" cy="256032"/>
          </a:xfrm>
          <a:prstGeom prst="ellipse">
            <a:avLst/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891272" y="454456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on the rare tail</a:t>
            </a:r>
            <a:endParaRPr lang="en-US" sz="1950" dirty="0"/>
          </a:p>
        </p:txBody>
      </p:sp>
      <p:sp>
        <p:nvSpPr>
          <p:cNvPr id="10" name="Text 7"/>
          <p:cNvSpPr txBox="1"/>
          <p:nvPr/>
        </p:nvSpPr>
        <p:spPr>
          <a:xfrm>
            <a:off x="7562088" y="4946904"/>
            <a:ext cx="394106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AND rule adds nothing at all: F1 0.343 either way, with detections cut from 35 of 70 to 17 of 70.</a:t>
            </a:r>
            <a:endParaRPr lang="en-US" sz="17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5349240"/>
            <a:ext cx="6309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diagnosis, not a retuning: choosing OR after seeing these results would be test-set selection.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3728" y="329184"/>
            <a:ext cx="110642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5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span model is handed the wrong window</a:t>
            </a:r>
            <a:endParaRPr lang="en-US" sz="3500" dirty="0"/>
          </a:p>
        </p:txBody>
      </p:sp>
      <p:sp>
        <p:nvSpPr>
          <p:cNvPr id="3" name="Text 1"/>
          <p:cNvSpPr txBox="1"/>
          <p:nvPr/>
        </p:nvSpPr>
        <p:spPr>
          <a:xfrm>
            <a:off x="563728" y="1024128"/>
            <a:ext cx="11064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taught it a layout that inference never provides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training time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303520" cy="411480"/>
          </a:xfrm>
          <a:prstGeom prst="rect">
            <a:avLst/>
          </a:prstGeom>
          <a:solidFill>
            <a:srgbClr val="F6F7FB"/>
          </a:solidFill>
          <a:ln w="12700">
            <a:solidFill>
              <a:srgbClr val="D9DE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07008" y="1737360"/>
            <a:ext cx="1371600" cy="411480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207008" y="17373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21284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=150 chars in, every single example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355080" y="1371600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inference time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355080" y="1737360"/>
            <a:ext cx="5349240" cy="411480"/>
          </a:xfrm>
          <a:prstGeom prst="rect">
            <a:avLst/>
          </a:prstGeom>
          <a:solidFill>
            <a:srgbClr val="F6F7FB"/>
          </a:solidFill>
          <a:ln w="12700">
            <a:solidFill>
              <a:srgbClr val="D9DE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49640" y="1737360"/>
            <a:ext cx="1188720" cy="411480"/>
          </a:xfrm>
          <a:prstGeom prst="rect">
            <a:avLst/>
          </a:prstGeom>
          <a:solidFill>
            <a:srgbClr val="E8A13A"/>
          </a:solidFill>
          <a:ln w="12700">
            <a:solidFill>
              <a:srgbClr val="E8A1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55080" y="2249424"/>
            <a:ext cx="5349240" cy="411480"/>
          </a:xfrm>
          <a:prstGeom prst="rect">
            <a:avLst/>
          </a:prstGeom>
          <a:solidFill>
            <a:srgbClr val="F6F7FB"/>
          </a:solidFill>
          <a:ln w="12700">
            <a:solidFill>
              <a:srgbClr val="D9DE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89720" y="2249424"/>
            <a:ext cx="1188720" cy="411480"/>
          </a:xfrm>
          <a:prstGeom prst="rect">
            <a:avLst/>
          </a:prstGeom>
          <a:solidFill>
            <a:srgbClr val="E8A13A"/>
          </a:solidFill>
          <a:ln w="12700">
            <a:solidFill>
              <a:srgbClr val="E8A1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55080" y="2761488"/>
            <a:ext cx="5349240" cy="411480"/>
          </a:xfrm>
          <a:prstGeom prst="rect">
            <a:avLst/>
          </a:prstGeom>
          <a:solidFill>
            <a:srgbClr val="F6F7FB"/>
          </a:solidFill>
          <a:ln w="12700">
            <a:solidFill>
              <a:srgbClr val="D9DE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75120" y="2761488"/>
            <a:ext cx="1188720" cy="411480"/>
          </a:xfrm>
          <a:prstGeom prst="rect">
            <a:avLst/>
          </a:prstGeom>
          <a:solidFill>
            <a:srgbClr val="E8A13A"/>
          </a:solidFill>
          <a:ln w="12700">
            <a:solidFill>
              <a:srgbClr val="E8A13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55080" y="3310128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8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anywhere, or not in the window at all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712464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50" b="1" dirty="0">
                <a:solidFill>
                  <a:srgbClr val="D94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31.7%</a:t>
            </a:r>
            <a:endParaRPr lang="en-US" sz="42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315968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window has no clause</a:t>
            </a:r>
            <a:endParaRPr lang="en-US" sz="1750" dirty="0"/>
          </a:p>
        </p:txBody>
      </p:sp>
      <p:sp>
        <p:nvSpPr>
          <p:cNvPr id="19" name="Text 17"/>
          <p:cNvSpPr txBox="1"/>
          <p:nvPr/>
        </p:nvSpPr>
        <p:spPr>
          <a:xfrm>
            <a:off x="3337560" y="3712464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50" b="1" dirty="0">
                <a:solidFill>
                  <a:srgbClr val="D94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39.7%</a:t>
            </a:r>
            <a:endParaRPr lang="en-US" sz="4250" dirty="0"/>
          </a:p>
        </p:txBody>
      </p:sp>
      <p:sp>
        <p:nvSpPr>
          <p:cNvPr id="20" name="Text 18"/>
          <p:cNvSpPr txBox="1"/>
          <p:nvPr/>
        </p:nvSpPr>
        <p:spPr>
          <a:xfrm>
            <a:off x="3337560" y="4315968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when the window IS right</a:t>
            </a:r>
            <a:endParaRPr lang="en-US" sz="1750" dirty="0"/>
          </a:p>
        </p:txBody>
      </p:sp>
      <p:sp>
        <p:nvSpPr>
          <p:cNvPr id="21" name="Text 19"/>
          <p:cNvSpPr txBox="1"/>
          <p:nvPr/>
        </p:nvSpPr>
        <p:spPr>
          <a:xfrm>
            <a:off x="6126480" y="3712464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50" b="1" dirty="0">
                <a:solidFill>
                  <a:srgbClr val="D94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0.386</a:t>
            </a:r>
            <a:endParaRPr lang="en-US" sz="4250" dirty="0"/>
          </a:p>
        </p:txBody>
      </p:sp>
      <p:sp>
        <p:nvSpPr>
          <p:cNvPr id="22" name="Text 20"/>
          <p:cNvSpPr txBox="1"/>
          <p:nvPr/>
        </p:nvSpPr>
        <p:spPr>
          <a:xfrm>
            <a:off x="6126480" y="4315968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token-F1 in the pipeline, from 0.763</a:t>
            </a:r>
            <a:endParaRPr lang="en-US" sz="1750" dirty="0"/>
          </a:p>
        </p:txBody>
      </p:sp>
      <p:sp>
        <p:nvSpPr>
          <p:cNvPr id="23" name="Text 21"/>
          <p:cNvSpPr txBox="1"/>
          <p:nvPr/>
        </p:nvSpPr>
        <p:spPr>
          <a:xfrm>
            <a:off x="9372600" y="3712464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50" b="1" dirty="0">
                <a:solidFill>
                  <a:srgbClr val="D94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250" dirty="0"/>
          </a:p>
        </p:txBody>
      </p:sp>
      <p:sp>
        <p:nvSpPr>
          <p:cNvPr id="24" name="Text 22"/>
          <p:cNvSpPr txBox="1"/>
          <p:nvPr/>
        </p:nvSpPr>
        <p:spPr>
          <a:xfrm>
            <a:off x="9372600" y="4315968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ways to say “not here”</a:t>
            </a:r>
            <a:endParaRPr lang="en-US" sz="1750" dirty="0"/>
          </a:p>
        </p:txBody>
      </p:sp>
      <p:sp>
        <p:nvSpPr>
          <p:cNvPr id="25" name="Shape 23"/>
          <p:cNvSpPr/>
          <p:nvPr/>
        </p:nvSpPr>
        <p:spPr>
          <a:xfrm>
            <a:off x="548640" y="4983480"/>
            <a:ext cx="11155680" cy="1371600"/>
          </a:xfrm>
          <a:prstGeom prst="roundRect">
            <a:avLst>
              <a:gd name="adj" fmla="val 4667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" y="5157216"/>
            <a:ext cx="256032" cy="25603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78992" y="5093208"/>
            <a:ext cx="10469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causes, both fixable without a bigger model</a:t>
            </a:r>
            <a:endParaRPr lang="en-US" sz="1950" dirty="0"/>
          </a:p>
        </p:txBody>
      </p:sp>
      <p:sp>
        <p:nvSpPr>
          <p:cNvPr id="28" name="Text 26"/>
          <p:cNvSpPr txBox="1"/>
          <p:nvPr/>
        </p:nvSpPr>
        <p:spPr>
          <a:xfrm>
            <a:off x="749808" y="5495544"/>
            <a:ext cx="107533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Max-pooling was trained to detect, not to locate. And the focus window was re-centred on the answer at training time only, narrowing what the model can read.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3728" y="329184"/>
            <a:ext cx="110642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5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summarizer became a 41-way classifier</a:t>
            </a:r>
            <a:endParaRPr lang="en-US" sz="3500" dirty="0"/>
          </a:p>
        </p:txBody>
      </p:sp>
      <p:sp>
        <p:nvSpPr>
          <p:cNvPr id="3" name="Text 1"/>
          <p:cNvSpPr txBox="1"/>
          <p:nvPr/>
        </p:nvSpPr>
        <p:spPr>
          <a:xfrm>
            <a:off x="563728" y="1024128"/>
            <a:ext cx="11064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wrote all 41 target sentences ourselves, and that one decision is what turned generation into classification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286000" cy="1188720"/>
          </a:xfrm>
          <a:prstGeom prst="roundRect">
            <a:avLst>
              <a:gd name="adj" fmla="val 5385"/>
            </a:avLst>
          </a:prstGeom>
          <a:solidFill>
            <a:srgbClr val="F6F7FB"/>
          </a:solidFill>
          <a:ln w="12700">
            <a:solidFill>
              <a:srgbClr val="D9DE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9164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 text</a:t>
            </a:r>
            <a:endParaRPr lang="en-US" sz="1650" dirty="0"/>
          </a:p>
          <a:p>
            <a:pPr algn="ctr" indent="0" marL="0">
              <a:buNone/>
            </a:pPr>
            <a:r>
              <a:rPr lang="en-US" sz="16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“any attempted assignment … will be void”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2926080" y="2057400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C3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900" dirty="0"/>
          </a:p>
        </p:txBody>
      </p:sp>
      <p:sp>
        <p:nvSpPr>
          <p:cNvPr id="7" name="Shape 5"/>
          <p:cNvSpPr/>
          <p:nvPr/>
        </p:nvSpPr>
        <p:spPr>
          <a:xfrm>
            <a:off x="3383280" y="1600200"/>
            <a:ext cx="2286000" cy="1188720"/>
          </a:xfrm>
          <a:prstGeom prst="roundRect">
            <a:avLst>
              <a:gd name="adj" fmla="val 538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74720" y="18288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FLAN-T5 learns to</a:t>
            </a:r>
            <a:endParaRPr lang="en-US" sz="1650" dirty="0"/>
          </a:p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 the CATEGORY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5760720" y="2057400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C3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900" dirty="0"/>
          </a:p>
        </p:txBody>
      </p:sp>
      <p:sp>
        <p:nvSpPr>
          <p:cNvPr id="10" name="Shape 8"/>
          <p:cNvSpPr/>
          <p:nvPr/>
        </p:nvSpPr>
        <p:spPr>
          <a:xfrm>
            <a:off x="6217920" y="1600200"/>
            <a:ext cx="3017520" cy="420624"/>
          </a:xfrm>
          <a:prstGeom prst="roundRect">
            <a:avLst>
              <a:gd name="adj" fmla="val 8696"/>
            </a:avLst>
          </a:prstGeom>
          <a:solidFill>
            <a:srgbClr val="EEF8F3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09360" y="1600200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Anti-Assignment template</a:t>
            </a:r>
            <a:endParaRPr lang="en-US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9372600" y="1600200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70%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6217920" y="2093976"/>
            <a:ext cx="3017520" cy="420624"/>
          </a:xfrm>
          <a:prstGeom prst="roundRect">
            <a:avLst>
              <a:gd name="adj" fmla="val 8696"/>
            </a:avLst>
          </a:prstGeom>
          <a:solidFill>
            <a:srgbClr val="F6F7FB"/>
          </a:solidFill>
          <a:ln w="12700">
            <a:solidFill>
              <a:srgbClr val="D9DE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09360" y="2093976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on Liability template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6217920" y="2587752"/>
            <a:ext cx="3017520" cy="420624"/>
          </a:xfrm>
          <a:prstGeom prst="roundRect">
            <a:avLst>
              <a:gd name="adj" fmla="val 8696"/>
            </a:avLst>
          </a:prstGeom>
          <a:solidFill>
            <a:srgbClr val="FDF0F1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09360" y="2587752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ROFR template</a:t>
            </a:r>
            <a:endParaRPr lang="en-US" sz="1650" dirty="0"/>
          </a:p>
        </p:txBody>
      </p:sp>
      <p:sp>
        <p:nvSpPr>
          <p:cNvPr id="17" name="Text 15"/>
          <p:cNvSpPr txBox="1"/>
          <p:nvPr/>
        </p:nvSpPr>
        <p:spPr>
          <a:xfrm>
            <a:off x="9372600" y="2587752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D9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30%</a:t>
            </a:r>
            <a:endParaRPr lang="en-US" sz="165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309067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⋮  41 pre-written templates in total</a:t>
            </a:r>
            <a:endParaRPr lang="en-US" sz="16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611880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50" b="1" dirty="0">
                <a:solidFill>
                  <a:srgbClr val="D94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0.775 → 0.116</a:t>
            </a:r>
            <a:endParaRPr lang="en-US" sz="42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215384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ROUGE-L: our templates → clause-specific references</a:t>
            </a:r>
            <a:endParaRPr lang="en-US" sz="1750" dirty="0"/>
          </a:p>
        </p:txBody>
      </p:sp>
      <p:sp>
        <p:nvSpPr>
          <p:cNvPr id="21" name="Text 19"/>
          <p:cNvSpPr txBox="1"/>
          <p:nvPr/>
        </p:nvSpPr>
        <p:spPr>
          <a:xfrm>
            <a:off x="4389120" y="3611880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50" b="1" dirty="0">
                <a:solidFill>
                  <a:srgbClr val="D94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0.115</a:t>
            </a:r>
            <a:endParaRPr lang="en-US" sz="4250" dirty="0"/>
          </a:p>
        </p:txBody>
      </p:sp>
      <p:sp>
        <p:nvSpPr>
          <p:cNvPr id="22" name="Text 20"/>
          <p:cNvSpPr txBox="1"/>
          <p:nvPr/>
        </p:nvSpPr>
        <p:spPr>
          <a:xfrm>
            <a:off x="4389120" y="4215384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template with NO model at all</a:t>
            </a:r>
            <a:endParaRPr lang="en-US" sz="1750" dirty="0"/>
          </a:p>
        </p:txBody>
      </p:sp>
      <p:sp>
        <p:nvSpPr>
          <p:cNvPr id="23" name="Text 21"/>
          <p:cNvSpPr txBox="1"/>
          <p:nvPr/>
        </p:nvSpPr>
        <p:spPr>
          <a:xfrm>
            <a:off x="8229600" y="361188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50" b="1" dirty="0">
                <a:solidFill>
                  <a:srgbClr val="D94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250" dirty="0"/>
          </a:p>
        </p:txBody>
      </p:sp>
      <p:sp>
        <p:nvSpPr>
          <p:cNvPr id="24" name="Text 22"/>
          <p:cNvSpPr txBox="1"/>
          <p:nvPr/>
        </p:nvSpPr>
        <p:spPr>
          <a:xfrm>
            <a:off x="8229600" y="4215384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outputs are a template, copied verbatim</a:t>
            </a:r>
            <a:endParaRPr lang="en-US" sz="1750" dirty="0"/>
          </a:p>
        </p:txBody>
      </p:sp>
      <p:sp>
        <p:nvSpPr>
          <p:cNvPr id="25" name="Shape 23"/>
          <p:cNvSpPr/>
          <p:nvPr/>
        </p:nvSpPr>
        <p:spPr>
          <a:xfrm>
            <a:off x="548640" y="4937760"/>
            <a:ext cx="11155680" cy="1325880"/>
          </a:xfrm>
          <a:prstGeom prst="roundRect">
            <a:avLst>
              <a:gd name="adj" fmla="val 4828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" y="5111496"/>
            <a:ext cx="256032" cy="256032"/>
          </a:xfrm>
          <a:prstGeom prst="ellipse">
            <a:avLst/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78992" y="5047488"/>
            <a:ext cx="10469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worse than a low score</a:t>
            </a:r>
            <a:endParaRPr lang="en-US" sz="1950" dirty="0"/>
          </a:p>
        </p:txBody>
      </p:sp>
      <p:sp>
        <p:nvSpPr>
          <p:cNvPr id="28" name="Text 26"/>
          <p:cNvSpPr txBox="1"/>
          <p:nvPr/>
        </p:nvSpPr>
        <p:spPr>
          <a:xfrm>
            <a:off x="749808" y="5449824"/>
            <a:ext cx="1075334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cannot hallucinate. But when it picks the wrong template the output is fluent, confident, and about a different provision, which is undetectable from the output alone.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3728" y="329184"/>
            <a:ext cx="110642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5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 to end, 78.3% of clauses are lost</a:t>
            </a:r>
            <a:endParaRPr lang="en-US" sz="3500" dirty="0"/>
          </a:p>
        </p:txBody>
      </p:sp>
      <p:sp>
        <p:nvSpPr>
          <p:cNvPr id="3" name="Text 1"/>
          <p:cNvSpPr txBox="1"/>
          <p:nvPr/>
        </p:nvSpPr>
        <p:spPr>
          <a:xfrm>
            <a:off x="563728" y="1024128"/>
            <a:ext cx="11064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that describes what a user actually experiences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82396" y="1554480"/>
            <a:ext cx="10424160" cy="868680"/>
          </a:xfrm>
          <a:prstGeom prst="roundRect">
            <a:avLst>
              <a:gd name="adj" fmla="val 7368"/>
            </a:avLst>
          </a:prstGeom>
          <a:solidFill>
            <a:srgbClr val="E8ECF7"/>
          </a:solidFill>
          <a:ln w="12700">
            <a:solidFill>
              <a:srgbClr val="E8EC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82396" y="155448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1,348 gold clauses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41448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D9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−296 clauses (22.0%)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025396" y="2743200"/>
            <a:ext cx="8138160" cy="868680"/>
          </a:xfrm>
          <a:prstGeom prst="roundRect">
            <a:avLst>
              <a:gd name="adj" fmla="val 7368"/>
            </a:avLst>
          </a:prstGeom>
          <a:solidFill>
            <a:srgbClr val="CFD8EE"/>
          </a:solidFill>
          <a:ln w="12700">
            <a:solidFill>
              <a:srgbClr val="CFD8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025396" y="2743200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1,052 survive presence detection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630168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D9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−759 clauses (56.3%)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905756" y="3931920"/>
            <a:ext cx="2377440" cy="868680"/>
          </a:xfrm>
          <a:prstGeom prst="roundRect">
            <a:avLst>
              <a:gd name="adj" fmla="val 7368"/>
            </a:avLst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05756" y="393192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293 survive span extraction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507492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150" b="1" dirty="0">
                <a:solidFill>
                  <a:srgbClr val="D94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21.7%</a:t>
            </a:r>
            <a:endParaRPr lang="en-US" sz="515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5138928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 all three stages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CI [19.6%, 23.9%]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5029200"/>
            <a:ext cx="5303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Multiplying the component scores predicts =64%. The pipeline delivers a third of it, the selected window contains the clause only 68.3% of the time, and extraction then succeeds 39.7% of the time.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3728" y="329184"/>
            <a:ext cx="110642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5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found</a:t>
            </a:r>
            <a:endParaRPr lang="en-US" sz="3500" dirty="0"/>
          </a:p>
        </p:txBody>
      </p:sp>
      <p:sp>
        <p:nvSpPr>
          <p:cNvPr id="3" name="Text 1"/>
          <p:cNvSpPr txBox="1"/>
          <p:nvPr/>
        </p:nvSpPr>
        <p:spPr>
          <a:xfrm>
            <a:off x="563728" y="1024128"/>
            <a:ext cx="11064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findings survived every check; five beliefs we started with did not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4CAF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Findings that held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48640" y="1709928"/>
            <a:ext cx="5486400" cy="1060704"/>
          </a:xfrm>
          <a:prstGeom prst="roundRect">
            <a:avLst>
              <a:gd name="adj" fmla="val 5172"/>
            </a:avLst>
          </a:prstGeom>
          <a:solidFill>
            <a:srgbClr val="EEF8F3"/>
          </a:solidFill>
          <a:ln w="12700">
            <a:solidFill>
              <a:srgbClr val="CDEBD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801368"/>
            <a:ext cx="51572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evidence beats windowed evidence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295144"/>
            <a:ext cx="5157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+0.081, surviving four separate controls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5486400" cy="1060704"/>
          </a:xfrm>
          <a:prstGeom prst="roundRect">
            <a:avLst>
              <a:gd name="adj" fmla="val 5172"/>
            </a:avLst>
          </a:prstGeom>
          <a:solidFill>
            <a:srgbClr val="EEF8F3"/>
          </a:solidFill>
          <a:ln w="12700">
            <a:solidFill>
              <a:srgbClr val="CDEBD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3232" y="2971800"/>
            <a:ext cx="51572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a feasibility ceiling before training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3465576"/>
            <a:ext cx="5157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60-second check (64%) killed an architecture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4050792"/>
            <a:ext cx="5486400" cy="1060704"/>
          </a:xfrm>
          <a:prstGeom prst="roundRect">
            <a:avLst>
              <a:gd name="adj" fmla="val 5172"/>
            </a:avLst>
          </a:prstGeom>
          <a:solidFill>
            <a:srgbClr val="EEF8F3"/>
          </a:solidFill>
          <a:ln w="12700">
            <a:solidFill>
              <a:srgbClr val="CDEBD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13232" y="4142232"/>
            <a:ext cx="51572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between models damps seed variance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" y="4636008"/>
            <a:ext cx="5157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4x less seed-sensitive than the transformer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48640" y="5221224"/>
            <a:ext cx="5486400" cy="1060704"/>
          </a:xfrm>
          <a:prstGeom prst="roundRect">
            <a:avLst>
              <a:gd name="adj" fmla="val 5172"/>
            </a:avLst>
          </a:prstGeom>
          <a:solidFill>
            <a:srgbClr val="EEF8F3"/>
          </a:solidFill>
          <a:ln w="12700">
            <a:solidFill>
              <a:srgbClr val="CDEBD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13232" y="5312664"/>
            <a:ext cx="51572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 extraction works, given the right window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" y="5806440"/>
            <a:ext cx="5157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token-F1 0.763, CI [0.740, 0.782]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1325880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94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Beliefs that did not survive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6263640" y="1709928"/>
            <a:ext cx="5440680" cy="841248"/>
          </a:xfrm>
          <a:prstGeom prst="roundRect">
            <a:avLst>
              <a:gd name="adj" fmla="val 6522"/>
            </a:avLst>
          </a:prstGeom>
          <a:solidFill>
            <a:srgbClr val="FDF0F1"/>
          </a:solidFill>
          <a:ln w="12700">
            <a:solidFill>
              <a:srgbClr val="F6D5D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28232" y="175564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ensemble beats the baseline”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428232" y="213055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+0.0014, smaller than every error bar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263640" y="2642616"/>
            <a:ext cx="5440680" cy="841248"/>
          </a:xfrm>
          <a:prstGeom prst="roundRect">
            <a:avLst>
              <a:gd name="adj" fmla="val 6522"/>
            </a:avLst>
          </a:prstGeom>
          <a:solidFill>
            <a:srgbClr val="FDF0F1"/>
          </a:solidFill>
          <a:ln w="12700">
            <a:solidFill>
              <a:srgbClr val="F6D5D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28232" y="2688336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summarizer summarizes”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428232" y="306324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0.775 → 0.116; a lookup table scores the same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263640" y="3575304"/>
            <a:ext cx="5440680" cy="841248"/>
          </a:xfrm>
          <a:prstGeom prst="roundRect">
            <a:avLst>
              <a:gd name="adj" fmla="val 6522"/>
            </a:avLst>
          </a:prstGeom>
          <a:solidFill>
            <a:srgbClr val="FDF0F1"/>
          </a:solidFill>
          <a:ln w="12700">
            <a:solidFill>
              <a:srgbClr val="F6D5D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28232" y="3621024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“Component scores describe the system”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6428232" y="399592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=64% predicted, 21.7% delivered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6263640" y="4507992"/>
            <a:ext cx="5440680" cy="841248"/>
          </a:xfrm>
          <a:prstGeom prst="roundRect">
            <a:avLst>
              <a:gd name="adj" fmla="val 6522"/>
            </a:avLst>
          </a:prstGeom>
          <a:solidFill>
            <a:srgbClr val="FDF0F1"/>
          </a:solidFill>
          <a:ln w="12700">
            <a:solidFill>
              <a:srgbClr val="F6D5D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28232" y="455371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Longformer will not fit in memory”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6428232" y="4928616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does, at batch 1: 14.7 GB of 16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6263640" y="5440680"/>
            <a:ext cx="5440680" cy="841248"/>
          </a:xfrm>
          <a:prstGeom prst="roundRect">
            <a:avLst>
              <a:gd name="adj" fmla="val 6522"/>
            </a:avLst>
          </a:prstGeom>
          <a:solidFill>
            <a:srgbClr val="FDF0F1"/>
          </a:solidFill>
          <a:ln w="12700">
            <a:solidFill>
              <a:srgbClr val="F6D5D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28232" y="548640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“Max-pooling is the ceiling”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6428232" y="5861304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rules tested: a secondary factor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3728" y="329184"/>
            <a:ext cx="110642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5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discovered was missing</a:t>
            </a:r>
            <a:endParaRPr lang="en-US" sz="3500" dirty="0"/>
          </a:p>
        </p:txBody>
      </p:sp>
      <p:sp>
        <p:nvSpPr>
          <p:cNvPr id="3" name="Text 1"/>
          <p:cNvSpPr txBox="1"/>
          <p:nvPr/>
        </p:nvSpPr>
        <p:spPr>
          <a:xfrm>
            <a:off x="563728" y="1024128"/>
            <a:ext cx="11064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known at the start, each was found by running the experiment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11155680" cy="1133856"/>
          </a:xfrm>
          <a:prstGeom prst="roundRect">
            <a:avLst>
              <a:gd name="adj" fmla="val 4839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47672"/>
            <a:ext cx="310896" cy="310896"/>
          </a:xfrm>
          <a:prstGeom prst="ellipse">
            <a:avLst/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16459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CUAD has no plain-English targets at all</a:t>
            </a:r>
            <a:endParaRPr lang="en-US" sz="1950" dirty="0"/>
          </a:p>
        </p:txBody>
      </p:sp>
      <p:sp>
        <p:nvSpPr>
          <p:cNvPr id="7" name="Text 5"/>
          <p:cNvSpPr txBox="1"/>
          <p:nvPr/>
        </p:nvSpPr>
        <p:spPr>
          <a:xfrm>
            <a:off x="5897880" y="1645920"/>
            <a:ext cx="5623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wrote 41 ourselves, and that decision is precisely what collapsed the summarizer into a classifier.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48640" y="2770632"/>
            <a:ext cx="11155680" cy="1133856"/>
          </a:xfrm>
          <a:prstGeom prst="roundRect">
            <a:avLst>
              <a:gd name="adj" fmla="val 4839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3182112"/>
            <a:ext cx="310896" cy="310896"/>
          </a:xfrm>
          <a:prstGeom prst="ellipse">
            <a:avLst/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234440" y="288036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published risk-severity model to build on</a:t>
            </a:r>
            <a:endParaRPr lang="en-US" sz="1950" dirty="0"/>
          </a:p>
        </p:txBody>
      </p:sp>
      <p:sp>
        <p:nvSpPr>
          <p:cNvPr id="11" name="Text 9"/>
          <p:cNvSpPr txBox="1"/>
          <p:nvPr/>
        </p:nvSpPr>
        <p:spPr>
          <a:xfrm>
            <a:off x="5897880" y="2880360"/>
            <a:ext cx="5623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NLP treats importance as category membership, not danger to a party. The severity scale was built from scratch.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548640" y="4005072"/>
            <a:ext cx="11155680" cy="1133856"/>
          </a:xfrm>
          <a:prstGeom prst="roundRect">
            <a:avLst>
              <a:gd name="adj" fmla="val 4839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4416552"/>
            <a:ext cx="310896" cy="310896"/>
          </a:xfrm>
          <a:prstGeom prst="ellipse">
            <a:avLst/>
          </a:prstGeom>
          <a:solidFill>
            <a:srgbClr val="E8A13A"/>
          </a:solidFill>
          <a:ln w="12700">
            <a:solidFill>
              <a:srgbClr val="E8A13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234440" y="411480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rare tail is effectively few-shot</a:t>
            </a:r>
            <a:endParaRPr lang="en-US" sz="1950" dirty="0"/>
          </a:p>
        </p:txBody>
      </p:sp>
      <p:sp>
        <p:nvSpPr>
          <p:cNvPr id="15" name="Text 13"/>
          <p:cNvSpPr txBox="1"/>
          <p:nvPr/>
        </p:nvSpPr>
        <p:spPr>
          <a:xfrm>
            <a:off x="5897880" y="4114800"/>
            <a:ext cx="5623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11-42 positive training contracts for the bottom ten categories. Five score 0.000 and no model learns them at this size.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548640" y="5239512"/>
            <a:ext cx="11155680" cy="1133856"/>
          </a:xfrm>
          <a:prstGeom prst="roundRect">
            <a:avLst>
              <a:gd name="adj" fmla="val 4839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5650992"/>
            <a:ext cx="310896" cy="310896"/>
          </a:xfrm>
          <a:prstGeom prst="ellipse">
            <a:avLst/>
          </a:prstGeom>
          <a:solidFill>
            <a:srgbClr val="E8A13A"/>
          </a:solidFill>
          <a:ln w="12700">
            <a:solidFill>
              <a:srgbClr val="E8A13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234440" y="534924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rare-tail “errors” are annotation disagreements</a:t>
            </a:r>
            <a:endParaRPr lang="en-US" sz="1950" dirty="0"/>
          </a:p>
        </p:txBody>
      </p:sp>
      <p:sp>
        <p:nvSpPr>
          <p:cNvPr id="19" name="Text 17"/>
          <p:cNvSpPr txBox="1"/>
          <p:nvPr/>
        </p:nvSpPr>
        <p:spPr>
          <a:xfrm>
            <a:off x="5897880" y="5349240"/>
            <a:ext cx="5623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clause labelled Third Party Beneficiary reads as an assignment clause, our 0.000 scores mix model failure with label ceiling.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3728" y="329184"/>
            <a:ext cx="110642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5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work still lacks</a:t>
            </a:r>
            <a:endParaRPr lang="en-US" sz="3500" dirty="0"/>
          </a:p>
        </p:txBody>
      </p:sp>
      <p:sp>
        <p:nvSpPr>
          <p:cNvPr id="3" name="Text 1"/>
          <p:cNvSpPr txBox="1"/>
          <p:nvPr/>
        </p:nvSpPr>
        <p:spPr>
          <a:xfrm>
            <a:off x="563728" y="1024128"/>
            <a:ext cx="11064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in the evidence, stated so an examiner does not have to find them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11155680" cy="1133856"/>
          </a:xfrm>
          <a:prstGeom prst="roundRect">
            <a:avLst>
              <a:gd name="adj" fmla="val 4839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47672"/>
            <a:ext cx="310896" cy="310896"/>
          </a:xfrm>
          <a:prstGeom prst="ellipse">
            <a:avLst/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16459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never carved a validation split</a:t>
            </a:r>
            <a:endParaRPr lang="en-US" sz="1950" dirty="0"/>
          </a:p>
        </p:txBody>
      </p:sp>
      <p:sp>
        <p:nvSpPr>
          <p:cNvPr id="7" name="Text 5"/>
          <p:cNvSpPr txBox="1"/>
          <p:nvPr/>
        </p:nvSpPr>
        <p:spPr>
          <a:xfrm>
            <a:off x="5897880" y="1645920"/>
            <a:ext cx="5623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threshold cannot be chosen and the confidence cannot be calibrated without redrawing the protocol.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48640" y="2770632"/>
            <a:ext cx="11155680" cy="1133856"/>
          </a:xfrm>
          <a:prstGeom prst="roundRect">
            <a:avLst>
              <a:gd name="adj" fmla="val 4839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3182112"/>
            <a:ext cx="310896" cy="310896"/>
          </a:xfrm>
          <a:prstGeom prst="ellipse">
            <a:avLst/>
          </a:prstGeom>
          <a:solidFill>
            <a:srgbClr val="E8A13A"/>
          </a:solidFill>
          <a:ln w="12700">
            <a:solidFill>
              <a:srgbClr val="E8A1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234440" y="288036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is assigned per category, not per clause</a:t>
            </a:r>
            <a:endParaRPr lang="en-US" sz="1950" dirty="0"/>
          </a:p>
        </p:txBody>
      </p:sp>
      <p:sp>
        <p:nvSpPr>
          <p:cNvPr id="11" name="Text 9"/>
          <p:cNvSpPr txBox="1"/>
          <p:nvPr/>
        </p:nvSpPr>
        <p:spPr>
          <a:xfrm>
            <a:off x="5897880" y="2880360"/>
            <a:ext cx="5623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taxonomy cannot tell a $10,000 liability cap from a $10,000,000 one, the specific wording is not modelled.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548640" y="4005072"/>
            <a:ext cx="11155680" cy="1133856"/>
          </a:xfrm>
          <a:prstGeom prst="roundRect">
            <a:avLst>
              <a:gd name="adj" fmla="val 4839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4416552"/>
            <a:ext cx="310896" cy="310896"/>
          </a:xfrm>
          <a:prstGeom prst="ellipse">
            <a:avLst/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234440" y="411480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dataset, one jurisdiction</a:t>
            </a:r>
            <a:endParaRPr lang="en-US" sz="1950" dirty="0"/>
          </a:p>
        </p:txBody>
      </p:sp>
      <p:sp>
        <p:nvSpPr>
          <p:cNvPr id="15" name="Text 13"/>
          <p:cNvSpPr txBox="1"/>
          <p:nvPr/>
        </p:nvSpPr>
        <p:spPr>
          <a:xfrm>
            <a:off x="5897880" y="4114800"/>
            <a:ext cx="5623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510 US contracts from SEC filings. No Bangladeshi contract, no consumer or employment agreement, no other language.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548640" y="5239512"/>
            <a:ext cx="11155680" cy="1133856"/>
          </a:xfrm>
          <a:prstGeom prst="roundRect">
            <a:avLst>
              <a:gd name="adj" fmla="val 4839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5650992"/>
            <a:ext cx="310896" cy="3108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234440" y="534924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reports end-to-end survival</a:t>
            </a:r>
            <a:endParaRPr lang="en-US" sz="1950" dirty="0"/>
          </a:p>
        </p:txBody>
      </p:sp>
      <p:sp>
        <p:nvSpPr>
          <p:cNvPr id="19" name="Text 17"/>
          <p:cNvSpPr txBox="1"/>
          <p:nvPr/>
        </p:nvSpPr>
        <p:spPr>
          <a:xfrm>
            <a:off x="5897880" y="5349240"/>
            <a:ext cx="5623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had no published figure to compare our 21.7% against, which is also why the number was worth measuring.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3728" y="329184"/>
            <a:ext cx="110642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5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Clausify, and how far we came</a:t>
            </a:r>
            <a:endParaRPr lang="en-US" sz="3500" dirty="0"/>
          </a:p>
        </p:txBody>
      </p:sp>
      <p:sp>
        <p:nvSpPr>
          <p:cNvPr id="3" name="Text 1"/>
          <p:cNvSpPr txBox="1"/>
          <p:nvPr/>
        </p:nvSpPr>
        <p:spPr>
          <a:xfrm>
            <a:off x="563728" y="1024128"/>
            <a:ext cx="11064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deployed prototype, with every measured limit stated on the interface</a:t>
            </a:r>
            <a:endParaRPr lang="en-US" sz="1600" dirty="0"/>
          </a:p>
        </p:txBody>
      </p:sp>
      <p:pic>
        <p:nvPicPr>
          <p:cNvPr id="4" name="Image 0" descr="fig/app_resul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3657600" cy="2286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6758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risk-prioritized report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434840" y="1371600"/>
            <a:ext cx="3566160" cy="1097280"/>
          </a:xfrm>
          <a:prstGeom prst="roundRect">
            <a:avLst>
              <a:gd name="adj" fmla="val 5833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617720" y="1545336"/>
            <a:ext cx="256032" cy="25603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965192" y="1481328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Latency, measured</a:t>
            </a:r>
            <a:endParaRPr lang="en-US" sz="1950" dirty="0"/>
          </a:p>
        </p:txBody>
      </p:sp>
      <p:sp>
        <p:nvSpPr>
          <p:cNvPr id="9" name="Text 6"/>
          <p:cNvSpPr txBox="1"/>
          <p:nvPr/>
        </p:nvSpPr>
        <p:spPr>
          <a:xfrm>
            <a:off x="4636008" y="1883664"/>
            <a:ext cx="3163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27.1 s, worst 32.4 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8138160" y="1371600"/>
            <a:ext cx="3566160" cy="1097280"/>
          </a:xfrm>
          <a:prstGeom prst="roundRect">
            <a:avLst>
              <a:gd name="adj" fmla="val 5833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321040" y="1545336"/>
            <a:ext cx="256032" cy="256032"/>
          </a:xfrm>
          <a:prstGeom prst="ellipse">
            <a:avLst/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668512" y="1481328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≠ probability</a:t>
            </a:r>
            <a:endParaRPr lang="en-US" sz="1950" dirty="0"/>
          </a:p>
        </p:txBody>
      </p:sp>
      <p:sp>
        <p:nvSpPr>
          <p:cNvPr id="13" name="Text 10"/>
          <p:cNvSpPr txBox="1"/>
          <p:nvPr/>
        </p:nvSpPr>
        <p:spPr>
          <a:xfrm>
            <a:off x="8339328" y="1883664"/>
            <a:ext cx="3163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 0.201: full bar = 73%.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4434840" y="2606040"/>
            <a:ext cx="3566160" cy="1051560"/>
          </a:xfrm>
          <a:prstGeom prst="roundRect">
            <a:avLst>
              <a:gd name="adj" fmla="val 6087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617720" y="2779776"/>
            <a:ext cx="256032" cy="256032"/>
          </a:xfrm>
          <a:prstGeom prst="ellipse">
            <a:avLst/>
          </a:prstGeom>
          <a:solidFill>
            <a:srgbClr val="E8A13A"/>
          </a:solidFill>
          <a:ln w="12700">
            <a:solidFill>
              <a:srgbClr val="E8A13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965192" y="2715768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contracts truncated</a:t>
            </a:r>
            <a:endParaRPr lang="en-US" sz="1950" dirty="0"/>
          </a:p>
        </p:txBody>
      </p:sp>
      <p:sp>
        <p:nvSpPr>
          <p:cNvPr id="17" name="Text 14"/>
          <p:cNvSpPr txBox="1"/>
          <p:nvPr/>
        </p:nvSpPr>
        <p:spPr>
          <a:xfrm>
            <a:off x="4636008" y="3118104"/>
            <a:ext cx="31638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45,500-char cap; 38% exceed.</a:t>
            </a:r>
            <a:endParaRPr lang="en-US" sz="1750" dirty="0"/>
          </a:p>
        </p:txBody>
      </p:sp>
      <p:sp>
        <p:nvSpPr>
          <p:cNvPr id="18" name="Shape 15"/>
          <p:cNvSpPr/>
          <p:nvPr/>
        </p:nvSpPr>
        <p:spPr>
          <a:xfrm>
            <a:off x="8138160" y="2606040"/>
            <a:ext cx="3566160" cy="1051560"/>
          </a:xfrm>
          <a:prstGeom prst="roundRect">
            <a:avLst>
              <a:gd name="adj" fmla="val 6087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321040" y="2779776"/>
            <a:ext cx="256032" cy="256032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668512" y="2715768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holds, locally</a:t>
            </a:r>
            <a:endParaRPr lang="en-US" sz="1950" dirty="0"/>
          </a:p>
        </p:txBody>
      </p:sp>
      <p:sp>
        <p:nvSpPr>
          <p:cNvPr id="21" name="Text 18"/>
          <p:cNvSpPr txBox="1"/>
          <p:nvPr/>
        </p:nvSpPr>
        <p:spPr>
          <a:xfrm>
            <a:off x="8339328" y="3118104"/>
            <a:ext cx="31638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memory only, never logged.</a:t>
            </a:r>
            <a:endParaRPr lang="en-US" sz="175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3977640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exists at the end of it</a:t>
            </a:r>
            <a:endParaRPr lang="en-US" sz="2100" dirty="0"/>
          </a:p>
        </p:txBody>
      </p:sp>
      <p:sp>
        <p:nvSpPr>
          <p:cNvPr id="23" name="Shape 20"/>
          <p:cNvSpPr/>
          <p:nvPr/>
        </p:nvSpPr>
        <p:spPr>
          <a:xfrm>
            <a:off x="548640" y="4370832"/>
            <a:ext cx="5486400" cy="868680"/>
          </a:xfrm>
          <a:prstGeom prst="roundRect">
            <a:avLst>
              <a:gd name="adj" fmla="val 6316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31520" y="4663440"/>
            <a:ext cx="256032" cy="256032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78992" y="4425696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trained models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1078992" y="4754880"/>
            <a:ext cx="4800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presence, span and explanation</a:t>
            </a:r>
            <a:endParaRPr lang="en-US" sz="1650" dirty="0"/>
          </a:p>
        </p:txBody>
      </p:sp>
      <p:sp>
        <p:nvSpPr>
          <p:cNvPr id="27" name="Shape 24"/>
          <p:cNvSpPr/>
          <p:nvPr/>
        </p:nvSpPr>
        <p:spPr>
          <a:xfrm>
            <a:off x="6263640" y="4370832"/>
            <a:ext cx="5486400" cy="868680"/>
          </a:xfrm>
          <a:prstGeom prst="roundRect">
            <a:avLst>
              <a:gd name="adj" fmla="val 6316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446520" y="4663440"/>
            <a:ext cx="256032" cy="256032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793992" y="4425696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experiments</a:t>
            </a:r>
            <a:endParaRPr lang="en-US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6793992" y="4754880"/>
            <a:ext cx="4800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controls, rare tail, ablation, end-to-end</a:t>
            </a:r>
            <a:endParaRPr lang="en-US" sz="1650" dirty="0"/>
          </a:p>
        </p:txBody>
      </p:sp>
      <p:sp>
        <p:nvSpPr>
          <p:cNvPr id="31" name="Shape 28"/>
          <p:cNvSpPr/>
          <p:nvPr/>
        </p:nvSpPr>
        <p:spPr>
          <a:xfrm>
            <a:off x="548640" y="5330952"/>
            <a:ext cx="5486400" cy="868680"/>
          </a:xfrm>
          <a:prstGeom prst="roundRect">
            <a:avLst>
              <a:gd name="adj" fmla="val 6316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31520" y="5623560"/>
            <a:ext cx="256032" cy="256032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078992" y="5385816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 numbers verified</a:t>
            </a:r>
            <a:endParaRPr lang="en-US" sz="1800" dirty="0"/>
          </a:p>
        </p:txBody>
      </p:sp>
      <p:sp>
        <p:nvSpPr>
          <p:cNvPr id="34" name="Text 31"/>
          <p:cNvSpPr txBox="1"/>
          <p:nvPr/>
        </p:nvSpPr>
        <p:spPr>
          <a:xfrm>
            <a:off x="1078992" y="5715000"/>
            <a:ext cx="4800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 figures, 17 derived, machine-checked</a:t>
            </a:r>
            <a:endParaRPr lang="en-US" sz="1650" dirty="0"/>
          </a:p>
        </p:txBody>
      </p:sp>
      <p:sp>
        <p:nvSpPr>
          <p:cNvPr id="35" name="Shape 32"/>
          <p:cNvSpPr/>
          <p:nvPr/>
        </p:nvSpPr>
        <p:spPr>
          <a:xfrm>
            <a:off x="6263640" y="5330952"/>
            <a:ext cx="5486400" cy="868680"/>
          </a:xfrm>
          <a:prstGeom prst="roundRect">
            <a:avLst>
              <a:gd name="adj" fmla="val 6316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446520" y="5623560"/>
            <a:ext cx="256032" cy="256032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793992" y="5385816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deployed prototype</a:t>
            </a:r>
            <a:endParaRPr lang="en-US" sz="1800" dirty="0"/>
          </a:p>
        </p:txBody>
      </p:sp>
      <p:sp>
        <p:nvSpPr>
          <p:cNvPr id="38" name="Text 35"/>
          <p:cNvSpPr txBox="1"/>
          <p:nvPr/>
        </p:nvSpPr>
        <p:spPr>
          <a:xfrm>
            <a:off x="6793992" y="5715000"/>
            <a:ext cx="4800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locally, limits stated in the interface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3728" y="329184"/>
            <a:ext cx="110642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5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 I, no compute required</a:t>
            </a:r>
            <a:endParaRPr lang="en-US" sz="3500" dirty="0"/>
          </a:p>
        </p:txBody>
      </p:sp>
      <p:sp>
        <p:nvSpPr>
          <p:cNvPr id="3" name="Text 1"/>
          <p:cNvSpPr txBox="1"/>
          <p:nvPr/>
        </p:nvSpPr>
        <p:spPr>
          <a:xfrm>
            <a:off x="563728" y="1024128"/>
            <a:ext cx="11064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highest-value things left, and none of them needs a GPU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11155680" cy="1133856"/>
          </a:xfrm>
          <a:prstGeom prst="roundRect">
            <a:avLst>
              <a:gd name="adj" fmla="val 4839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38528"/>
            <a:ext cx="329184" cy="329184"/>
          </a:xfrm>
          <a:prstGeom prst="ellipse">
            <a:avLst/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50" dirty="0"/>
          </a:p>
        </p:txBody>
      </p:sp>
      <p:sp>
        <p:nvSpPr>
          <p:cNvPr id="7" name="Text 5"/>
          <p:cNvSpPr txBox="1"/>
          <p:nvPr/>
        </p:nvSpPr>
        <p:spPr>
          <a:xfrm>
            <a:off x="1261872" y="16459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Carve a validation split</a:t>
            </a:r>
            <a:endParaRPr lang="en-US" sz="1950" dirty="0"/>
          </a:p>
        </p:txBody>
      </p:sp>
      <p:sp>
        <p:nvSpPr>
          <p:cNvPr id="8" name="Text 6"/>
          <p:cNvSpPr txBox="1"/>
          <p:nvPr/>
        </p:nvSpPr>
        <p:spPr>
          <a:xfrm>
            <a:off x="5897880" y="1645920"/>
            <a:ext cx="5623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out part of the 408 training contracts, then select the threshold and fit a calibration map there. Fixes two problems at once.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48640" y="2770632"/>
            <a:ext cx="11155680" cy="1133856"/>
          </a:xfrm>
          <a:prstGeom prst="roundRect">
            <a:avLst>
              <a:gd name="adj" fmla="val 4839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172968"/>
            <a:ext cx="329184" cy="329184"/>
          </a:xfrm>
          <a:prstGeom prst="ellipse">
            <a:avLst/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1729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50" dirty="0"/>
          </a:p>
        </p:txBody>
      </p:sp>
      <p:sp>
        <p:nvSpPr>
          <p:cNvPr id="12" name="Text 10"/>
          <p:cNvSpPr txBox="1"/>
          <p:nvPr/>
        </p:nvSpPr>
        <p:spPr>
          <a:xfrm>
            <a:off x="1261872" y="288036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someone using Clausify</a:t>
            </a:r>
            <a:endParaRPr lang="en-US" sz="1950" dirty="0"/>
          </a:p>
        </p:txBody>
      </p:sp>
      <p:sp>
        <p:nvSpPr>
          <p:cNvPr id="13" name="Text 11"/>
          <p:cNvSpPr txBox="1"/>
          <p:nvPr/>
        </p:nvSpPr>
        <p:spPr>
          <a:xfrm>
            <a:off x="5897880" y="2880360"/>
            <a:ext cx="5623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5-10 participants, watching for over-trust in the quoted text and the confidence bar, both of which we have shown are unwarranted.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548640" y="4005072"/>
            <a:ext cx="11155680" cy="1133856"/>
          </a:xfrm>
          <a:prstGeom prst="roundRect">
            <a:avLst>
              <a:gd name="adj" fmla="val 4839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407408"/>
            <a:ext cx="329184" cy="329184"/>
          </a:xfrm>
          <a:prstGeom prst="ellipse">
            <a:avLst/>
          </a:prstGeom>
          <a:solidFill>
            <a:srgbClr val="E8A13A"/>
          </a:solidFill>
          <a:ln w="12700">
            <a:solidFill>
              <a:srgbClr val="E8A13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4407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50" dirty="0"/>
          </a:p>
        </p:txBody>
      </p:sp>
      <p:sp>
        <p:nvSpPr>
          <p:cNvPr id="17" name="Text 15"/>
          <p:cNvSpPr txBox="1"/>
          <p:nvPr/>
        </p:nvSpPr>
        <p:spPr>
          <a:xfrm>
            <a:off x="1261872" y="411480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on the objective that matters</a:t>
            </a:r>
            <a:endParaRPr lang="en-US" sz="1950" dirty="0"/>
          </a:p>
        </p:txBody>
      </p:sp>
      <p:sp>
        <p:nvSpPr>
          <p:cNvPr id="18" name="Text 16"/>
          <p:cNvSpPr txBox="1"/>
          <p:nvPr/>
        </p:nvSpPr>
        <p:spPr>
          <a:xfrm>
            <a:off x="5897880" y="4114800"/>
            <a:ext cx="5623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risk-weighted criterion, choose the ensemble rule on a validation split, then report once on test.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548640" y="5239512"/>
            <a:ext cx="11155680" cy="1133856"/>
          </a:xfrm>
          <a:prstGeom prst="roundRect">
            <a:avLst>
              <a:gd name="adj" fmla="val 4839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5641848"/>
            <a:ext cx="329184" cy="329184"/>
          </a:xfrm>
          <a:prstGeom prst="ellipse">
            <a:avLst/>
          </a:prstGeom>
          <a:solidFill>
            <a:srgbClr val="E8A13A"/>
          </a:solidFill>
          <a:ln w="12700">
            <a:solidFill>
              <a:srgbClr val="E8A13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5641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50" dirty="0"/>
          </a:p>
        </p:txBody>
      </p:sp>
      <p:sp>
        <p:nvSpPr>
          <p:cNvPr id="22" name="Text 20"/>
          <p:cNvSpPr txBox="1"/>
          <p:nvPr/>
        </p:nvSpPr>
        <p:spPr>
          <a:xfrm>
            <a:off x="1261872" y="534924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the confidence score</a:t>
            </a:r>
            <a:endParaRPr lang="en-US" sz="1950" dirty="0"/>
          </a:p>
        </p:txBody>
      </p:sp>
      <p:sp>
        <p:nvSpPr>
          <p:cNvPr id="23" name="Text 21"/>
          <p:cNvSpPr txBox="1"/>
          <p:nvPr/>
        </p:nvSpPr>
        <p:spPr>
          <a:xfrm>
            <a:off x="5897880" y="5349240"/>
            <a:ext cx="5623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Platt scaling or isotonic regression. Fixes ECE 0.201 with no retraining at all.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3728" y="329184"/>
            <a:ext cx="110642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500" b="1" dirty="0">
                <a:solidFill>
                  <a:srgbClr val="1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 II, modelling</a:t>
            </a:r>
            <a:endParaRPr lang="en-US" sz="3500" dirty="0"/>
          </a:p>
        </p:txBody>
      </p:sp>
      <p:sp>
        <p:nvSpPr>
          <p:cNvPr id="3" name="Text 1"/>
          <p:cNvSpPr txBox="1"/>
          <p:nvPr/>
        </p:nvSpPr>
        <p:spPr>
          <a:xfrm>
            <a:off x="563728" y="1024128"/>
            <a:ext cx="11064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targets a specific failure from the problems section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11155680" cy="1133856"/>
          </a:xfrm>
          <a:prstGeom prst="roundRect">
            <a:avLst>
              <a:gd name="adj" fmla="val 4839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38528"/>
            <a:ext cx="329184" cy="329184"/>
          </a:xfrm>
          <a:prstGeom prst="ellipse">
            <a:avLst/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50" dirty="0"/>
          </a:p>
        </p:txBody>
      </p:sp>
      <p:sp>
        <p:nvSpPr>
          <p:cNvPr id="7" name="Text 5"/>
          <p:cNvSpPr txBox="1"/>
          <p:nvPr/>
        </p:nvSpPr>
        <p:spPr>
          <a:xfrm>
            <a:off x="1261872" y="16459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span model abstain</a:t>
            </a:r>
            <a:endParaRPr lang="en-US" sz="1950" dirty="0"/>
          </a:p>
        </p:txBody>
      </p:sp>
      <p:sp>
        <p:nvSpPr>
          <p:cNvPr id="8" name="Text 6"/>
          <p:cNvSpPr txBox="1"/>
          <p:nvPr/>
        </p:nvSpPr>
        <p:spPr>
          <a:xfrm>
            <a:off x="5897880" y="1645920"/>
            <a:ext cx="5623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v2-style unanswerable examples, and training on varied answer offsets rather than a fixed 150-character position.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48640" y="2770632"/>
            <a:ext cx="11155680" cy="1133856"/>
          </a:xfrm>
          <a:prstGeom prst="roundRect">
            <a:avLst>
              <a:gd name="adj" fmla="val 4839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172968"/>
            <a:ext cx="329184" cy="329184"/>
          </a:xfrm>
          <a:prstGeom prst="ellipse">
            <a:avLst/>
          </a:prstGeom>
          <a:solidFill>
            <a:srgbClr val="D94F5C"/>
          </a:solidFill>
          <a:ln w="12700">
            <a:solidFill>
              <a:srgbClr val="D94F5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1729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50" dirty="0"/>
          </a:p>
        </p:txBody>
      </p:sp>
      <p:sp>
        <p:nvSpPr>
          <p:cNvPr id="12" name="Text 10"/>
          <p:cNvSpPr txBox="1"/>
          <p:nvPr/>
        </p:nvSpPr>
        <p:spPr>
          <a:xfrm>
            <a:off x="1261872" y="288036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locator trained for locating</a:t>
            </a:r>
            <a:endParaRPr lang="en-US" sz="1950" dirty="0"/>
          </a:p>
        </p:txBody>
      </p:sp>
      <p:sp>
        <p:nvSpPr>
          <p:cNvPr id="13" name="Text 11"/>
          <p:cNvSpPr txBox="1"/>
          <p:nvPr/>
        </p:nvSpPr>
        <p:spPr>
          <a:xfrm>
            <a:off x="5897880" y="2880360"/>
            <a:ext cx="5623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max-pool argmax with a model actually asked which window holds the clause, fixes the 31.7% wrong-window rate.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548640" y="4005072"/>
            <a:ext cx="11155680" cy="1133856"/>
          </a:xfrm>
          <a:prstGeom prst="roundRect">
            <a:avLst>
              <a:gd name="adj" fmla="val 4839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407408"/>
            <a:ext cx="329184" cy="329184"/>
          </a:xfrm>
          <a:prstGeom prst="ellipse">
            <a:avLst/>
          </a:prstGeom>
          <a:solidFill>
            <a:srgbClr val="E8A13A"/>
          </a:solidFill>
          <a:ln w="12700">
            <a:solidFill>
              <a:srgbClr val="E8A13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4407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750" dirty="0"/>
          </a:p>
        </p:txBody>
      </p:sp>
      <p:sp>
        <p:nvSpPr>
          <p:cNvPr id="17" name="Text 15"/>
          <p:cNvSpPr txBox="1"/>
          <p:nvPr/>
        </p:nvSpPr>
        <p:spPr>
          <a:xfrm>
            <a:off x="1261872" y="411480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Clause-diverse summarization targets</a:t>
            </a:r>
            <a:endParaRPr lang="en-US" sz="1950" dirty="0"/>
          </a:p>
        </p:txBody>
      </p:sp>
      <p:sp>
        <p:nvSpPr>
          <p:cNvPr id="18" name="Text 16"/>
          <p:cNvSpPr txBox="1"/>
          <p:nvPr/>
        </p:nvSpPr>
        <p:spPr>
          <a:xfrm>
            <a:off x="5897880" y="4114800"/>
            <a:ext cx="5623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the 150-clause pilot to a few thousand references, so the task stops being 41-way classification.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548640" y="5239512"/>
            <a:ext cx="11155680" cy="1133856"/>
          </a:xfrm>
          <a:prstGeom prst="roundRect">
            <a:avLst>
              <a:gd name="adj" fmla="val 4839"/>
            </a:avLst>
          </a:prstGeom>
          <a:solidFill>
            <a:srgbClr val="F6F7FB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5641848"/>
            <a:ext cx="329184" cy="3291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5641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750" dirty="0"/>
          </a:p>
        </p:txBody>
      </p:sp>
      <p:sp>
        <p:nvSpPr>
          <p:cNvPr id="22" name="Text 20"/>
          <p:cNvSpPr txBox="1"/>
          <p:nvPr/>
        </p:nvSpPr>
        <p:spPr>
          <a:xfrm>
            <a:off x="1261872" y="534924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Cross-validation, and contracts beyond CUAD</a:t>
            </a:r>
            <a:endParaRPr lang="en-US" sz="1950" dirty="0"/>
          </a:p>
        </p:txBody>
      </p:sp>
      <p:sp>
        <p:nvSpPr>
          <p:cNvPr id="23" name="Text 21"/>
          <p:cNvSpPr txBox="1"/>
          <p:nvPr/>
        </p:nvSpPr>
        <p:spPr>
          <a:xfrm>
            <a:off x="5897880" y="5349240"/>
            <a:ext cx="5623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SD 0.0063 is the largest uncertainty we measured; three locally sourced agreements would say more than further CUAD tuning.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Clause Detection, Category-Level Risk Prioritization and Plain-Language Explanation on CUAD</dc:title>
  <dc:subject>PptxGenJS Presentation</dc:subject>
  <dc:creator>Jerin Aktar, Afnan Mazumdar, Shoyeb Hasan Sayem</dc:creator>
  <cp:lastModifiedBy>Jerin Aktar, Afnan Mazumdar, Shoyeb Hasan Sayem</cp:lastModifiedBy>
  <cp:revision>1</cp:revision>
  <dcterms:created xsi:type="dcterms:W3CDTF">2026-09-29T14:34:07Z</dcterms:created>
  <dcterms:modified xsi:type="dcterms:W3CDTF">2026-09-29T14:34:07Z</dcterms:modified>
</cp:coreProperties>
</file>
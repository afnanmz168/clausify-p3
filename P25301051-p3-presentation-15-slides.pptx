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7.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68" r:id="rId14"/>
    <p:sldId id="271" r:id="rId17"/>
    <p:sldId id="257" r:id="rId3"/>
    <p:sldId id="272" r:id="rId18"/>
    <p:sldId id="258" r:id="rId4"/>
    <p:sldId id="262" r:id="rId8"/>
    <p:sldId id="259" r:id="rId5"/>
    <p:sldId id="269" r:id="rId15"/>
    <p:sldId id="273" r:id="rId24"/>
    <p:sldId id="266" r:id="rId12"/>
    <p:sldId id="260" r:id="rId6"/>
    <p:sldId id="265" r:id="rId11"/>
    <p:sldId id="270" r:id="rId16"/>
    <p:sldId id="267" r:id="rId13"/>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4.xml"/><Relationship Id="rId4" Type="http://schemas.openxmlformats.org/officeDocument/2006/relationships/slide" Target="slides/slide6.xml"/><Relationship Id="rId5" Type="http://schemas.openxmlformats.org/officeDocument/2006/relationships/slide" Target="slides/slide8.xml"/><Relationship Id="rId6" Type="http://schemas.openxmlformats.org/officeDocument/2006/relationships/slide" Target="slides/slide12.xml"/><Relationship Id="rId8" Type="http://schemas.openxmlformats.org/officeDocument/2006/relationships/slide" Target="slides/slide7.xml"/><Relationship Id="rId11" Type="http://schemas.openxmlformats.org/officeDocument/2006/relationships/slide" Target="slides/slide13.xml"/><Relationship Id="rId12" Type="http://schemas.openxmlformats.org/officeDocument/2006/relationships/slide" Target="slides/slide11.xml"/><Relationship Id="rId13" Type="http://schemas.openxmlformats.org/officeDocument/2006/relationships/slide" Target="slides/slide15.xml"/><Relationship Id="rId14" Type="http://schemas.openxmlformats.org/officeDocument/2006/relationships/slide" Target="slides/slide2.xml"/><Relationship Id="rId15" Type="http://schemas.openxmlformats.org/officeDocument/2006/relationships/slide" Target="slides/slide9.xml"/><Relationship Id="rId16" Type="http://schemas.openxmlformats.org/officeDocument/2006/relationships/slide" Target="slides/slide14.xml"/><Relationship Id="rId17" Type="http://schemas.openxmlformats.org/officeDocument/2006/relationships/slide" Target="slides/slide3.xml"/><Relationship Id="rId18" Type="http://schemas.openxmlformats.org/officeDocument/2006/relationships/slide" Target="slides/slide5.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openxmlformats.org/officeDocument/2006/relationships/slide" Target="slides/slide1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stacked"/>
        <c:ser>
          <c:idx val="0"/>
          <c:order val="0"/>
          <c:tx>
            <c:strRef>
              <c:f>Sheet1!$B$1</c:f>
              <c:strCache>
                <c:ptCount val="1"/>
                <c:pt idx="0">
                  <c:v>High</c:v>
                </c:pt>
              </c:strCache>
            </c:strRef>
          </c:tx>
          <c:spPr>
            <a:solidFill>
              <a:srgbClr val="D94F5C"/>
            </a:solidFill>
            <a:ln>
              <a:noFill/>
            </a:ln>
          </c:spPr>
          <c:cat>
            <c:strRef>
              <c:f>Sheet1!$A$2:$A$4</c:f>
              <c:strCache>
                <c:ptCount val="3"/>
                <c:pt idx="0">
                  <c:v>High</c:v>
                </c:pt>
                <c:pt idx="1">
                  <c:v>Medium</c:v>
                </c:pt>
                <c:pt idx="2">
                  <c:v>Low</c:v>
                </c:pt>
              </c:strCache>
            </c:strRef>
          </c:cat>
          <c:val>
            <c:numRef>
              <c:f>Sheet1!$B$2:$B$4</c:f>
              <c:numCache>
                <c:formatCode>General</c:formatCode>
                <c:ptCount val="3"/>
                <c:pt idx="0">
                  <c:v>8</c:v>
                </c:pt>
                <c:pt idx="1">
                  <c:v>0</c:v>
                </c:pt>
                <c:pt idx="2">
                  <c:v>0</c:v>
                </c:pt>
              </c:numCache>
            </c:numRef>
          </c:val>
        </c:ser>
        <c:ser>
          <c:idx val="1"/>
          <c:order val="1"/>
          <c:tx>
            <c:strRef>
              <c:f>Sheet1!$C$1</c:f>
              <c:strCache>
                <c:ptCount val="1"/>
                <c:pt idx="0">
                  <c:v>Medium</c:v>
                </c:pt>
              </c:strCache>
            </c:strRef>
          </c:tx>
          <c:spPr>
            <a:solidFill>
              <a:srgbClr val="E8A13A"/>
            </a:solidFill>
            <a:ln>
              <a:noFill/>
            </a:ln>
          </c:spPr>
          <c:cat>
            <c:strRef>
              <c:f>Sheet1!$A$2:$A$4</c:f>
              <c:strCache>
                <c:ptCount val="3"/>
                <c:pt idx="0">
                  <c:v>High</c:v>
                </c:pt>
                <c:pt idx="1">
                  <c:v>Medium</c:v>
                </c:pt>
                <c:pt idx="2">
                  <c:v>Low</c:v>
                </c:pt>
              </c:strCache>
            </c:strRef>
          </c:cat>
          <c:val>
            <c:numRef>
              <c:f>Sheet1!$C$2:$C$4</c:f>
              <c:numCache>
                <c:formatCode>General</c:formatCode>
                <c:ptCount val="3"/>
                <c:pt idx="0">
                  <c:v>0</c:v>
                </c:pt>
                <c:pt idx="1">
                  <c:v>22</c:v>
                </c:pt>
                <c:pt idx="2">
                  <c:v>0</c:v>
                </c:pt>
              </c:numCache>
            </c:numRef>
          </c:val>
        </c:ser>
        <c:ser>
          <c:idx val="2"/>
          <c:order val="2"/>
          <c:tx>
            <c:strRef>
              <c:f>Sheet1!$D$1</c:f>
              <c:strCache>
                <c:ptCount val="1"/>
                <c:pt idx="0">
                  <c:v>Low</c:v>
                </c:pt>
              </c:strCache>
            </c:strRef>
          </c:tx>
          <c:spPr>
            <a:solidFill>
              <a:srgbClr val="4CAF82"/>
            </a:solidFill>
            <a:ln>
              <a:noFill/>
            </a:ln>
          </c:spPr>
          <c:cat>
            <c:strRef>
              <c:f>Sheet1!$A$2:$A$4</c:f>
              <c:strCache>
                <c:ptCount val="3"/>
                <c:pt idx="0">
                  <c:v>High</c:v>
                </c:pt>
                <c:pt idx="1">
                  <c:v>Medium</c:v>
                </c:pt>
                <c:pt idx="2">
                  <c:v>Low</c:v>
                </c:pt>
              </c:strCache>
            </c:strRef>
          </c:cat>
          <c:val>
            <c:numRef>
              <c:f>Sheet1!$D$2:$D$4</c:f>
              <c:numCache>
                <c:formatCode>General</c:formatCode>
                <c:ptCount val="3"/>
                <c:pt idx="0">
                  <c:v>0</c:v>
                </c:pt>
                <c:pt idx="1">
                  <c:v>0</c:v>
                </c:pt>
                <c:pt idx="2">
                  <c:v>11</c:v>
                </c:pt>
              </c:numCache>
            </c:numRef>
          </c:val>
        </c:ser>
        <c:dLbls>
          <c:numFmt formatCode="0;;;" sourceLinked="0"/>
          <c:txPr>
            <a:bodyPr/>
            <a:lstStyle/>
            <a:p>
              <a:pPr>
                <a:defRPr sz="1500" b="1">
                  <a:solidFill>
                    <a:srgbClr val="FFFFFF"/>
                  </a:solidFill>
                </a:defRPr>
              </a:pPr>
            </a:p>
          </c:txPr>
          <c:dLblPos val="inEnd"/>
          <c:showLegendKey val="0"/>
          <c:showVal val="1"/>
          <c:showCatName val="0"/>
          <c:showSerName val="0"/>
          <c:showPercent val="0"/>
          <c:showBubbleSize val="0"/>
          <c:showLeaderLines val="1"/>
        </c:dLbls>
        <c:gapWidth val="70"/>
        <c:overlap val="100"/>
        <c:axId val="-2068027336"/>
        <c:axId val="-2113994440"/>
      </c:barChart>
      <c:catAx>
        <c:axId val="-2068027336"/>
        <c:scaling>
          <c:orientation val="minMax"/>
        </c:scaling>
        <c:delete val="0"/>
        <c:axPos val="b"/>
        <c:majorTickMark val="out"/>
        <c:minorTickMark val="none"/>
        <c:tickLblPos val="nextTo"/>
        <c:spPr>
          <a:ln>
            <a:solidFill>
              <a:srgbClr val="D9DEEC"/>
            </a:solidFill>
          </a:ln>
        </c:spPr>
        <c:txPr>
          <a:bodyPr/>
          <a:lstStyle/>
          <a:p>
            <a:pPr>
              <a:defRPr sz="1400">
                <a:solidFill>
                  <a:srgbClr val="374151"/>
                </a:solidFill>
              </a:defRPr>
            </a:pPr>
          </a:p>
        </c:txPr>
        <c:crossAx val="-2113994440"/>
        <c:crosses val="autoZero"/>
        <c:auto val="1"/>
        <c:lblAlgn val="ctr"/>
        <c:lblOffset val="100"/>
        <c:noMultiLvlLbl val="0"/>
      </c:catAx>
      <c:valAx>
        <c:axId val="-2113994440"/>
        <c:scaling>
          <c:max val="24.0"/>
          <c:min val="0.0"/>
        </c:scaling>
        <c:delete val="0"/>
        <c:axPos val="l"/>
        <c:majorTickMark val="out"/>
        <c:minorTickMark val="none"/>
        <c:tickLblPos val="nextTo"/>
        <c:spPr>
          <a:ln>
            <a:noFill/>
          </a:ln>
        </c:spPr>
        <c:txPr>
          <a:bodyPr/>
          <a:lstStyle/>
          <a:p>
            <a:pPr>
              <a:defRPr sz="1200">
                <a:solidFill>
                  <a:srgbClr val="6B7280"/>
                </a:solidFill>
              </a:defRPr>
            </a:pPr>
          </a:p>
        </c:txPr>
        <c:crossAx val="-2068027336"/>
        <c:crosses val="autoZero"/>
      </c:valAx>
    </c:plotArea>
    <c:dispBlanksAs val="gap"/>
  </c:chart>
  <c:spPr>
    <a:noFill/>
    <a:ln>
      <a:noFill/>
    </a:ln>
  </c:spPr>
  <c:txPr>
    <a:bodyPr/>
    <a:lstStyle/>
    <a:p>
      <a:pPr>
        <a:defRPr sz="1300">
          <a:solidFill>
            <a:srgbClr val="374151"/>
          </a:solidFill>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stacked"/>
        <c:ser>
          <c:idx val="0"/>
          <c:order val="0"/>
          <c:tx>
            <c:strRef>
              <c:f>Sheet1!$B$1</c:f>
              <c:strCache>
                <c:ptCount val="1"/>
                <c:pt idx="0">
                  <c:v>navy</c:v>
                </c:pt>
              </c:strCache>
            </c:strRef>
          </c:tx>
          <c:spPr>
            <a:solidFill>
              <a:srgbClr val="1E2761"/>
            </a:solidFill>
            <a:ln>
              <a:noFill/>
            </a:ln>
          </c:spPr>
          <c:cat>
            <c:strRef>
              <c:f>Sheet1!$A$2:$A$6</c:f>
              <c:strCache>
                <c:ptCount val="5"/>
                <c:pt idx="0">
                  <c:v>Transformer (first)</c:v>
                </c:pt>
                <c:pt idx="1">
                  <c:v>Word model (first)</c:v>
                </c:pt>
                <c:pt idx="2">
                  <c:v>Word model (tuned)</c:v>
                </c:pt>
                <c:pt idx="3">
                  <c:v>Transformer (tuned)</c:v>
                </c:pt>
                <c:pt idx="4">
                  <c:v>Both agree (tuned)</c:v>
                </c:pt>
              </c:strCache>
            </c:strRef>
          </c:cat>
          <c:val>
            <c:numRef>
              <c:f>Sheet1!$B$2:$B$6</c:f>
              <c:numCache>
                <c:formatCode>General</c:formatCode>
                <c:ptCount val="5"/>
                <c:pt idx="0">
                  <c:v>0</c:v>
                </c:pt>
                <c:pt idx="1">
                  <c:v>0</c:v>
                </c:pt>
                <c:pt idx="2">
                  <c:v>0</c:v>
                </c:pt>
                <c:pt idx="3">
                  <c:v>0</c:v>
                </c:pt>
                <c:pt idx="4">
                  <c:v>0.809</c:v>
                </c:pt>
              </c:numCache>
            </c:numRef>
          </c:val>
        </c:ser>
        <c:ser>
          <c:idx val="1"/>
          <c:order val="1"/>
          <c:tx>
            <c:strRef>
              <c:f>Sheet1!$C$1</c:f>
              <c:strCache>
                <c:ptCount val="1"/>
                <c:pt idx="0">
                  <c:v>green</c:v>
                </c:pt>
              </c:strCache>
            </c:strRef>
          </c:tx>
          <c:spPr>
            <a:solidFill>
              <a:srgbClr val="4CAF82"/>
            </a:solidFill>
            <a:ln>
              <a:noFill/>
            </a:ln>
          </c:spPr>
          <c:cat>
            <c:strRef>
              <c:f>Sheet1!$A$2:$A$6</c:f>
              <c:strCache>
                <c:ptCount val="5"/>
                <c:pt idx="0">
                  <c:v>Transformer (first)</c:v>
                </c:pt>
                <c:pt idx="1">
                  <c:v>Word model (first)</c:v>
                </c:pt>
                <c:pt idx="2">
                  <c:v>Word model (tuned)</c:v>
                </c:pt>
                <c:pt idx="3">
                  <c:v>Transformer (tuned)</c:v>
                </c:pt>
                <c:pt idx="4">
                  <c:v>Both agree (tuned)</c:v>
                </c:pt>
              </c:strCache>
            </c:strRef>
          </c:cat>
          <c:val>
            <c:numRef>
              <c:f>Sheet1!$C$2:$C$6</c:f>
              <c:numCache>
                <c:formatCode>General</c:formatCode>
                <c:ptCount val="5"/>
                <c:pt idx="0">
                  <c:v>0</c:v>
                </c:pt>
                <c:pt idx="1">
                  <c:v>0.775</c:v>
                </c:pt>
                <c:pt idx="2">
                  <c:v>0.785</c:v>
                </c:pt>
                <c:pt idx="3">
                  <c:v>0</c:v>
                </c:pt>
                <c:pt idx="4">
                  <c:v>0</c:v>
                </c:pt>
              </c:numCache>
            </c:numRef>
          </c:val>
        </c:ser>
        <c:ser>
          <c:idx val="2"/>
          <c:order val="2"/>
          <c:tx>
            <c:strRef>
              <c:f>Sheet1!$D$1</c:f>
              <c:strCache>
                <c:ptCount val="1"/>
                <c:pt idx="0">
                  <c:v>orange</c:v>
                </c:pt>
              </c:strCache>
            </c:strRef>
          </c:tx>
          <c:spPr>
            <a:solidFill>
              <a:srgbClr val="E8A13A"/>
            </a:solidFill>
            <a:ln>
              <a:noFill/>
            </a:ln>
          </c:spPr>
          <c:cat>
            <c:strRef>
              <c:f>Sheet1!$A$2:$A$6</c:f>
              <c:strCache>
                <c:ptCount val="5"/>
                <c:pt idx="0">
                  <c:v>Transformer (first)</c:v>
                </c:pt>
                <c:pt idx="1">
                  <c:v>Word model (first)</c:v>
                </c:pt>
                <c:pt idx="2">
                  <c:v>Word model (tuned)</c:v>
                </c:pt>
                <c:pt idx="3">
                  <c:v>Transformer (tuned)</c:v>
                </c:pt>
                <c:pt idx="4">
                  <c:v>Both agree (tuned)</c:v>
                </c:pt>
              </c:strCache>
            </c:strRef>
          </c:cat>
          <c:val>
            <c:numRef>
              <c:f>Sheet1!$D$2:$D$6</c:f>
              <c:numCache>
                <c:formatCode>General</c:formatCode>
                <c:ptCount val="5"/>
                <c:pt idx="0">
                  <c:v>0.692</c:v>
                </c:pt>
                <c:pt idx="1">
                  <c:v>0</c:v>
                </c:pt>
                <c:pt idx="2">
                  <c:v>0</c:v>
                </c:pt>
                <c:pt idx="3">
                  <c:v>0.797</c:v>
                </c:pt>
                <c:pt idx="4">
                  <c:v>0</c:v>
                </c:pt>
              </c:numCache>
            </c:numRef>
          </c:val>
        </c:ser>
        <c:dLbls>
          <c:numFmt formatCode="0.000;;;" sourceLinked="0"/>
          <c:txPr>
            <a:bodyPr/>
            <a:lstStyle/>
            <a:p>
              <a:pPr>
                <a:defRPr sz="1500" b="1">
                  <a:solidFill>
                    <a:srgbClr val="FFFFFF"/>
                  </a:solidFill>
                </a:defRPr>
              </a:pPr>
            </a:p>
          </c:txPr>
          <c:dLblPos val="inEnd"/>
          <c:showLegendKey val="0"/>
          <c:showVal val="1"/>
          <c:showCatName val="0"/>
          <c:showSerName val="0"/>
          <c:showPercent val="0"/>
          <c:showBubbleSize val="0"/>
          <c:showLeaderLines val="1"/>
        </c:dLbls>
        <c:gapWidth val="45"/>
        <c:overlap val="100"/>
        <c:axId val="-2068027336"/>
        <c:axId val="-2113994440"/>
      </c:barChart>
      <c:catAx>
        <c:axId val="-2068027336"/>
        <c:scaling>
          <c:orientation val="minMax"/>
        </c:scaling>
        <c:delete val="0"/>
        <c:axPos val="l"/>
        <c:majorTickMark val="out"/>
        <c:minorTickMark val="none"/>
        <c:tickLblPos val="nextTo"/>
        <c:spPr>
          <a:ln>
            <a:solidFill>
              <a:srgbClr val="D9DEEC"/>
            </a:solidFill>
          </a:ln>
        </c:spPr>
        <c:txPr>
          <a:bodyPr/>
          <a:lstStyle/>
          <a:p>
            <a:pPr>
              <a:defRPr sz="1400">
                <a:solidFill>
                  <a:srgbClr val="374151"/>
                </a:solidFill>
              </a:defRPr>
            </a:pPr>
          </a:p>
        </c:txPr>
        <c:crossAx val="-2113994440"/>
        <c:crosses val="autoZero"/>
        <c:auto val="1"/>
        <c:lblAlgn val="ctr"/>
        <c:lblOffset val="100"/>
        <c:noMultiLvlLbl val="0"/>
      </c:catAx>
      <c:valAx>
        <c:axId val="-2113994440"/>
        <c:scaling>
          <c:max val="1.0"/>
          <c:min val="0.0"/>
        </c:scaling>
        <c:delete val="0"/>
        <c:axPos val="b"/>
        <c:numFmt formatCode="0.0" sourceLinked="0"/>
        <c:majorTickMark val="out"/>
        <c:minorTickMark val="none"/>
        <c:tickLblPos val="nextTo"/>
        <c:spPr>
          <a:ln>
            <a:noFill/>
          </a:ln>
        </c:spPr>
        <c:txPr>
          <a:bodyPr/>
          <a:lstStyle/>
          <a:p>
            <a:pPr>
              <a:defRPr sz="1200">
                <a:solidFill>
                  <a:srgbClr val="6B7280"/>
                </a:solidFill>
              </a:defRPr>
            </a:pPr>
          </a:p>
        </c:txPr>
        <c:crossAx val="-2068027336"/>
        <c:crosses val="autoZero"/>
        <c:majorUnit val="0.2"/>
      </c:valAx>
    </c:plotArea>
    <c:dispBlanksAs val="gap"/>
  </c:chart>
  <c:spPr>
    <a:noFill/>
    <a:ln>
      <a:noFill/>
    </a:ln>
  </c:spPr>
  <c:txPr>
    <a:bodyPr/>
    <a:lstStyle/>
    <a:p>
      <a:pPr>
        <a:defRPr sz="1300">
          <a:solidFill>
            <a:srgbClr val="374151"/>
          </a:solidFill>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Good morning. Our project is a tool that reads a contract for the person signing it. It finds which of 41 types of clause are in the contract, shows the clause, gives it a High, Medium or Low risk level, and explains it in one simple sentence. It runs in an app called Clausify. We will cover the data, how the system works, training, the problems we solved, how we tested it, and the results.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CUAD has 510 contracts and 41 clause types. We split by whole contract: 408 for training and 102 for testing. The chart shows that training and test look almost the same (32.0% and 32.2% of clauses present).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model reads every window and keeps the highest score for the whole contract. A simple word model reads the whole contract too. Each model gets a threshold for each clause type, chosen on contracts we kept aside. Then the text model finds the words, the risk table adds the level, and FLAN-T5 adds one simple sentence.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All three models learned only from the 408 training contracts, and for the clause finder we kept 81 of them aside to choose its settings. We built the simple word-count model first, so the AI models had a fair score to beat. The final clause finder reads all 512 tokens of each window; the first one read only 256.</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Our first transformer lost to the simple word model, 0.692 to 0.775. We then found it was reading only half of each window. With the whole window read and both models tuned on contracts kept aside, the two tie, 0.797 to 0.785, and when both must agree the F1 is 0.809, a lead the bootstrap confirms. A second run that changed only the window length shows that reading the whole window is worth 0.036 on its own.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Each clause type gets one risk level, decided by five simple questions. 8 types are High, 22 are Medium and 11 are Low. A lawyer has not checked the table yet; that is our first next step.</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found each of these by testing the app with real inputs, then fixed it and tested again. 42 automatic tests now check these cases every time.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For example, for a clause that blocks transferring the contract, the app shows: 'You cannot transfer this contract to someone else without permission.' The model picks the right sentence 70% of the time.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We kept 102 contracts completely aside for testing, and 81 of the training contracts aside to choose settings. To see how sure each score is, we re-ran the test 10,000 times on random mixes of these contracts. Nothing was chosen by looking at the test results.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We built a complete system that works on contracts it has never seen, and a working app. Next, we want a lawyer to check the risk table, make the confidence bar match real chances, test the app with real users, write explanations for each clause, and try contracts from outside CUAD, such as from Bangladesh.</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Contracts are long, but the clauses that can hurt you, like unlimited liability or a non-compete, are short and easy to miss. A lawyer is expensive, so many people sign without help. CUAD can find clauses, but it does not say how risky they are. We add the risk level, a simple explanation and an app.</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These were practical problems, and each one had a clear fix. The most important one we found late: our first clause model read only about half of each window, so many of its training examples pointed at text it never saw. Fixing that is what made the transformer competitive. Before choosing windows we also checked a 'search first' design; it could reach at most 64% of clauses, so we did not use it.</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Clausify runs all our models on any contract you paste or upload. It shows the risky clauses first, with a reason and a simple explanation. By default it uses the setting that finds 90% of High-risk clauses on the test set. It says clearly on screen that it is not legal advice.</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We had four goals: find which clauses are present, find their exact words, show the risk in simple English, and test everything fairly before building the app.</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data was already checked by experts, so cleaning was about format: empty cells, lists stored as text, and one column name with an extra space. Then we cut each contract into overlapping windows that the model can read.</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4.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 Id="rId4" Type="http://schemas.openxmlformats.org/officeDocument/2006/relationships/chart" Target="../charts/chart1.xml"/></Relationships>
</file>

<file path=ppt/slides/_rels/slide8.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 Id="rId5" Type="http://schemas.openxmlformats.org/officeDocument/2006/relationships/chart" Target="../charts/chart2.xml"/><Relationship Id="rId6"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fig/bracu_logo.png">    </p:cNvPr>
          <p:cNvPicPr>
            <a:picLocks noChangeAspect="1"/>
          </p:cNvPicPr>
          <p:nvPr/>
        </p:nvPicPr>
        <p:blipFill>
          <a:blip r:embed="rId1"/>
          <a:stretch>
            <a:fillRect/>
          </a:stretch>
        </p:blipFill>
        <p:spPr>
          <a:xfrm>
            <a:off x="5271516" y="292608"/>
            <a:ext cx="1645920" cy="1508760"/>
          </a:xfrm>
          <a:prstGeom prst="rect">
            <a:avLst/>
          </a:prstGeom>
        </p:spPr>
      </p:pic>
      <p:sp>
        <p:nvSpPr>
          <p:cNvPr id="3" name="Text 0"/>
          <p:cNvSpPr txBox="1"/>
          <p:nvPr/>
        </p:nvSpPr>
        <p:spPr>
          <a:xfrm>
            <a:off x="838048" y="1920240"/>
            <a:ext cx="10515600" cy="347472"/>
          </a:xfrm>
          <a:prstGeom prst="rect">
            <a:avLst/>
          </a:prstGeom>
          <a:noFill/>
          <a:ln/>
        </p:spPr>
        <p:txBody>
          <a:bodyPr wrap="square" lIns="0" tIns="0" rIns="0" bIns="0" rtlCol="0" anchor="ctr"/>
          <a:lstStyle/>
          <a:p>
            <a:pPr algn="ctr" indent="0" marL="0">
              <a:buNone/>
            </a:pPr>
            <a:r>
              <a:rPr lang="en-US" sz="1700" b="1" dirty="0">
                <a:solidFill>
                  <a:srgbClr val="141B3D"/>
                </a:solidFill>
                <a:latin typeface="Cambria" pitchFamily="34" charset="0"/>
                <a:ea typeface="Cambria" pitchFamily="34" charset="-122"/>
                <a:cs typeface="Cambria" pitchFamily="34" charset="-120"/>
              </a:rPr>
              <a:t>Department of Computer Science and Engineering</a:t>
            </a:r>
            <a:endParaRPr lang="en-US" sz="1700" dirty="0"/>
          </a:p>
        </p:txBody>
      </p:sp>
      <p:sp>
        <p:nvSpPr>
          <p:cNvPr id="4" name="Text 1"/>
          <p:cNvSpPr txBox="1"/>
          <p:nvPr/>
        </p:nvSpPr>
        <p:spPr>
          <a:xfrm>
            <a:off x="838048" y="2395728"/>
            <a:ext cx="10515600" cy="1280160"/>
          </a:xfrm>
          <a:prstGeom prst="rect">
            <a:avLst/>
          </a:prstGeom>
          <a:noFill/>
          <a:ln/>
        </p:spPr>
        <p:txBody>
          <a:bodyPr wrap="square" lIns="0" tIns="0" rIns="0" bIns="0" rtlCol="0" anchor="ctr"/>
          <a:lstStyle/>
          <a:p>
            <a:pPr algn="ctr" indent="0" marL="0">
              <a:lnSpc>
                <a:spcPts val="3000"/>
              </a:lnSpc>
              <a:buNone/>
            </a:pPr>
            <a:r>
              <a:rPr lang="en-US" sz="2300" b="1" dirty="0">
                <a:solidFill>
                  <a:srgbClr val="1E2761"/>
                </a:solidFill>
                <a:latin typeface="Cambria" pitchFamily="34" charset="0"/>
                <a:ea typeface="Cambria" pitchFamily="34" charset="-122"/>
                <a:cs typeface="Cambria" pitchFamily="34" charset="-120"/>
              </a:rPr>
              <a:t>AI-Powered Legal Document Analysis System:</a:t>
            </a:r>
            <a:endParaRPr lang="en-US" sz="2300" dirty="0"/>
          </a:p>
          <a:p>
            <a:pPr algn="ctr" indent="0" marL="0">
              <a:lnSpc>
                <a:spcPts val="3000"/>
              </a:lnSpc>
              <a:buNone/>
            </a:pPr>
            <a:r>
              <a:rPr lang="en-US" sz="2300" b="1" dirty="0">
                <a:solidFill>
                  <a:srgbClr val="1E2761"/>
                </a:solidFill>
                <a:latin typeface="Cambria" pitchFamily="34" charset="0"/>
                <a:ea typeface="Cambria" pitchFamily="34" charset="-122"/>
                <a:cs typeface="Cambria" pitchFamily="34" charset="-120"/>
              </a:rPr>
              <a:t>Clause Detection, Category-Level Risk Prioritization</a:t>
            </a:r>
            <a:endParaRPr lang="en-US" sz="2300" dirty="0"/>
          </a:p>
          <a:p>
            <a:pPr algn="ctr" indent="0" marL="0">
              <a:lnSpc>
                <a:spcPts val="3000"/>
              </a:lnSpc>
              <a:buNone/>
            </a:pPr>
            <a:r>
              <a:rPr lang="en-US" sz="2300" b="1" dirty="0">
                <a:solidFill>
                  <a:srgbClr val="1E2761"/>
                </a:solidFill>
                <a:latin typeface="Cambria" pitchFamily="34" charset="0"/>
                <a:ea typeface="Cambria" pitchFamily="34" charset="-122"/>
                <a:cs typeface="Cambria" pitchFamily="34" charset="-120"/>
              </a:rPr>
              <a:t>and Plain-Language Explanation on CUAD</a:t>
            </a:r>
            <a:endParaRPr lang="en-US" sz="2300" dirty="0"/>
          </a:p>
        </p:txBody>
      </p:sp>
      <p:sp>
        <p:nvSpPr>
          <p:cNvPr id="5" name="Text 2"/>
          <p:cNvSpPr txBox="1"/>
          <p:nvPr/>
        </p:nvSpPr>
        <p:spPr>
          <a:xfrm>
            <a:off x="838048" y="3749040"/>
            <a:ext cx="10515600" cy="256032"/>
          </a:xfrm>
          <a:prstGeom prst="rect">
            <a:avLst/>
          </a:prstGeom>
          <a:noFill/>
          <a:ln/>
        </p:spPr>
        <p:txBody>
          <a:bodyPr wrap="square" lIns="0" tIns="0" rIns="0" bIns="0" rtlCol="0" anchor="ctr"/>
          <a:lstStyle/>
          <a:p>
            <a:pPr algn="ctr" indent="0" marL="0">
              <a:buNone/>
            </a:pPr>
            <a:r>
              <a:rPr lang="en-US" sz="1400" i="1" dirty="0">
                <a:solidFill>
                  <a:srgbClr val="6B7280"/>
                </a:solidFill>
                <a:latin typeface="Calibri" pitchFamily="34" charset="0"/>
                <a:ea typeface="Calibri" pitchFamily="34" charset="-122"/>
                <a:cs typeface="Calibri" pitchFamily="34" charset="-120"/>
              </a:rPr>
              <a:t>Submitted by</a:t>
            </a:r>
            <a:endParaRPr lang="en-US" sz="1400" dirty="0"/>
          </a:p>
        </p:txBody>
      </p:sp>
      <p:sp>
        <p:nvSpPr>
          <p:cNvPr id="6" name="Text 3"/>
          <p:cNvSpPr txBox="1"/>
          <p:nvPr/>
        </p:nvSpPr>
        <p:spPr>
          <a:xfrm>
            <a:off x="838048" y="4023360"/>
            <a:ext cx="10515600" cy="292608"/>
          </a:xfrm>
          <a:prstGeom prst="rect">
            <a:avLst/>
          </a:prstGeom>
          <a:noFill/>
          <a:ln/>
        </p:spPr>
        <p:txBody>
          <a:bodyPr wrap="square" lIns="0" tIns="0" rIns="0" bIns="0" rtlCol="0" anchor="ctr"/>
          <a:lstStyle/>
          <a:p>
            <a:pPr algn="ctr" indent="0" marL="0">
              <a:buNone/>
            </a:pPr>
            <a:r>
              <a:rPr lang="en-US" sz="1550" b="1" dirty="0">
                <a:solidFill>
                  <a:srgbClr val="1E2761"/>
                </a:solidFill>
                <a:latin typeface="Calibri" pitchFamily="34" charset="0"/>
                <a:ea typeface="Calibri" pitchFamily="34" charset="-122"/>
                <a:cs typeface="Calibri" pitchFamily="34" charset="-120"/>
              </a:rPr>
              <a:t>Group ID: P25301051</a:t>
            </a:r>
            <a:endParaRPr lang="en-US" sz="1550" dirty="0"/>
          </a:p>
        </p:txBody>
      </p:sp>
      <p:sp>
        <p:nvSpPr>
          <p:cNvPr id="7" name="Text 4"/>
          <p:cNvSpPr txBox="1"/>
          <p:nvPr/>
        </p:nvSpPr>
        <p:spPr>
          <a:xfrm>
            <a:off x="838048" y="4352544"/>
            <a:ext cx="10515600" cy="868680"/>
          </a:xfrm>
          <a:prstGeom prst="rect">
            <a:avLst/>
          </a:prstGeom>
          <a:noFill/>
          <a:ln/>
        </p:spPr>
        <p:txBody>
          <a:bodyPr wrap="square" lIns="0" tIns="0" rIns="0" bIns="0" rtlCol="0" anchor="ctr"/>
          <a:lstStyle/>
          <a:p>
            <a:pPr algn="ctr" indent="0" marL="0">
              <a:lnSpc>
                <a:spcPts val="2200"/>
              </a:lnSpc>
              <a:buNone/>
            </a:pPr>
            <a:r>
              <a:rPr lang="en-US" sz="1600" b="1" dirty="0">
                <a:solidFill>
                  <a:srgbClr val="141B3D"/>
                </a:solidFill>
                <a:latin typeface="Calibri" pitchFamily="34" charset="0"/>
                <a:ea typeface="Calibri" pitchFamily="34" charset="-122"/>
                <a:cs typeface="Calibri" pitchFamily="34" charset="-120"/>
              </a:rPr>
              <a:t>Jerin Aktar, 22101279</a:t>
            </a:r>
            <a:endParaRPr lang="en-US" sz="1600" dirty="0"/>
          </a:p>
          <a:p>
            <a:pPr algn="ctr" indent="0" marL="0">
              <a:lnSpc>
                <a:spcPts val="2200"/>
              </a:lnSpc>
              <a:buNone/>
            </a:pPr>
            <a:r>
              <a:rPr lang="en-US" sz="1600" b="1" dirty="0">
                <a:solidFill>
                  <a:srgbClr val="141B3D"/>
                </a:solidFill>
                <a:latin typeface="Calibri" pitchFamily="34" charset="0"/>
                <a:ea typeface="Calibri" pitchFamily="34" charset="-122"/>
                <a:cs typeface="Calibri" pitchFamily="34" charset="-120"/>
              </a:rPr>
              <a:t>Afnan Mazumdar, 24141229</a:t>
            </a:r>
            <a:endParaRPr lang="en-US" sz="1600" dirty="0"/>
          </a:p>
          <a:p>
            <a:pPr algn="ctr" indent="0" marL="0">
              <a:lnSpc>
                <a:spcPts val="2200"/>
              </a:lnSpc>
              <a:buNone/>
            </a:pPr>
            <a:r>
              <a:rPr lang="en-US" sz="1600" b="1" dirty="0">
                <a:solidFill>
                  <a:srgbClr val="141B3D"/>
                </a:solidFill>
                <a:latin typeface="Calibri" pitchFamily="34" charset="0"/>
                <a:ea typeface="Calibri" pitchFamily="34" charset="-122"/>
                <a:cs typeface="Calibri" pitchFamily="34" charset="-120"/>
              </a:rPr>
              <a:t>Shoyeb Hasan Sayem, 22101386</a:t>
            </a:r>
            <a:endParaRPr lang="en-US" sz="1600" dirty="0"/>
          </a:p>
        </p:txBody>
      </p:sp>
      <p:sp>
        <p:nvSpPr>
          <p:cNvPr id="8" name="Text 5"/>
          <p:cNvSpPr txBox="1"/>
          <p:nvPr/>
        </p:nvSpPr>
        <p:spPr>
          <a:xfrm>
            <a:off x="838048" y="5321808"/>
            <a:ext cx="10515600" cy="256032"/>
          </a:xfrm>
          <a:prstGeom prst="rect">
            <a:avLst/>
          </a:prstGeom>
          <a:noFill/>
          <a:ln/>
        </p:spPr>
        <p:txBody>
          <a:bodyPr wrap="square" lIns="0" tIns="0" rIns="0" bIns="0" rtlCol="0" anchor="ctr"/>
          <a:lstStyle/>
          <a:p>
            <a:pPr algn="ctr" indent="0" marL="0">
              <a:buNone/>
            </a:pPr>
            <a:r>
              <a:rPr lang="en-US" sz="1350" i="1" dirty="0">
                <a:solidFill>
                  <a:srgbClr val="6B7280"/>
                </a:solidFill>
                <a:latin typeface="Calibri" pitchFamily="34" charset="0"/>
                <a:ea typeface="Calibri" pitchFamily="34" charset="-122"/>
                <a:cs typeface="Calibri" pitchFamily="34" charset="-120"/>
              </a:rPr>
              <a:t>Supervisor</a:t>
            </a:r>
            <a:endParaRPr lang="en-US" sz="1350" dirty="0"/>
          </a:p>
        </p:txBody>
      </p:sp>
      <p:sp>
        <p:nvSpPr>
          <p:cNvPr id="9" name="Text 6"/>
          <p:cNvSpPr txBox="1"/>
          <p:nvPr/>
        </p:nvSpPr>
        <p:spPr>
          <a:xfrm>
            <a:off x="838048" y="5596128"/>
            <a:ext cx="10515600" cy="566928"/>
          </a:xfrm>
          <a:prstGeom prst="rect">
            <a:avLst/>
          </a:prstGeom>
          <a:noFill/>
          <a:ln/>
        </p:spPr>
        <p:txBody>
          <a:bodyPr wrap="square" lIns="0" tIns="0" rIns="0" bIns="0" rtlCol="0" anchor="ctr"/>
          <a:lstStyle/>
          <a:p>
            <a:pPr algn="ctr" indent="0" marL="0">
              <a:lnSpc>
                <a:spcPts val="2000"/>
              </a:lnSpc>
              <a:buNone/>
            </a:pPr>
            <a:r>
              <a:rPr lang="en-US" sz="1450" b="1" dirty="0">
                <a:solidFill>
                  <a:srgbClr val="141B3D"/>
                </a:solidFill>
                <a:latin typeface="Calibri" pitchFamily="34" charset="0"/>
                <a:ea typeface="Calibri" pitchFamily="34" charset="-122"/>
                <a:cs typeface="Calibri" pitchFamily="34" charset="-120"/>
              </a:rPr>
              <a:t>Utsha Kumar Roy</a:t>
            </a:r>
            <a:endParaRPr lang="en-US" sz="1450" dirty="0"/>
          </a:p>
          <a:p>
            <a:pPr algn="ctr" indent="0" marL="0">
              <a:lnSpc>
                <a:spcPts val="2000"/>
              </a:lnSpc>
              <a:buNone/>
            </a:pPr>
            <a:r>
              <a:rPr lang="en-US" sz="1450" dirty="0">
                <a:solidFill>
                  <a:srgbClr val="141B3D"/>
                </a:solidFill>
                <a:latin typeface="Calibri" pitchFamily="34" charset="0"/>
                <a:ea typeface="Calibri" pitchFamily="34" charset="-122"/>
                <a:cs typeface="Calibri" pitchFamily="34" charset="-120"/>
              </a:rPr>
              <a:t>Department of Computer Science and Engineering</a:t>
            </a:r>
            <a:endParaRPr lang="en-US" sz="1450" dirty="0"/>
          </a:p>
        </p:txBody>
      </p:sp>
      <p:sp>
        <p:nvSpPr>
          <p:cNvPr id="10" name="Text 7"/>
          <p:cNvSpPr txBox="1"/>
          <p:nvPr/>
        </p:nvSpPr>
        <p:spPr>
          <a:xfrm>
            <a:off x="838048" y="6272784"/>
            <a:ext cx="10515600" cy="292608"/>
          </a:xfrm>
          <a:prstGeom prst="rect">
            <a:avLst/>
          </a:prstGeom>
          <a:noFill/>
          <a:ln/>
        </p:spPr>
        <p:txBody>
          <a:bodyPr wrap="square" lIns="0" tIns="0" rIns="0" bIns="0" rtlCol="0" anchor="ctr"/>
          <a:lstStyle/>
          <a:p>
            <a:pPr algn="ctr" indent="0" marL="0">
              <a:buNone/>
            </a:pPr>
            <a:r>
              <a:rPr lang="en-US" sz="1300" dirty="0">
                <a:solidFill>
                  <a:srgbClr val="6B7280"/>
                </a:solidFill>
                <a:latin typeface="Calibri" pitchFamily="34" charset="0"/>
                <a:ea typeface="Calibri" pitchFamily="34" charset="-122"/>
                <a:cs typeface="Calibri" pitchFamily="34" charset="-120"/>
              </a:rPr>
              <a:t>Brac University  .  January 2027</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548640" y="109728"/>
            <a:ext cx="2286000" cy="301752"/>
          </a:xfrm>
          <a:prstGeom prst="roundRect">
            <a:avLst>
              <a:gd name="adj" fmla="val 45455"/>
            </a:avLst>
          </a:prstGeom>
          <a:solidFill>
            <a:srgbClr val="CADCFC"/>
          </a:solidFill>
          <a:ln w="12700">
            <a:solidFill>
              <a:srgbClr val="CADCFC"/>
            </a:solidFill>
            <a:prstDash val="solid"/>
          </a:ln>
        </p:spPr>
      </p:sp>
      <p:sp>
        <p:nvSpPr>
          <p:cNvPr id="3" name="Text 1"/>
          <p:cNvSpPr txBox="1"/>
          <p:nvPr/>
        </p:nvSpPr>
        <p:spPr>
          <a:xfrm>
            <a:off x="548640" y="109728"/>
            <a:ext cx="2286000" cy="301752"/>
          </a:xfrm>
          <a:prstGeom prst="rect">
            <a:avLst/>
          </a:prstGeom>
          <a:noFill/>
          <a:ln/>
        </p:spPr>
        <p:txBody>
          <a:bodyPr wrap="square" lIns="0" tIns="0" rIns="0" bIns="0" rtlCol="0" anchor="ctr"/>
          <a:lstStyle/>
          <a:p>
            <a:pPr algn="ctr" indent="0" marL="0">
              <a:buNone/>
            </a:pPr>
            <a:r>
              <a:rPr lang="en-US" sz="1450" b="1" dirty="0">
                <a:solidFill>
                  <a:srgbClr val="1E2761"/>
                </a:solidFill>
                <a:latin typeface="Calibri" pitchFamily="34" charset="0"/>
                <a:ea typeface="Calibri" pitchFamily="34" charset="-122"/>
                <a:cs typeface="Calibri" pitchFamily="34" charset="-120"/>
              </a:rPr>
              <a:t>INTRODUCTION</a:t>
            </a:r>
            <a:endParaRPr lang="en-US" sz="1450" dirty="0"/>
          </a:p>
        </p:txBody>
      </p:sp>
      <p:sp>
        <p:nvSpPr>
          <p:cNvPr id="4" name="Text 2"/>
          <p:cNvSpPr txBox="1"/>
          <p:nvPr/>
        </p:nvSpPr>
        <p:spPr>
          <a:xfrm>
            <a:off x="563728" y="329184"/>
            <a:ext cx="11064240" cy="676656"/>
          </a:xfrm>
          <a:prstGeom prst="rect">
            <a:avLst/>
          </a:prstGeom>
          <a:noFill/>
          <a:ln/>
        </p:spPr>
        <p:txBody>
          <a:bodyPr wrap="square" rtlCol="0" anchor="ctr"/>
          <a:lstStyle/>
          <a:p>
            <a:pPr algn="ctr" indent="0" marL="0">
              <a:buNone/>
            </a:pPr>
            <a:r>
              <a:rPr lang="en-US" sz="3500" b="1" dirty="0">
                <a:solidFill>
                  <a:srgbClr val="141B3D"/>
                </a:solidFill>
                <a:latin typeface="Cambria" pitchFamily="34" charset="0"/>
                <a:ea typeface="Cambria" pitchFamily="34" charset="-122"/>
                <a:cs typeface="Cambria" pitchFamily="34" charset="-120"/>
              </a:rPr>
              <a:t>Contracts are long, but the risky parts are short</a:t>
            </a:r>
            <a:endParaRPr lang="en-US" sz="3500" dirty="0"/>
          </a:p>
        </p:txBody>
      </p:sp>
      <p:sp>
        <p:nvSpPr>
          <p:cNvPr id="5" name="Text 3"/>
          <p:cNvSpPr txBox="1"/>
          <p:nvPr/>
        </p:nvSpPr>
        <p:spPr>
          <a:xfrm>
            <a:off x="563728" y="1024128"/>
            <a:ext cx="11064240" cy="347472"/>
          </a:xfrm>
          <a:prstGeom prst="rect">
            <a:avLst/>
          </a:prstGeom>
          <a:noFill/>
          <a:ln/>
        </p:spPr>
        <p:txBody>
          <a:bodyPr wrap="square" rtlCol="0" anchor="ctr"/>
          <a:lstStyle/>
          <a:p>
            <a:pPr algn="ctr" indent="0" marL="0">
              <a:buNone/>
            </a:pPr>
            <a:r>
              <a:rPr lang="en-US" sz="1700" i="1" dirty="0">
                <a:solidFill>
                  <a:srgbClr val="6B7280"/>
                </a:solidFill>
                <a:latin typeface="Calibri" pitchFamily="34" charset="0"/>
                <a:ea typeface="Calibri" pitchFamily="34" charset="-122"/>
                <a:cs typeface="Calibri" pitchFamily="34" charset="-120"/>
              </a:rPr>
              <a:t>Why we built a tool that reads a contract for the person signing it</a:t>
            </a:r>
            <a:endParaRPr lang="en-US" sz="1700" dirty="0"/>
          </a:p>
        </p:txBody>
      </p:sp>
      <p:sp>
        <p:nvSpPr>
          <p:cNvPr id="6" name="Shape 4"/>
          <p:cNvSpPr/>
          <p:nvPr/>
        </p:nvSpPr>
        <p:spPr>
          <a:xfrm>
            <a:off x="548640" y="1554480"/>
            <a:ext cx="11155680" cy="1197864"/>
          </a:xfrm>
          <a:prstGeom prst="roundRect">
            <a:avLst>
              <a:gd name="adj" fmla="val 4580"/>
            </a:avLst>
          </a:prstGeom>
          <a:solidFill>
            <a:srgbClr val="F6F7FB"/>
          </a:solidFill>
          <a:ln w="12700">
            <a:solidFill>
              <a:srgbClr val="E4E7F2"/>
            </a:solidFill>
            <a:prstDash val="solid"/>
          </a:ln>
        </p:spPr>
      </p:sp>
      <p:sp>
        <p:nvSpPr>
          <p:cNvPr id="7" name="Shape 5"/>
          <p:cNvSpPr/>
          <p:nvPr/>
        </p:nvSpPr>
        <p:spPr>
          <a:xfrm>
            <a:off x="777240" y="2002536"/>
            <a:ext cx="310896" cy="310896"/>
          </a:xfrm>
          <a:prstGeom prst="ellipse">
            <a:avLst/>
          </a:prstGeom>
          <a:solidFill>
            <a:srgbClr val="D94F5C"/>
          </a:solidFill>
          <a:ln w="12700">
            <a:solidFill>
              <a:srgbClr val="D94F5C"/>
            </a:solidFill>
            <a:prstDash val="solid"/>
          </a:ln>
        </p:spPr>
      </p:sp>
      <p:sp>
        <p:nvSpPr>
          <p:cNvPr id="8" name="Text 6"/>
          <p:cNvSpPr txBox="1"/>
          <p:nvPr/>
        </p:nvSpPr>
        <p:spPr>
          <a:xfrm>
            <a:off x="1234440" y="1673352"/>
            <a:ext cx="4480560" cy="960120"/>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Contracts are long</a:t>
            </a:r>
            <a:endParaRPr lang="en-US" sz="1650" dirty="0"/>
          </a:p>
        </p:txBody>
      </p:sp>
      <p:sp>
        <p:nvSpPr>
          <p:cNvPr id="9" name="Text 7"/>
          <p:cNvSpPr txBox="1"/>
          <p:nvPr/>
        </p:nvSpPr>
        <p:spPr>
          <a:xfrm>
            <a:off x="5897880" y="1673352"/>
            <a:ext cx="5623560" cy="96012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A normal contract has about 33,000 characters (5,000 words). The longest has more than 338,000.</a:t>
            </a:r>
            <a:endParaRPr lang="en-US" sz="1550" dirty="0"/>
          </a:p>
        </p:txBody>
      </p:sp>
      <p:sp>
        <p:nvSpPr>
          <p:cNvPr id="10" name="Shape 8"/>
          <p:cNvSpPr/>
          <p:nvPr/>
        </p:nvSpPr>
        <p:spPr>
          <a:xfrm>
            <a:off x="548640" y="2852928"/>
            <a:ext cx="11155680" cy="1197864"/>
          </a:xfrm>
          <a:prstGeom prst="roundRect">
            <a:avLst>
              <a:gd name="adj" fmla="val 4580"/>
            </a:avLst>
          </a:prstGeom>
          <a:solidFill>
            <a:srgbClr val="F6F7FB"/>
          </a:solidFill>
          <a:ln w="12700">
            <a:solidFill>
              <a:srgbClr val="E4E7F2"/>
            </a:solidFill>
            <a:prstDash val="solid"/>
          </a:ln>
        </p:spPr>
      </p:sp>
      <p:sp>
        <p:nvSpPr>
          <p:cNvPr id="11" name="Shape 9"/>
          <p:cNvSpPr/>
          <p:nvPr/>
        </p:nvSpPr>
        <p:spPr>
          <a:xfrm>
            <a:off x="777240" y="3300984"/>
            <a:ext cx="310896" cy="310896"/>
          </a:xfrm>
          <a:prstGeom prst="ellipse">
            <a:avLst/>
          </a:prstGeom>
          <a:solidFill>
            <a:srgbClr val="D94F5C"/>
          </a:solidFill>
          <a:ln w="12700">
            <a:solidFill>
              <a:srgbClr val="D94F5C"/>
            </a:solidFill>
            <a:prstDash val="solid"/>
          </a:ln>
        </p:spPr>
      </p:sp>
      <p:sp>
        <p:nvSpPr>
          <p:cNvPr id="12" name="Text 10"/>
          <p:cNvSpPr txBox="1"/>
          <p:nvPr/>
        </p:nvSpPr>
        <p:spPr>
          <a:xfrm>
            <a:off x="1234440" y="2971800"/>
            <a:ext cx="4480560" cy="960120"/>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Lawyers cost money</a:t>
            </a:r>
            <a:endParaRPr lang="en-US" sz="1650" dirty="0"/>
          </a:p>
        </p:txBody>
      </p:sp>
      <p:sp>
        <p:nvSpPr>
          <p:cNvPr id="13" name="Text 11"/>
          <p:cNvSpPr txBox="1"/>
          <p:nvPr/>
        </p:nvSpPr>
        <p:spPr>
          <a:xfrm>
            <a:off x="5897880" y="2971800"/>
            <a:ext cx="5623560" cy="96012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Checking a contract takes a lawyer hours. Many freelancers and small businesses cannot pay, so they sign without knowing the risks.</a:t>
            </a:r>
            <a:endParaRPr lang="en-US" sz="1550" dirty="0"/>
          </a:p>
        </p:txBody>
      </p:sp>
      <p:sp>
        <p:nvSpPr>
          <p:cNvPr id="14" name="Shape 12"/>
          <p:cNvSpPr/>
          <p:nvPr/>
        </p:nvSpPr>
        <p:spPr>
          <a:xfrm>
            <a:off x="548640" y="4151376"/>
            <a:ext cx="11155680" cy="1197864"/>
          </a:xfrm>
          <a:prstGeom prst="roundRect">
            <a:avLst>
              <a:gd name="adj" fmla="val 4580"/>
            </a:avLst>
          </a:prstGeom>
          <a:solidFill>
            <a:srgbClr val="F6F7FB"/>
          </a:solidFill>
          <a:ln w="12700">
            <a:solidFill>
              <a:srgbClr val="E4E7F2"/>
            </a:solidFill>
            <a:prstDash val="solid"/>
          </a:ln>
        </p:spPr>
      </p:sp>
      <p:sp>
        <p:nvSpPr>
          <p:cNvPr id="15" name="Shape 13"/>
          <p:cNvSpPr/>
          <p:nvPr/>
        </p:nvSpPr>
        <p:spPr>
          <a:xfrm>
            <a:off x="777240" y="4599432"/>
            <a:ext cx="310896" cy="310896"/>
          </a:xfrm>
          <a:prstGeom prst="ellipse">
            <a:avLst/>
          </a:prstGeom>
          <a:solidFill>
            <a:srgbClr val="E8A13A"/>
          </a:solidFill>
          <a:ln w="12700">
            <a:solidFill>
              <a:srgbClr val="E8A13A"/>
            </a:solidFill>
            <a:prstDash val="solid"/>
          </a:ln>
        </p:spPr>
      </p:sp>
      <p:sp>
        <p:nvSpPr>
          <p:cNvPr id="16" name="Text 14"/>
          <p:cNvSpPr txBox="1"/>
          <p:nvPr/>
        </p:nvSpPr>
        <p:spPr>
          <a:xfrm>
            <a:off x="1234440" y="4270248"/>
            <a:ext cx="4480560" cy="960120"/>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Existing tools only find text</a:t>
            </a:r>
            <a:endParaRPr lang="en-US" sz="1650" dirty="0"/>
          </a:p>
        </p:txBody>
      </p:sp>
      <p:sp>
        <p:nvSpPr>
          <p:cNvPr id="17" name="Text 15"/>
          <p:cNvSpPr txBox="1"/>
          <p:nvPr/>
        </p:nvSpPr>
        <p:spPr>
          <a:xfrm>
            <a:off x="5897880" y="4270248"/>
            <a:ext cx="5623560" cy="96012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The CUAD dataset can find where a clause is. It does not say how risky the clause is or what it means.</a:t>
            </a:r>
            <a:endParaRPr lang="en-US" sz="1550" dirty="0"/>
          </a:p>
        </p:txBody>
      </p:sp>
      <p:sp>
        <p:nvSpPr>
          <p:cNvPr id="18" name="Shape 16"/>
          <p:cNvSpPr/>
          <p:nvPr/>
        </p:nvSpPr>
        <p:spPr>
          <a:xfrm>
            <a:off x="548640" y="5449824"/>
            <a:ext cx="11155680" cy="1197864"/>
          </a:xfrm>
          <a:prstGeom prst="roundRect">
            <a:avLst>
              <a:gd name="adj" fmla="val 4580"/>
            </a:avLst>
          </a:prstGeom>
          <a:solidFill>
            <a:srgbClr val="F6F7FB"/>
          </a:solidFill>
          <a:ln w="12700">
            <a:solidFill>
              <a:srgbClr val="E4E7F2"/>
            </a:solidFill>
            <a:prstDash val="solid"/>
          </a:ln>
        </p:spPr>
      </p:sp>
      <p:sp>
        <p:nvSpPr>
          <p:cNvPr id="19" name="Shape 17"/>
          <p:cNvSpPr/>
          <p:nvPr/>
        </p:nvSpPr>
        <p:spPr>
          <a:xfrm>
            <a:off x="777240" y="5897880"/>
            <a:ext cx="310896" cy="310896"/>
          </a:xfrm>
          <a:prstGeom prst="ellipse">
            <a:avLst/>
          </a:prstGeom>
          <a:solidFill>
            <a:srgbClr val="4CAF82"/>
          </a:solidFill>
          <a:ln w="12700">
            <a:solidFill>
              <a:srgbClr val="4CAF82"/>
            </a:solidFill>
            <a:prstDash val="solid"/>
          </a:ln>
        </p:spPr>
      </p:sp>
      <p:sp>
        <p:nvSpPr>
          <p:cNvPr id="20" name="Text 18"/>
          <p:cNvSpPr txBox="1"/>
          <p:nvPr/>
        </p:nvSpPr>
        <p:spPr>
          <a:xfrm>
            <a:off x="1234440" y="5568696"/>
            <a:ext cx="4480560" cy="960120"/>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What we add</a:t>
            </a:r>
            <a:endParaRPr lang="en-US" sz="1650" dirty="0"/>
          </a:p>
        </p:txBody>
      </p:sp>
      <p:sp>
        <p:nvSpPr>
          <p:cNvPr id="21" name="Text 19"/>
          <p:cNvSpPr txBox="1"/>
          <p:nvPr/>
        </p:nvSpPr>
        <p:spPr>
          <a:xfrm>
            <a:off x="5897880" y="5568696"/>
            <a:ext cx="5623560" cy="96012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A risk level for each clause, a one-line explanation in simple English, and an app called Clausify that shows risky clauses first.</a:t>
            </a:r>
            <a:endParaRPr lang="en-US" sz="15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548640" y="109728"/>
            <a:ext cx="2286000" cy="301752"/>
          </a:xfrm>
          <a:prstGeom prst="roundRect">
            <a:avLst>
              <a:gd name="adj" fmla="val 45455"/>
            </a:avLst>
          </a:prstGeom>
          <a:solidFill>
            <a:srgbClr val="CADCFC"/>
          </a:solidFill>
          <a:ln w="12700">
            <a:solidFill>
              <a:srgbClr val="CADCFC"/>
            </a:solidFill>
            <a:prstDash val="solid"/>
          </a:ln>
        </p:spPr>
      </p:sp>
      <p:sp>
        <p:nvSpPr>
          <p:cNvPr id="3" name="Text 1"/>
          <p:cNvSpPr txBox="1"/>
          <p:nvPr/>
        </p:nvSpPr>
        <p:spPr>
          <a:xfrm>
            <a:off x="548640" y="109728"/>
            <a:ext cx="2286000" cy="301752"/>
          </a:xfrm>
          <a:prstGeom prst="rect">
            <a:avLst/>
          </a:prstGeom>
          <a:noFill/>
          <a:ln/>
        </p:spPr>
        <p:txBody>
          <a:bodyPr wrap="square" lIns="0" tIns="0" rIns="0" bIns="0" rtlCol="0" anchor="ctr"/>
          <a:lstStyle/>
          <a:p>
            <a:pPr algn="ctr" indent="0" marL="0">
              <a:buNone/>
            </a:pPr>
            <a:r>
              <a:rPr lang="en-US" sz="1450" b="1" dirty="0">
                <a:solidFill>
                  <a:srgbClr val="1E2761"/>
                </a:solidFill>
                <a:latin typeface="Calibri" pitchFamily="34" charset="0"/>
                <a:ea typeface="Calibri" pitchFamily="34" charset="-122"/>
                <a:cs typeface="Calibri" pitchFamily="34" charset="-120"/>
              </a:rPr>
              <a:t>INTRODUCTION</a:t>
            </a:r>
            <a:endParaRPr lang="en-US" sz="1450" dirty="0"/>
          </a:p>
        </p:txBody>
      </p:sp>
      <p:sp>
        <p:nvSpPr>
          <p:cNvPr id="4" name="Text 2"/>
          <p:cNvSpPr txBox="1"/>
          <p:nvPr/>
        </p:nvSpPr>
        <p:spPr>
          <a:xfrm>
            <a:off x="563728" y="329184"/>
            <a:ext cx="11064240" cy="676656"/>
          </a:xfrm>
          <a:prstGeom prst="rect">
            <a:avLst/>
          </a:prstGeom>
          <a:noFill/>
          <a:ln/>
        </p:spPr>
        <p:txBody>
          <a:bodyPr wrap="square" rtlCol="0" anchor="ctr"/>
          <a:lstStyle/>
          <a:p>
            <a:pPr algn="ctr" indent="0" marL="0">
              <a:buNone/>
            </a:pPr>
            <a:r>
              <a:rPr lang="en-US" sz="3500" b="1" dirty="0">
                <a:solidFill>
                  <a:srgbClr val="141B3D"/>
                </a:solidFill>
                <a:latin typeface="Cambria" pitchFamily="34" charset="0"/>
                <a:ea typeface="Cambria" pitchFamily="34" charset="-122"/>
                <a:cs typeface="Cambria" pitchFamily="34" charset="-120"/>
              </a:rPr>
              <a:t>Our goals</a:t>
            </a:r>
            <a:endParaRPr lang="en-US" sz="3500" dirty="0"/>
          </a:p>
        </p:txBody>
      </p:sp>
      <p:sp>
        <p:nvSpPr>
          <p:cNvPr id="5" name="Text 3"/>
          <p:cNvSpPr txBox="1"/>
          <p:nvPr/>
        </p:nvSpPr>
        <p:spPr>
          <a:xfrm>
            <a:off x="563728" y="1024128"/>
            <a:ext cx="11064240" cy="347472"/>
          </a:xfrm>
          <a:prstGeom prst="rect">
            <a:avLst/>
          </a:prstGeom>
          <a:noFill/>
          <a:ln/>
        </p:spPr>
        <p:txBody>
          <a:bodyPr wrap="square" rtlCol="0" anchor="ctr"/>
          <a:lstStyle/>
          <a:p>
            <a:pPr algn="ctr" indent="0" marL="0">
              <a:buNone/>
            </a:pPr>
            <a:r>
              <a:rPr lang="en-US" sz="1700" i="1" dirty="0">
                <a:solidFill>
                  <a:srgbClr val="6B7280"/>
                </a:solidFill>
                <a:latin typeface="Calibri" pitchFamily="34" charset="0"/>
                <a:ea typeface="Calibri" pitchFamily="34" charset="-122"/>
                <a:cs typeface="Calibri" pitchFamily="34" charset="-120"/>
              </a:rPr>
              <a:t>Four goals that guide the rest of this talk</a:t>
            </a:r>
            <a:endParaRPr lang="en-US" sz="1700" dirty="0"/>
          </a:p>
        </p:txBody>
      </p:sp>
      <p:sp>
        <p:nvSpPr>
          <p:cNvPr id="6" name="Shape 4"/>
          <p:cNvSpPr/>
          <p:nvPr/>
        </p:nvSpPr>
        <p:spPr>
          <a:xfrm>
            <a:off x="548640" y="1554480"/>
            <a:ext cx="11155680" cy="1197864"/>
          </a:xfrm>
          <a:prstGeom prst="roundRect">
            <a:avLst>
              <a:gd name="adj" fmla="val 4580"/>
            </a:avLst>
          </a:prstGeom>
          <a:solidFill>
            <a:srgbClr val="F6F7FB"/>
          </a:solidFill>
          <a:ln w="12700">
            <a:solidFill>
              <a:srgbClr val="E4E7F2"/>
            </a:solidFill>
            <a:prstDash val="solid"/>
          </a:ln>
        </p:spPr>
      </p:sp>
      <p:sp>
        <p:nvSpPr>
          <p:cNvPr id="7" name="Shape 5"/>
          <p:cNvSpPr/>
          <p:nvPr/>
        </p:nvSpPr>
        <p:spPr>
          <a:xfrm>
            <a:off x="777240" y="1993392"/>
            <a:ext cx="329184" cy="329184"/>
          </a:xfrm>
          <a:prstGeom prst="ellipse">
            <a:avLst/>
          </a:prstGeom>
          <a:solidFill>
            <a:srgbClr val="1E2761"/>
          </a:solidFill>
          <a:ln w="12700">
            <a:solidFill>
              <a:srgbClr val="1E2761"/>
            </a:solidFill>
            <a:prstDash val="solid"/>
          </a:ln>
        </p:spPr>
      </p:sp>
      <p:sp>
        <p:nvSpPr>
          <p:cNvPr id="8" name="Text 6"/>
          <p:cNvSpPr txBox="1"/>
          <p:nvPr/>
        </p:nvSpPr>
        <p:spPr>
          <a:xfrm>
            <a:off x="777240" y="1993392"/>
            <a:ext cx="329184" cy="329184"/>
          </a:xfrm>
          <a:prstGeom prst="rect">
            <a:avLst/>
          </a:prstGeom>
          <a:noFill/>
          <a:ln/>
        </p:spPr>
        <p:txBody>
          <a:bodyPr wrap="square" lIns="0" tIns="0" rIns="0" bIns="0" rtlCol="0" anchor="ctr"/>
          <a:lstStyle/>
          <a:p>
            <a:pPr algn="ctr" indent="0" marL="0">
              <a:buNone/>
            </a:pPr>
            <a:r>
              <a:rPr lang="en-US" sz="1550" b="1" dirty="0">
                <a:solidFill>
                  <a:srgbClr val="FFFFFF"/>
                </a:solidFill>
                <a:latin typeface="Calibri" pitchFamily="34" charset="0"/>
                <a:ea typeface="Calibri" pitchFamily="34" charset="-122"/>
                <a:cs typeface="Calibri" pitchFamily="34" charset="-120"/>
              </a:rPr>
              <a:t>1</a:t>
            </a:r>
            <a:endParaRPr lang="en-US" sz="1550" dirty="0"/>
          </a:p>
        </p:txBody>
      </p:sp>
      <p:sp>
        <p:nvSpPr>
          <p:cNvPr id="9" name="Text 7"/>
          <p:cNvSpPr txBox="1"/>
          <p:nvPr/>
        </p:nvSpPr>
        <p:spPr>
          <a:xfrm>
            <a:off x="1261872" y="1673352"/>
            <a:ext cx="4480560" cy="960120"/>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Find which clauses are in a contract</a:t>
            </a:r>
            <a:endParaRPr lang="en-US" sz="1650" dirty="0"/>
          </a:p>
        </p:txBody>
      </p:sp>
      <p:sp>
        <p:nvSpPr>
          <p:cNvPr id="10" name="Text 8"/>
          <p:cNvSpPr txBox="1"/>
          <p:nvPr/>
        </p:nvSpPr>
        <p:spPr>
          <a:xfrm>
            <a:off x="5897880" y="1673352"/>
            <a:ext cx="5623560" cy="96012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Check each contract for 41 types of clause, and compare a modern AI model with a simple word-count model.</a:t>
            </a:r>
            <a:endParaRPr lang="en-US" sz="1550" dirty="0"/>
          </a:p>
        </p:txBody>
      </p:sp>
      <p:sp>
        <p:nvSpPr>
          <p:cNvPr id="11" name="Shape 9"/>
          <p:cNvSpPr/>
          <p:nvPr/>
        </p:nvSpPr>
        <p:spPr>
          <a:xfrm>
            <a:off x="548640" y="2852928"/>
            <a:ext cx="11155680" cy="1197864"/>
          </a:xfrm>
          <a:prstGeom prst="roundRect">
            <a:avLst>
              <a:gd name="adj" fmla="val 4580"/>
            </a:avLst>
          </a:prstGeom>
          <a:solidFill>
            <a:srgbClr val="F6F7FB"/>
          </a:solidFill>
          <a:ln w="12700">
            <a:solidFill>
              <a:srgbClr val="E4E7F2"/>
            </a:solidFill>
            <a:prstDash val="solid"/>
          </a:ln>
        </p:spPr>
      </p:sp>
      <p:sp>
        <p:nvSpPr>
          <p:cNvPr id="12" name="Shape 10"/>
          <p:cNvSpPr/>
          <p:nvPr/>
        </p:nvSpPr>
        <p:spPr>
          <a:xfrm>
            <a:off x="777240" y="3291840"/>
            <a:ext cx="329184" cy="329184"/>
          </a:xfrm>
          <a:prstGeom prst="ellipse">
            <a:avLst/>
          </a:prstGeom>
          <a:solidFill>
            <a:srgbClr val="1E2761"/>
          </a:solidFill>
          <a:ln w="12700">
            <a:solidFill>
              <a:srgbClr val="1E2761"/>
            </a:solidFill>
            <a:prstDash val="solid"/>
          </a:ln>
        </p:spPr>
      </p:sp>
      <p:sp>
        <p:nvSpPr>
          <p:cNvPr id="13" name="Text 11"/>
          <p:cNvSpPr txBox="1"/>
          <p:nvPr/>
        </p:nvSpPr>
        <p:spPr>
          <a:xfrm>
            <a:off x="777240" y="3291840"/>
            <a:ext cx="329184" cy="329184"/>
          </a:xfrm>
          <a:prstGeom prst="rect">
            <a:avLst/>
          </a:prstGeom>
          <a:noFill/>
          <a:ln/>
        </p:spPr>
        <p:txBody>
          <a:bodyPr wrap="square" lIns="0" tIns="0" rIns="0" bIns="0" rtlCol="0" anchor="ctr"/>
          <a:lstStyle/>
          <a:p>
            <a:pPr algn="ctr" indent="0" marL="0">
              <a:buNone/>
            </a:pPr>
            <a:r>
              <a:rPr lang="en-US" sz="1550" b="1" dirty="0">
                <a:solidFill>
                  <a:srgbClr val="FFFFFF"/>
                </a:solidFill>
                <a:latin typeface="Calibri" pitchFamily="34" charset="0"/>
                <a:ea typeface="Calibri" pitchFamily="34" charset="-122"/>
                <a:cs typeface="Calibri" pitchFamily="34" charset="-120"/>
              </a:rPr>
              <a:t>2</a:t>
            </a:r>
            <a:endParaRPr lang="en-US" sz="1550" dirty="0"/>
          </a:p>
        </p:txBody>
      </p:sp>
      <p:sp>
        <p:nvSpPr>
          <p:cNvPr id="14" name="Text 12"/>
          <p:cNvSpPr txBox="1"/>
          <p:nvPr/>
        </p:nvSpPr>
        <p:spPr>
          <a:xfrm>
            <a:off x="1261872" y="2971800"/>
            <a:ext cx="4480560" cy="960120"/>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Find the exact words of each clause</a:t>
            </a:r>
            <a:endParaRPr lang="en-US" sz="1650" dirty="0"/>
          </a:p>
        </p:txBody>
      </p:sp>
      <p:sp>
        <p:nvSpPr>
          <p:cNvPr id="15" name="Text 13"/>
          <p:cNvSpPr txBox="1"/>
          <p:nvPr/>
        </p:nvSpPr>
        <p:spPr>
          <a:xfrm>
            <a:off x="5897880" y="2971800"/>
            <a:ext cx="5623560" cy="96012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Point to the place in the contract where each clause is written.</a:t>
            </a:r>
            <a:endParaRPr lang="en-US" sz="1550" dirty="0"/>
          </a:p>
        </p:txBody>
      </p:sp>
      <p:sp>
        <p:nvSpPr>
          <p:cNvPr id="16" name="Shape 14"/>
          <p:cNvSpPr/>
          <p:nvPr/>
        </p:nvSpPr>
        <p:spPr>
          <a:xfrm>
            <a:off x="548640" y="4151376"/>
            <a:ext cx="11155680" cy="1197864"/>
          </a:xfrm>
          <a:prstGeom prst="roundRect">
            <a:avLst>
              <a:gd name="adj" fmla="val 4580"/>
            </a:avLst>
          </a:prstGeom>
          <a:solidFill>
            <a:srgbClr val="F6F7FB"/>
          </a:solidFill>
          <a:ln w="12700">
            <a:solidFill>
              <a:srgbClr val="E4E7F2"/>
            </a:solidFill>
            <a:prstDash val="solid"/>
          </a:ln>
        </p:spPr>
      </p:sp>
      <p:sp>
        <p:nvSpPr>
          <p:cNvPr id="17" name="Shape 15"/>
          <p:cNvSpPr/>
          <p:nvPr/>
        </p:nvSpPr>
        <p:spPr>
          <a:xfrm>
            <a:off x="777240" y="4590288"/>
            <a:ext cx="329184" cy="329184"/>
          </a:xfrm>
          <a:prstGeom prst="ellipse">
            <a:avLst/>
          </a:prstGeom>
          <a:solidFill>
            <a:srgbClr val="1E2761"/>
          </a:solidFill>
          <a:ln w="12700">
            <a:solidFill>
              <a:srgbClr val="1E2761"/>
            </a:solidFill>
            <a:prstDash val="solid"/>
          </a:ln>
        </p:spPr>
      </p:sp>
      <p:sp>
        <p:nvSpPr>
          <p:cNvPr id="18" name="Text 16"/>
          <p:cNvSpPr txBox="1"/>
          <p:nvPr/>
        </p:nvSpPr>
        <p:spPr>
          <a:xfrm>
            <a:off x="777240" y="4590288"/>
            <a:ext cx="329184" cy="329184"/>
          </a:xfrm>
          <a:prstGeom prst="rect">
            <a:avLst/>
          </a:prstGeom>
          <a:noFill/>
          <a:ln/>
        </p:spPr>
        <p:txBody>
          <a:bodyPr wrap="square" lIns="0" tIns="0" rIns="0" bIns="0" rtlCol="0" anchor="ctr"/>
          <a:lstStyle/>
          <a:p>
            <a:pPr algn="ctr" indent="0" marL="0">
              <a:buNone/>
            </a:pPr>
            <a:r>
              <a:rPr lang="en-US" sz="1550" b="1" dirty="0">
                <a:solidFill>
                  <a:srgbClr val="FFFFFF"/>
                </a:solidFill>
                <a:latin typeface="Calibri" pitchFamily="34" charset="0"/>
                <a:ea typeface="Calibri" pitchFamily="34" charset="-122"/>
                <a:cs typeface="Calibri" pitchFamily="34" charset="-120"/>
              </a:rPr>
              <a:t>3</a:t>
            </a:r>
            <a:endParaRPr lang="en-US" sz="1550" dirty="0"/>
          </a:p>
        </p:txBody>
      </p:sp>
      <p:sp>
        <p:nvSpPr>
          <p:cNvPr id="19" name="Text 17"/>
          <p:cNvSpPr txBox="1"/>
          <p:nvPr/>
        </p:nvSpPr>
        <p:spPr>
          <a:xfrm>
            <a:off x="1261872" y="4270248"/>
            <a:ext cx="4480560" cy="960120"/>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Show the risk in simple English</a:t>
            </a:r>
            <a:endParaRPr lang="en-US" sz="1650" dirty="0"/>
          </a:p>
        </p:txBody>
      </p:sp>
      <p:sp>
        <p:nvSpPr>
          <p:cNvPr id="20" name="Text 18"/>
          <p:cNvSpPr txBox="1"/>
          <p:nvPr/>
        </p:nvSpPr>
        <p:spPr>
          <a:xfrm>
            <a:off x="5897880" y="4270248"/>
            <a:ext cx="5623560" cy="96012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Mark each clause High, Medium or Low risk, with a reason and a one-line explanation.</a:t>
            </a:r>
            <a:endParaRPr lang="en-US" sz="1550" dirty="0"/>
          </a:p>
        </p:txBody>
      </p:sp>
      <p:sp>
        <p:nvSpPr>
          <p:cNvPr id="21" name="Shape 19"/>
          <p:cNvSpPr/>
          <p:nvPr/>
        </p:nvSpPr>
        <p:spPr>
          <a:xfrm>
            <a:off x="548640" y="5449824"/>
            <a:ext cx="11155680" cy="1197864"/>
          </a:xfrm>
          <a:prstGeom prst="roundRect">
            <a:avLst>
              <a:gd name="adj" fmla="val 4580"/>
            </a:avLst>
          </a:prstGeom>
          <a:solidFill>
            <a:srgbClr val="F6F7FB"/>
          </a:solidFill>
          <a:ln w="12700">
            <a:solidFill>
              <a:srgbClr val="E4E7F2"/>
            </a:solidFill>
            <a:prstDash val="solid"/>
          </a:ln>
        </p:spPr>
      </p:sp>
      <p:sp>
        <p:nvSpPr>
          <p:cNvPr id="22" name="Shape 20"/>
          <p:cNvSpPr/>
          <p:nvPr/>
        </p:nvSpPr>
        <p:spPr>
          <a:xfrm>
            <a:off x="777240" y="5888736"/>
            <a:ext cx="329184" cy="329184"/>
          </a:xfrm>
          <a:prstGeom prst="ellipse">
            <a:avLst/>
          </a:prstGeom>
          <a:solidFill>
            <a:srgbClr val="1E2761"/>
          </a:solidFill>
          <a:ln w="12700">
            <a:solidFill>
              <a:srgbClr val="1E2761"/>
            </a:solidFill>
            <a:prstDash val="solid"/>
          </a:ln>
        </p:spPr>
      </p:sp>
      <p:sp>
        <p:nvSpPr>
          <p:cNvPr id="23" name="Text 21"/>
          <p:cNvSpPr txBox="1"/>
          <p:nvPr/>
        </p:nvSpPr>
        <p:spPr>
          <a:xfrm>
            <a:off x="777240" y="5888736"/>
            <a:ext cx="329184" cy="329184"/>
          </a:xfrm>
          <a:prstGeom prst="rect">
            <a:avLst/>
          </a:prstGeom>
          <a:noFill/>
          <a:ln/>
        </p:spPr>
        <p:txBody>
          <a:bodyPr wrap="square" lIns="0" tIns="0" rIns="0" bIns="0" rtlCol="0" anchor="ctr"/>
          <a:lstStyle/>
          <a:p>
            <a:pPr algn="ctr" indent="0" marL="0">
              <a:buNone/>
            </a:pPr>
            <a:r>
              <a:rPr lang="en-US" sz="1550" b="1" dirty="0">
                <a:solidFill>
                  <a:srgbClr val="FFFFFF"/>
                </a:solidFill>
                <a:latin typeface="Calibri" pitchFamily="34" charset="0"/>
                <a:ea typeface="Calibri" pitchFamily="34" charset="-122"/>
                <a:cs typeface="Calibri" pitchFamily="34" charset="-120"/>
              </a:rPr>
              <a:t>4</a:t>
            </a:r>
            <a:endParaRPr lang="en-US" sz="1550" dirty="0"/>
          </a:p>
        </p:txBody>
      </p:sp>
      <p:sp>
        <p:nvSpPr>
          <p:cNvPr id="24" name="Text 22"/>
          <p:cNvSpPr txBox="1"/>
          <p:nvPr/>
        </p:nvSpPr>
        <p:spPr>
          <a:xfrm>
            <a:off x="1261872" y="5568696"/>
            <a:ext cx="4480560" cy="960120"/>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Test fairly, then build an app</a:t>
            </a:r>
            <a:endParaRPr lang="en-US" sz="1650" dirty="0"/>
          </a:p>
        </p:txBody>
      </p:sp>
      <p:sp>
        <p:nvSpPr>
          <p:cNvPr id="25" name="Text 23"/>
          <p:cNvSpPr txBox="1"/>
          <p:nvPr/>
        </p:nvSpPr>
        <p:spPr>
          <a:xfrm>
            <a:off x="5897880" y="5568696"/>
            <a:ext cx="5623560" cy="96012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Test on 102 contracts the models never saw, then put everything into the Clausify app.</a:t>
            </a:r>
            <a:endParaRPr lang="en-US" sz="15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548640" y="109728"/>
            <a:ext cx="2286000" cy="301752"/>
          </a:xfrm>
          <a:prstGeom prst="roundRect">
            <a:avLst>
              <a:gd name="adj" fmla="val 45455"/>
            </a:avLst>
          </a:prstGeom>
          <a:solidFill>
            <a:srgbClr val="CADCFC"/>
          </a:solidFill>
          <a:ln w="12700">
            <a:solidFill>
              <a:srgbClr val="CADCFC"/>
            </a:solidFill>
            <a:prstDash val="solid"/>
          </a:ln>
        </p:spPr>
      </p:sp>
      <p:sp>
        <p:nvSpPr>
          <p:cNvPr id="3" name="Text 1"/>
          <p:cNvSpPr txBox="1"/>
          <p:nvPr/>
        </p:nvSpPr>
        <p:spPr>
          <a:xfrm>
            <a:off x="548640" y="109728"/>
            <a:ext cx="2286000" cy="301752"/>
          </a:xfrm>
          <a:prstGeom prst="rect">
            <a:avLst/>
          </a:prstGeom>
          <a:noFill/>
          <a:ln/>
        </p:spPr>
        <p:txBody>
          <a:bodyPr wrap="square" lIns="0" tIns="0" rIns="0" bIns="0" rtlCol="0" anchor="ctr"/>
          <a:lstStyle/>
          <a:p>
            <a:pPr algn="ctr" indent="0" marL="0">
              <a:buNone/>
            </a:pPr>
            <a:r>
              <a:rPr lang="en-US" sz="1450" b="1" dirty="0">
                <a:solidFill>
                  <a:srgbClr val="1E2761"/>
                </a:solidFill>
                <a:latin typeface="Calibri" pitchFamily="34" charset="0"/>
                <a:ea typeface="Calibri" pitchFamily="34" charset="-122"/>
                <a:cs typeface="Calibri" pitchFamily="34" charset="-120"/>
              </a:rPr>
              <a:t>DATA</a:t>
            </a:r>
            <a:endParaRPr lang="en-US" sz="1450" dirty="0"/>
          </a:p>
        </p:txBody>
      </p:sp>
      <p:sp>
        <p:nvSpPr>
          <p:cNvPr id="4" name="Text 2"/>
          <p:cNvSpPr txBox="1"/>
          <p:nvPr/>
        </p:nvSpPr>
        <p:spPr>
          <a:xfrm>
            <a:off x="563728" y="329184"/>
            <a:ext cx="11064240" cy="676656"/>
          </a:xfrm>
          <a:prstGeom prst="rect">
            <a:avLst/>
          </a:prstGeom>
          <a:noFill/>
          <a:ln/>
        </p:spPr>
        <p:txBody>
          <a:bodyPr wrap="square" rtlCol="0" anchor="ctr"/>
          <a:lstStyle/>
          <a:p>
            <a:pPr algn="ctr" indent="0" marL="0">
              <a:buNone/>
            </a:pPr>
            <a:r>
              <a:rPr lang="en-US" sz="3500" b="1" dirty="0">
                <a:solidFill>
                  <a:srgbClr val="141B3D"/>
                </a:solidFill>
                <a:latin typeface="Cambria" pitchFamily="34" charset="0"/>
                <a:ea typeface="Cambria" pitchFamily="34" charset="-122"/>
                <a:cs typeface="Cambria" pitchFamily="34" charset="-120"/>
              </a:rPr>
              <a:t>Our data: CUAD</a:t>
            </a:r>
            <a:endParaRPr lang="en-US" sz="3500" dirty="0"/>
          </a:p>
        </p:txBody>
      </p:sp>
      <p:sp>
        <p:nvSpPr>
          <p:cNvPr id="5" name="Text 3"/>
          <p:cNvSpPr txBox="1"/>
          <p:nvPr/>
        </p:nvSpPr>
        <p:spPr>
          <a:xfrm>
            <a:off x="563728" y="1024128"/>
            <a:ext cx="11064240" cy="347472"/>
          </a:xfrm>
          <a:prstGeom prst="rect">
            <a:avLst/>
          </a:prstGeom>
          <a:noFill/>
          <a:ln/>
        </p:spPr>
        <p:txBody>
          <a:bodyPr wrap="square" rtlCol="0" anchor="ctr"/>
          <a:lstStyle/>
          <a:p>
            <a:pPr algn="ctr" indent="0" marL="0">
              <a:buNone/>
            </a:pPr>
            <a:r>
              <a:rPr lang="en-US" sz="1700" i="1" dirty="0">
                <a:solidFill>
                  <a:srgbClr val="6B7280"/>
                </a:solidFill>
                <a:latin typeface="Calibri" pitchFamily="34" charset="0"/>
                <a:ea typeface="Calibri" pitchFamily="34" charset="-122"/>
                <a:cs typeface="Calibri" pitchFamily="34" charset="-120"/>
              </a:rPr>
              <a:t>510 real business contracts, marked by legal experts for 41 types of clause</a:t>
            </a:r>
            <a:endParaRPr lang="en-US" sz="1700" dirty="0"/>
          </a:p>
        </p:txBody>
      </p:sp>
      <p:sp>
        <p:nvSpPr>
          <p:cNvPr id="6" name="Text 4"/>
          <p:cNvSpPr txBox="1"/>
          <p:nvPr/>
        </p:nvSpPr>
        <p:spPr>
          <a:xfrm>
            <a:off x="548640" y="1463040"/>
            <a:ext cx="1600200" cy="621792"/>
          </a:xfrm>
          <a:prstGeom prst="rect">
            <a:avLst/>
          </a:prstGeom>
          <a:noFill/>
          <a:ln/>
        </p:spPr>
        <p:txBody>
          <a:bodyPr wrap="square" lIns="0" tIns="0" rIns="0" bIns="0" rtlCol="0" anchor="ctr"/>
          <a:lstStyle/>
          <a:p>
            <a:pPr algn="ctr" indent="0" marL="0">
              <a:buNone/>
            </a:pPr>
            <a:r>
              <a:rPr lang="en-US" sz="3850" b="1" dirty="0">
                <a:solidFill>
                  <a:srgbClr val="1E2761"/>
                </a:solidFill>
                <a:latin typeface="Cambria" pitchFamily="34" charset="0"/>
                <a:ea typeface="Cambria" pitchFamily="34" charset="-122"/>
                <a:cs typeface="Cambria" pitchFamily="34" charset="-120"/>
              </a:rPr>
              <a:t>510</a:t>
            </a:r>
            <a:endParaRPr lang="en-US" sz="3850" dirty="0"/>
          </a:p>
        </p:txBody>
      </p:sp>
      <p:sp>
        <p:nvSpPr>
          <p:cNvPr id="7" name="Text 5"/>
          <p:cNvSpPr txBox="1"/>
          <p:nvPr/>
        </p:nvSpPr>
        <p:spPr>
          <a:xfrm>
            <a:off x="548640" y="2066544"/>
            <a:ext cx="1600200" cy="512064"/>
          </a:xfrm>
          <a:prstGeom prst="rect">
            <a:avLst/>
          </a:prstGeom>
          <a:noFill/>
          <a:ln/>
        </p:spPr>
        <p:txBody>
          <a:bodyPr wrap="square" lIns="0" tIns="0" rIns="0" bIns="0" rtlCol="0" anchor="ctr"/>
          <a:lstStyle/>
          <a:p>
            <a:pPr algn="ctr" indent="0" marL="0">
              <a:buNone/>
            </a:pPr>
            <a:r>
              <a:rPr lang="en-US" sz="1550" dirty="0">
                <a:solidFill>
                  <a:srgbClr val="6B7280"/>
                </a:solidFill>
                <a:latin typeface="Calibri" pitchFamily="34" charset="0"/>
                <a:ea typeface="Calibri" pitchFamily="34" charset="-122"/>
                <a:cs typeface="Calibri" pitchFamily="34" charset="-120"/>
              </a:rPr>
              <a:t>contracts</a:t>
            </a:r>
            <a:endParaRPr lang="en-US" sz="1550" dirty="0"/>
          </a:p>
        </p:txBody>
      </p:sp>
      <p:sp>
        <p:nvSpPr>
          <p:cNvPr id="8" name="Text 6"/>
          <p:cNvSpPr txBox="1"/>
          <p:nvPr/>
        </p:nvSpPr>
        <p:spPr>
          <a:xfrm>
            <a:off x="2221992" y="1463040"/>
            <a:ext cx="1600200" cy="621792"/>
          </a:xfrm>
          <a:prstGeom prst="rect">
            <a:avLst/>
          </a:prstGeom>
          <a:noFill/>
          <a:ln/>
        </p:spPr>
        <p:txBody>
          <a:bodyPr wrap="square" lIns="0" tIns="0" rIns="0" bIns="0" rtlCol="0" anchor="ctr"/>
          <a:lstStyle/>
          <a:p>
            <a:pPr algn="ctr" indent="0" marL="0">
              <a:buNone/>
            </a:pPr>
            <a:r>
              <a:rPr lang="en-US" sz="3850" b="1" dirty="0">
                <a:solidFill>
                  <a:srgbClr val="1E2761"/>
                </a:solidFill>
                <a:latin typeface="Cambria" pitchFamily="34" charset="0"/>
                <a:ea typeface="Cambria" pitchFamily="34" charset="-122"/>
                <a:cs typeface="Cambria" pitchFamily="34" charset="-120"/>
              </a:rPr>
              <a:t>41</a:t>
            </a:r>
            <a:endParaRPr lang="en-US" sz="3850" dirty="0"/>
          </a:p>
        </p:txBody>
      </p:sp>
      <p:sp>
        <p:nvSpPr>
          <p:cNvPr id="9" name="Text 7"/>
          <p:cNvSpPr txBox="1"/>
          <p:nvPr/>
        </p:nvSpPr>
        <p:spPr>
          <a:xfrm>
            <a:off x="2221992" y="2066544"/>
            <a:ext cx="1600200" cy="512064"/>
          </a:xfrm>
          <a:prstGeom prst="rect">
            <a:avLst/>
          </a:prstGeom>
          <a:noFill/>
          <a:ln/>
        </p:spPr>
        <p:txBody>
          <a:bodyPr wrap="square" lIns="0" tIns="0" rIns="0" bIns="0" rtlCol="0" anchor="ctr"/>
          <a:lstStyle/>
          <a:p>
            <a:pPr algn="ctr" indent="0" marL="0">
              <a:buNone/>
            </a:pPr>
            <a:r>
              <a:rPr lang="en-US" sz="1550" dirty="0">
                <a:solidFill>
                  <a:srgbClr val="6B7280"/>
                </a:solidFill>
                <a:latin typeface="Calibri" pitchFamily="34" charset="0"/>
                <a:ea typeface="Calibri" pitchFamily="34" charset="-122"/>
                <a:cs typeface="Calibri" pitchFamily="34" charset="-120"/>
              </a:rPr>
              <a:t>clause types</a:t>
            </a:r>
            <a:endParaRPr lang="en-US" sz="1550" dirty="0"/>
          </a:p>
        </p:txBody>
      </p:sp>
      <p:sp>
        <p:nvSpPr>
          <p:cNvPr id="10" name="Text 8"/>
          <p:cNvSpPr txBox="1"/>
          <p:nvPr/>
        </p:nvSpPr>
        <p:spPr>
          <a:xfrm>
            <a:off x="3895344" y="1463040"/>
            <a:ext cx="1600200" cy="621792"/>
          </a:xfrm>
          <a:prstGeom prst="rect">
            <a:avLst/>
          </a:prstGeom>
          <a:noFill/>
          <a:ln/>
        </p:spPr>
        <p:txBody>
          <a:bodyPr wrap="square" lIns="0" tIns="0" rIns="0" bIns="0" rtlCol="0" anchor="ctr"/>
          <a:lstStyle/>
          <a:p>
            <a:pPr algn="ctr" indent="0" marL="0">
              <a:buNone/>
            </a:pPr>
            <a:r>
              <a:rPr lang="en-US" sz="3850" b="1" dirty="0">
                <a:solidFill>
                  <a:srgbClr val="1E2761"/>
                </a:solidFill>
                <a:latin typeface="Cambria" pitchFamily="34" charset="0"/>
                <a:ea typeface="Cambria" pitchFamily="34" charset="-122"/>
                <a:cs typeface="Cambria" pitchFamily="34" charset="-120"/>
              </a:rPr>
              <a:t>33,143</a:t>
            </a:r>
            <a:endParaRPr lang="en-US" sz="3850" dirty="0"/>
          </a:p>
        </p:txBody>
      </p:sp>
      <p:sp>
        <p:nvSpPr>
          <p:cNvPr id="11" name="Text 9"/>
          <p:cNvSpPr txBox="1"/>
          <p:nvPr/>
        </p:nvSpPr>
        <p:spPr>
          <a:xfrm>
            <a:off x="3895344" y="2066544"/>
            <a:ext cx="1600200" cy="512064"/>
          </a:xfrm>
          <a:prstGeom prst="rect">
            <a:avLst/>
          </a:prstGeom>
          <a:noFill/>
          <a:ln/>
        </p:spPr>
        <p:txBody>
          <a:bodyPr wrap="square" lIns="0" tIns="0" rIns="0" bIns="0" rtlCol="0" anchor="ctr"/>
          <a:lstStyle/>
          <a:p>
            <a:pPr algn="ctr" indent="0" marL="0">
              <a:buNone/>
            </a:pPr>
            <a:r>
              <a:rPr lang="en-US" sz="1550" dirty="0">
                <a:solidFill>
                  <a:srgbClr val="6B7280"/>
                </a:solidFill>
                <a:latin typeface="Calibri" pitchFamily="34" charset="0"/>
                <a:ea typeface="Calibri" pitchFamily="34" charset="-122"/>
                <a:cs typeface="Calibri" pitchFamily="34" charset="-120"/>
              </a:rPr>
              <a:t>characters in a normal contract</a:t>
            </a:r>
            <a:endParaRPr lang="en-US" sz="1550" dirty="0"/>
          </a:p>
        </p:txBody>
      </p:sp>
      <p:sp>
        <p:nvSpPr>
          <p:cNvPr id="12" name="Text 10"/>
          <p:cNvSpPr txBox="1"/>
          <p:nvPr/>
        </p:nvSpPr>
        <p:spPr>
          <a:xfrm>
            <a:off x="5568696" y="1463040"/>
            <a:ext cx="1600200" cy="621792"/>
          </a:xfrm>
          <a:prstGeom prst="rect">
            <a:avLst/>
          </a:prstGeom>
          <a:noFill/>
          <a:ln/>
        </p:spPr>
        <p:txBody>
          <a:bodyPr wrap="square" lIns="0" tIns="0" rIns="0" bIns="0" rtlCol="0" anchor="ctr"/>
          <a:lstStyle/>
          <a:p>
            <a:pPr algn="ctr" indent="0" marL="0">
              <a:buNone/>
            </a:pPr>
            <a:r>
              <a:rPr lang="en-US" sz="3850" b="1" dirty="0">
                <a:solidFill>
                  <a:srgbClr val="1E2761"/>
                </a:solidFill>
                <a:latin typeface="Cambria" pitchFamily="34" charset="0"/>
                <a:ea typeface="Cambria" pitchFamily="34" charset="-122"/>
                <a:cs typeface="Cambria" pitchFamily="34" charset="-120"/>
              </a:rPr>
              <a:t>196</a:t>
            </a:r>
            <a:endParaRPr lang="en-US" sz="3850" dirty="0"/>
          </a:p>
        </p:txBody>
      </p:sp>
      <p:sp>
        <p:nvSpPr>
          <p:cNvPr id="13" name="Text 11"/>
          <p:cNvSpPr txBox="1"/>
          <p:nvPr/>
        </p:nvSpPr>
        <p:spPr>
          <a:xfrm>
            <a:off x="5568696" y="2066544"/>
            <a:ext cx="1600200" cy="512064"/>
          </a:xfrm>
          <a:prstGeom prst="rect">
            <a:avLst/>
          </a:prstGeom>
          <a:noFill/>
          <a:ln/>
        </p:spPr>
        <p:txBody>
          <a:bodyPr wrap="square" lIns="0" tIns="0" rIns="0" bIns="0" rtlCol="0" anchor="ctr"/>
          <a:lstStyle/>
          <a:p>
            <a:pPr algn="ctr" indent="0" marL="0">
              <a:buNone/>
            </a:pPr>
            <a:r>
              <a:rPr lang="en-US" sz="1550" dirty="0">
                <a:solidFill>
                  <a:srgbClr val="6B7280"/>
                </a:solidFill>
                <a:latin typeface="Calibri" pitchFamily="34" charset="0"/>
                <a:ea typeface="Calibri" pitchFamily="34" charset="-122"/>
                <a:cs typeface="Calibri" pitchFamily="34" charset="-120"/>
              </a:rPr>
              <a:t>characters in a normal clause</a:t>
            </a:r>
            <a:endParaRPr lang="en-US" sz="1550" dirty="0"/>
          </a:p>
        </p:txBody>
      </p:sp>
      <p:pic>
        <p:nvPicPr>
          <p:cNvPr id="14" name="Image 0" descr="fig/split_distribution.png">    </p:cNvPr>
          <p:cNvPicPr>
            <a:picLocks noChangeAspect="1"/>
          </p:cNvPicPr>
          <p:nvPr/>
        </p:nvPicPr>
        <p:blipFill>
          <a:blip r:embed="rId1"/>
          <a:stretch>
            <a:fillRect/>
          </a:stretch>
        </p:blipFill>
        <p:spPr>
          <a:xfrm>
            <a:off x="548640" y="2606040"/>
            <a:ext cx="6583680" cy="3712464"/>
          </a:xfrm>
          <a:prstGeom prst="rect">
            <a:avLst/>
          </a:prstGeom>
        </p:spPr>
      </p:pic>
      <p:sp>
        <p:nvSpPr>
          <p:cNvPr id="15" name="Text 12"/>
          <p:cNvSpPr txBox="1"/>
          <p:nvPr/>
        </p:nvSpPr>
        <p:spPr>
          <a:xfrm>
            <a:off x="548640" y="6336792"/>
            <a:ext cx="6583680" cy="274320"/>
          </a:xfrm>
          <a:prstGeom prst="rect">
            <a:avLst/>
          </a:prstGeom>
          <a:noFill/>
          <a:ln/>
        </p:spPr>
        <p:txBody>
          <a:bodyPr wrap="square" lIns="0" tIns="0" rIns="0" bIns="0" rtlCol="0" anchor="ctr"/>
          <a:lstStyle/>
          <a:p>
            <a:pPr algn="ctr" indent="0" marL="0">
              <a:buNone/>
            </a:pPr>
            <a:r>
              <a:rPr lang="en-US" sz="1400" i="1" dirty="0">
                <a:solidFill>
                  <a:srgbClr val="6B7280"/>
                </a:solidFill>
                <a:latin typeface="Calibri" pitchFamily="34" charset="0"/>
                <a:ea typeface="Calibri" pitchFamily="34" charset="-122"/>
                <a:cs typeface="Calibri" pitchFamily="34" charset="-120"/>
              </a:rPr>
              <a:t>How often each clause type appears, training vs test (Fig. 4.8)</a:t>
            </a:r>
            <a:endParaRPr lang="en-US" sz="1400" dirty="0"/>
          </a:p>
        </p:txBody>
      </p:sp>
      <p:sp>
        <p:nvSpPr>
          <p:cNvPr id="16" name="Shape 13"/>
          <p:cNvSpPr/>
          <p:nvPr/>
        </p:nvSpPr>
        <p:spPr>
          <a:xfrm>
            <a:off x="7406640" y="1371600"/>
            <a:ext cx="4297680" cy="1508760"/>
          </a:xfrm>
          <a:prstGeom prst="roundRect">
            <a:avLst>
              <a:gd name="adj" fmla="val 4242"/>
            </a:avLst>
          </a:prstGeom>
          <a:solidFill>
            <a:srgbClr val="F6F7FB"/>
          </a:solidFill>
          <a:ln w="12700">
            <a:solidFill>
              <a:srgbClr val="E4E7F2"/>
            </a:solidFill>
            <a:prstDash val="solid"/>
          </a:ln>
        </p:spPr>
      </p:sp>
      <p:sp>
        <p:nvSpPr>
          <p:cNvPr id="17" name="Shape 14"/>
          <p:cNvSpPr/>
          <p:nvPr/>
        </p:nvSpPr>
        <p:spPr>
          <a:xfrm>
            <a:off x="7589520" y="1545336"/>
            <a:ext cx="256032" cy="256032"/>
          </a:xfrm>
          <a:prstGeom prst="ellipse">
            <a:avLst/>
          </a:prstGeom>
          <a:solidFill>
            <a:srgbClr val="4CAF82"/>
          </a:solidFill>
          <a:ln w="12700">
            <a:solidFill>
              <a:srgbClr val="4CAF82"/>
            </a:solidFill>
            <a:prstDash val="solid"/>
          </a:ln>
        </p:spPr>
      </p:sp>
      <p:sp>
        <p:nvSpPr>
          <p:cNvPr id="18" name="Text 15"/>
          <p:cNvSpPr txBox="1"/>
          <p:nvPr/>
        </p:nvSpPr>
        <p:spPr>
          <a:xfrm>
            <a:off x="7936992" y="1481328"/>
            <a:ext cx="3611880" cy="310896"/>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80/20 split by contract</a:t>
            </a:r>
            <a:endParaRPr lang="en-US" sz="1650" dirty="0"/>
          </a:p>
        </p:txBody>
      </p:sp>
      <p:sp>
        <p:nvSpPr>
          <p:cNvPr id="19" name="Text 16"/>
          <p:cNvSpPr txBox="1"/>
          <p:nvPr/>
        </p:nvSpPr>
        <p:spPr>
          <a:xfrm>
            <a:off x="7607808" y="1883664"/>
            <a:ext cx="3895344" cy="850392"/>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408 contracts for training and 102 for testing, the same for every model. No test contract is ever seen in training.</a:t>
            </a:r>
            <a:endParaRPr lang="en-US" sz="1550" dirty="0"/>
          </a:p>
        </p:txBody>
      </p:sp>
      <p:sp>
        <p:nvSpPr>
          <p:cNvPr id="20" name="Shape 17"/>
          <p:cNvSpPr/>
          <p:nvPr/>
        </p:nvSpPr>
        <p:spPr>
          <a:xfrm>
            <a:off x="7406640" y="3017520"/>
            <a:ext cx="4297680" cy="1600200"/>
          </a:xfrm>
          <a:prstGeom prst="roundRect">
            <a:avLst>
              <a:gd name="adj" fmla="val 4000"/>
            </a:avLst>
          </a:prstGeom>
          <a:solidFill>
            <a:srgbClr val="F6F7FB"/>
          </a:solidFill>
          <a:ln w="12700">
            <a:solidFill>
              <a:srgbClr val="E4E7F2"/>
            </a:solidFill>
            <a:prstDash val="solid"/>
          </a:ln>
        </p:spPr>
      </p:sp>
      <p:sp>
        <p:nvSpPr>
          <p:cNvPr id="21" name="Shape 18"/>
          <p:cNvSpPr/>
          <p:nvPr/>
        </p:nvSpPr>
        <p:spPr>
          <a:xfrm>
            <a:off x="7589520" y="3191256"/>
            <a:ext cx="256032" cy="256032"/>
          </a:xfrm>
          <a:prstGeom prst="ellipse">
            <a:avLst/>
          </a:prstGeom>
          <a:solidFill>
            <a:srgbClr val="E8A13A"/>
          </a:solidFill>
          <a:ln w="12700">
            <a:solidFill>
              <a:srgbClr val="E8A13A"/>
            </a:solidFill>
            <a:prstDash val="solid"/>
          </a:ln>
        </p:spPr>
      </p:sp>
      <p:sp>
        <p:nvSpPr>
          <p:cNvPr id="22" name="Text 19"/>
          <p:cNvSpPr txBox="1"/>
          <p:nvPr/>
        </p:nvSpPr>
        <p:spPr>
          <a:xfrm>
            <a:off x="7936992" y="3127248"/>
            <a:ext cx="3611880" cy="310896"/>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Some clause types are rare</a:t>
            </a:r>
            <a:endParaRPr lang="en-US" sz="1650" dirty="0"/>
          </a:p>
        </p:txBody>
      </p:sp>
      <p:sp>
        <p:nvSpPr>
          <p:cNvPr id="23" name="Text 20"/>
          <p:cNvSpPr txBox="1"/>
          <p:nvPr/>
        </p:nvSpPr>
        <p:spPr>
          <a:xfrm>
            <a:off x="7607808" y="3529584"/>
            <a:ext cx="3895344" cy="941832"/>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Document Name is in every contract, but Source Code Escrow is in only 2.5%. A typical clause type is in 23% of contracts.</a:t>
            </a:r>
            <a:endParaRPr lang="en-US" sz="1550" dirty="0"/>
          </a:p>
        </p:txBody>
      </p:sp>
      <p:sp>
        <p:nvSpPr>
          <p:cNvPr id="24" name="Shape 21"/>
          <p:cNvSpPr/>
          <p:nvPr/>
        </p:nvSpPr>
        <p:spPr>
          <a:xfrm>
            <a:off x="7406640" y="4754880"/>
            <a:ext cx="4297680" cy="1554480"/>
          </a:xfrm>
          <a:prstGeom prst="roundRect">
            <a:avLst>
              <a:gd name="adj" fmla="val 4118"/>
            </a:avLst>
          </a:prstGeom>
          <a:solidFill>
            <a:srgbClr val="F6F7FB"/>
          </a:solidFill>
          <a:ln w="12700">
            <a:solidFill>
              <a:srgbClr val="E4E7F2"/>
            </a:solidFill>
            <a:prstDash val="solid"/>
          </a:ln>
        </p:spPr>
      </p:sp>
      <p:sp>
        <p:nvSpPr>
          <p:cNvPr id="25" name="Shape 22"/>
          <p:cNvSpPr/>
          <p:nvPr/>
        </p:nvSpPr>
        <p:spPr>
          <a:xfrm>
            <a:off x="7589520" y="4928616"/>
            <a:ext cx="256032" cy="256032"/>
          </a:xfrm>
          <a:prstGeom prst="ellipse">
            <a:avLst/>
          </a:prstGeom>
          <a:solidFill>
            <a:srgbClr val="1E2761"/>
          </a:solidFill>
          <a:ln w="12700">
            <a:solidFill>
              <a:srgbClr val="1E2761"/>
            </a:solidFill>
            <a:prstDash val="solid"/>
          </a:ln>
        </p:spPr>
      </p:sp>
      <p:sp>
        <p:nvSpPr>
          <p:cNvPr id="26" name="Text 23"/>
          <p:cNvSpPr txBox="1"/>
          <p:nvPr/>
        </p:nvSpPr>
        <p:spPr>
          <a:xfrm>
            <a:off x="7936992" y="4864608"/>
            <a:ext cx="3611880" cy="310896"/>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A small, fixed dataset</a:t>
            </a:r>
            <a:endParaRPr lang="en-US" sz="1650" dirty="0"/>
          </a:p>
        </p:txBody>
      </p:sp>
      <p:sp>
        <p:nvSpPr>
          <p:cNvPr id="27" name="Text 24"/>
          <p:cNvSpPr txBox="1"/>
          <p:nvPr/>
        </p:nvSpPr>
        <p:spPr>
          <a:xfrm>
            <a:off x="7607808" y="5266944"/>
            <a:ext cx="3895344" cy="896112"/>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The experts' labels reportedly cost about $2M, so we cannot add more. We start from models that are already pre-trained.</a:t>
            </a:r>
            <a:endParaRPr lang="en-US" sz="15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548640" y="109728"/>
            <a:ext cx="2286000" cy="301752"/>
          </a:xfrm>
          <a:prstGeom prst="roundRect">
            <a:avLst>
              <a:gd name="adj" fmla="val 45455"/>
            </a:avLst>
          </a:prstGeom>
          <a:solidFill>
            <a:srgbClr val="CADCFC"/>
          </a:solidFill>
          <a:ln w="12700">
            <a:solidFill>
              <a:srgbClr val="CADCFC"/>
            </a:solidFill>
            <a:prstDash val="solid"/>
          </a:ln>
        </p:spPr>
      </p:sp>
      <p:sp>
        <p:nvSpPr>
          <p:cNvPr id="3" name="Text 1"/>
          <p:cNvSpPr txBox="1"/>
          <p:nvPr/>
        </p:nvSpPr>
        <p:spPr>
          <a:xfrm>
            <a:off x="548640" y="109728"/>
            <a:ext cx="2286000" cy="301752"/>
          </a:xfrm>
          <a:prstGeom prst="rect">
            <a:avLst/>
          </a:prstGeom>
          <a:noFill/>
          <a:ln/>
        </p:spPr>
        <p:txBody>
          <a:bodyPr wrap="square" lIns="0" tIns="0" rIns="0" bIns="0" rtlCol="0" anchor="ctr"/>
          <a:lstStyle/>
          <a:p>
            <a:pPr algn="ctr" indent="0" marL="0">
              <a:buNone/>
            </a:pPr>
            <a:r>
              <a:rPr lang="en-US" sz="1450" b="1" dirty="0">
                <a:solidFill>
                  <a:srgbClr val="1E2761"/>
                </a:solidFill>
                <a:latin typeface="Calibri" pitchFamily="34" charset="0"/>
                <a:ea typeface="Calibri" pitchFamily="34" charset="-122"/>
                <a:cs typeface="Calibri" pitchFamily="34" charset="-120"/>
              </a:rPr>
              <a:t>DATA</a:t>
            </a:r>
            <a:endParaRPr lang="en-US" sz="1450" dirty="0"/>
          </a:p>
        </p:txBody>
      </p:sp>
      <p:sp>
        <p:nvSpPr>
          <p:cNvPr id="4" name="Text 2"/>
          <p:cNvSpPr txBox="1"/>
          <p:nvPr/>
        </p:nvSpPr>
        <p:spPr>
          <a:xfrm>
            <a:off x="563728" y="329184"/>
            <a:ext cx="11064240" cy="676656"/>
          </a:xfrm>
          <a:prstGeom prst="rect">
            <a:avLst/>
          </a:prstGeom>
          <a:noFill/>
          <a:ln/>
        </p:spPr>
        <p:txBody>
          <a:bodyPr wrap="square" rtlCol="0" anchor="ctr"/>
          <a:lstStyle/>
          <a:p>
            <a:pPr algn="ctr" indent="0" marL="0">
              <a:buNone/>
            </a:pPr>
            <a:r>
              <a:rPr lang="en-US" sz="3500" b="1" dirty="0">
                <a:solidFill>
                  <a:srgbClr val="141B3D"/>
                </a:solidFill>
                <a:latin typeface="Cambria" pitchFamily="34" charset="0"/>
                <a:ea typeface="Cambria" pitchFamily="34" charset="-122"/>
                <a:cs typeface="Cambria" pitchFamily="34" charset="-120"/>
              </a:rPr>
              <a:t>Preparing the data</a:t>
            </a:r>
            <a:endParaRPr lang="en-US" sz="3500" dirty="0"/>
          </a:p>
        </p:txBody>
      </p:sp>
      <p:sp>
        <p:nvSpPr>
          <p:cNvPr id="5" name="Text 3"/>
          <p:cNvSpPr txBox="1"/>
          <p:nvPr/>
        </p:nvSpPr>
        <p:spPr>
          <a:xfrm>
            <a:off x="563728" y="1024128"/>
            <a:ext cx="11064240" cy="347472"/>
          </a:xfrm>
          <a:prstGeom prst="rect">
            <a:avLst/>
          </a:prstGeom>
          <a:noFill/>
          <a:ln/>
        </p:spPr>
        <p:txBody>
          <a:bodyPr wrap="square" rtlCol="0" anchor="ctr"/>
          <a:lstStyle/>
          <a:p>
            <a:pPr algn="ctr" indent="0" marL="0">
              <a:buNone/>
            </a:pPr>
            <a:r>
              <a:rPr lang="en-US" sz="1700" i="1" dirty="0">
                <a:solidFill>
                  <a:srgbClr val="6B7280"/>
                </a:solidFill>
                <a:latin typeface="Calibri" pitchFamily="34" charset="0"/>
                <a:ea typeface="Calibri" pitchFamily="34" charset="-122"/>
                <a:cs typeface="Calibri" pitchFamily="34" charset="-120"/>
              </a:rPr>
              <a:t>Turning two CUAD files into examples the models can learn from</a:t>
            </a:r>
            <a:endParaRPr lang="en-US" sz="1700" dirty="0"/>
          </a:p>
        </p:txBody>
      </p:sp>
      <p:sp>
        <p:nvSpPr>
          <p:cNvPr id="6" name="Shape 4"/>
          <p:cNvSpPr/>
          <p:nvPr/>
        </p:nvSpPr>
        <p:spPr>
          <a:xfrm>
            <a:off x="548640" y="1554480"/>
            <a:ext cx="11155680" cy="1197864"/>
          </a:xfrm>
          <a:prstGeom prst="roundRect">
            <a:avLst>
              <a:gd name="adj" fmla="val 4580"/>
            </a:avLst>
          </a:prstGeom>
          <a:solidFill>
            <a:srgbClr val="F6F7FB"/>
          </a:solidFill>
          <a:ln w="12700">
            <a:solidFill>
              <a:srgbClr val="E4E7F2"/>
            </a:solidFill>
            <a:prstDash val="solid"/>
          </a:ln>
        </p:spPr>
      </p:sp>
      <p:sp>
        <p:nvSpPr>
          <p:cNvPr id="7" name="Shape 5"/>
          <p:cNvSpPr/>
          <p:nvPr/>
        </p:nvSpPr>
        <p:spPr>
          <a:xfrm>
            <a:off x="777240" y="1993392"/>
            <a:ext cx="329184" cy="329184"/>
          </a:xfrm>
          <a:prstGeom prst="ellipse">
            <a:avLst/>
          </a:prstGeom>
          <a:solidFill>
            <a:srgbClr val="D94F5C"/>
          </a:solidFill>
          <a:ln w="12700">
            <a:solidFill>
              <a:srgbClr val="D94F5C"/>
            </a:solidFill>
            <a:prstDash val="solid"/>
          </a:ln>
        </p:spPr>
      </p:sp>
      <p:sp>
        <p:nvSpPr>
          <p:cNvPr id="8" name="Text 6"/>
          <p:cNvSpPr txBox="1"/>
          <p:nvPr/>
        </p:nvSpPr>
        <p:spPr>
          <a:xfrm>
            <a:off x="777240" y="1993392"/>
            <a:ext cx="329184" cy="329184"/>
          </a:xfrm>
          <a:prstGeom prst="rect">
            <a:avLst/>
          </a:prstGeom>
          <a:noFill/>
          <a:ln/>
        </p:spPr>
        <p:txBody>
          <a:bodyPr wrap="square" lIns="0" tIns="0" rIns="0" bIns="0" rtlCol="0" anchor="ctr"/>
          <a:lstStyle/>
          <a:p>
            <a:pPr algn="ctr" indent="0" marL="0">
              <a:buNone/>
            </a:pPr>
            <a:r>
              <a:rPr lang="en-US" sz="1550" b="1" dirty="0">
                <a:solidFill>
                  <a:srgbClr val="FFFFFF"/>
                </a:solidFill>
                <a:latin typeface="Calibri" pitchFamily="34" charset="0"/>
                <a:ea typeface="Calibri" pitchFamily="34" charset="-122"/>
                <a:cs typeface="Calibri" pitchFamily="34" charset="-120"/>
              </a:rPr>
              <a:t>1</a:t>
            </a:r>
            <a:endParaRPr lang="en-US" sz="1550" dirty="0"/>
          </a:p>
        </p:txBody>
      </p:sp>
      <p:sp>
        <p:nvSpPr>
          <p:cNvPr id="9" name="Text 7"/>
          <p:cNvSpPr txBox="1"/>
          <p:nvPr/>
        </p:nvSpPr>
        <p:spPr>
          <a:xfrm>
            <a:off x="1261872" y="1673352"/>
            <a:ext cx="4480560" cy="960120"/>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Clean the labels</a:t>
            </a:r>
            <a:endParaRPr lang="en-US" sz="1650" dirty="0"/>
          </a:p>
        </p:txBody>
      </p:sp>
      <p:sp>
        <p:nvSpPr>
          <p:cNvPr id="10" name="Text 8"/>
          <p:cNvSpPr txBox="1"/>
          <p:nvPr/>
        </p:nvSpPr>
        <p:spPr>
          <a:xfrm>
            <a:off x="5897880" y="1673352"/>
            <a:ext cx="5623560" cy="96012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Empty cells mean the clause is missing. Lists saved as text are read properly, and blank answers are removed.</a:t>
            </a:r>
            <a:endParaRPr lang="en-US" sz="1550" dirty="0"/>
          </a:p>
        </p:txBody>
      </p:sp>
      <p:sp>
        <p:nvSpPr>
          <p:cNvPr id="11" name="Shape 9"/>
          <p:cNvSpPr/>
          <p:nvPr/>
        </p:nvSpPr>
        <p:spPr>
          <a:xfrm>
            <a:off x="548640" y="2852928"/>
            <a:ext cx="11155680" cy="1197864"/>
          </a:xfrm>
          <a:prstGeom prst="roundRect">
            <a:avLst>
              <a:gd name="adj" fmla="val 4580"/>
            </a:avLst>
          </a:prstGeom>
          <a:solidFill>
            <a:srgbClr val="F6F7FB"/>
          </a:solidFill>
          <a:ln w="12700">
            <a:solidFill>
              <a:srgbClr val="E4E7F2"/>
            </a:solidFill>
            <a:prstDash val="solid"/>
          </a:ln>
        </p:spPr>
      </p:sp>
      <p:sp>
        <p:nvSpPr>
          <p:cNvPr id="12" name="Shape 10"/>
          <p:cNvSpPr/>
          <p:nvPr/>
        </p:nvSpPr>
        <p:spPr>
          <a:xfrm>
            <a:off x="777240" y="3291840"/>
            <a:ext cx="329184" cy="329184"/>
          </a:xfrm>
          <a:prstGeom prst="ellipse">
            <a:avLst/>
          </a:prstGeom>
          <a:solidFill>
            <a:srgbClr val="D94F5C"/>
          </a:solidFill>
          <a:ln w="12700">
            <a:solidFill>
              <a:srgbClr val="D94F5C"/>
            </a:solidFill>
            <a:prstDash val="solid"/>
          </a:ln>
        </p:spPr>
      </p:sp>
      <p:sp>
        <p:nvSpPr>
          <p:cNvPr id="13" name="Text 11"/>
          <p:cNvSpPr txBox="1"/>
          <p:nvPr/>
        </p:nvSpPr>
        <p:spPr>
          <a:xfrm>
            <a:off x="777240" y="3291840"/>
            <a:ext cx="329184" cy="329184"/>
          </a:xfrm>
          <a:prstGeom prst="rect">
            <a:avLst/>
          </a:prstGeom>
          <a:noFill/>
          <a:ln/>
        </p:spPr>
        <p:txBody>
          <a:bodyPr wrap="square" lIns="0" tIns="0" rIns="0" bIns="0" rtlCol="0" anchor="ctr"/>
          <a:lstStyle/>
          <a:p>
            <a:pPr algn="ctr" indent="0" marL="0">
              <a:buNone/>
            </a:pPr>
            <a:r>
              <a:rPr lang="en-US" sz="1550" b="1" dirty="0">
                <a:solidFill>
                  <a:srgbClr val="FFFFFF"/>
                </a:solidFill>
                <a:latin typeface="Calibri" pitchFamily="34" charset="0"/>
                <a:ea typeface="Calibri" pitchFamily="34" charset="-122"/>
                <a:cs typeface="Calibri" pitchFamily="34" charset="-120"/>
              </a:rPr>
              <a:t>2</a:t>
            </a:r>
            <a:endParaRPr lang="en-US" sz="1550" dirty="0"/>
          </a:p>
        </p:txBody>
      </p:sp>
      <p:sp>
        <p:nvSpPr>
          <p:cNvPr id="14" name="Text 12"/>
          <p:cNvSpPr txBox="1"/>
          <p:nvPr/>
        </p:nvSpPr>
        <p:spPr>
          <a:xfrm>
            <a:off x="1261872" y="2971800"/>
            <a:ext cx="4480560" cy="960120"/>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Fix a typo in a column name</a:t>
            </a:r>
            <a:endParaRPr lang="en-US" sz="1650" dirty="0"/>
          </a:p>
        </p:txBody>
      </p:sp>
      <p:sp>
        <p:nvSpPr>
          <p:cNvPr id="15" name="Text 13"/>
          <p:cNvSpPr txBox="1"/>
          <p:nvPr/>
        </p:nvSpPr>
        <p:spPr>
          <a:xfrm>
            <a:off x="5897880" y="2971800"/>
            <a:ext cx="5623560" cy="96012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One column name had an extra space, so we matched columns by their position, not their name.</a:t>
            </a:r>
            <a:endParaRPr lang="en-US" sz="1550" dirty="0"/>
          </a:p>
        </p:txBody>
      </p:sp>
      <p:sp>
        <p:nvSpPr>
          <p:cNvPr id="16" name="Shape 14"/>
          <p:cNvSpPr/>
          <p:nvPr/>
        </p:nvSpPr>
        <p:spPr>
          <a:xfrm>
            <a:off x="548640" y="4151376"/>
            <a:ext cx="11155680" cy="1197864"/>
          </a:xfrm>
          <a:prstGeom prst="roundRect">
            <a:avLst>
              <a:gd name="adj" fmla="val 4580"/>
            </a:avLst>
          </a:prstGeom>
          <a:solidFill>
            <a:srgbClr val="F6F7FB"/>
          </a:solidFill>
          <a:ln w="12700">
            <a:solidFill>
              <a:srgbClr val="E4E7F2"/>
            </a:solidFill>
            <a:prstDash val="solid"/>
          </a:ln>
        </p:spPr>
      </p:sp>
      <p:sp>
        <p:nvSpPr>
          <p:cNvPr id="17" name="Shape 15"/>
          <p:cNvSpPr/>
          <p:nvPr/>
        </p:nvSpPr>
        <p:spPr>
          <a:xfrm>
            <a:off x="777240" y="4590288"/>
            <a:ext cx="329184" cy="329184"/>
          </a:xfrm>
          <a:prstGeom prst="ellipse">
            <a:avLst/>
          </a:prstGeom>
          <a:solidFill>
            <a:srgbClr val="E8A13A"/>
          </a:solidFill>
          <a:ln w="12700">
            <a:solidFill>
              <a:srgbClr val="E8A13A"/>
            </a:solidFill>
            <a:prstDash val="solid"/>
          </a:ln>
        </p:spPr>
      </p:sp>
      <p:sp>
        <p:nvSpPr>
          <p:cNvPr id="18" name="Text 16"/>
          <p:cNvSpPr txBox="1"/>
          <p:nvPr/>
        </p:nvSpPr>
        <p:spPr>
          <a:xfrm>
            <a:off x="777240" y="4590288"/>
            <a:ext cx="329184" cy="329184"/>
          </a:xfrm>
          <a:prstGeom prst="rect">
            <a:avLst/>
          </a:prstGeom>
          <a:noFill/>
          <a:ln/>
        </p:spPr>
        <p:txBody>
          <a:bodyPr wrap="square" lIns="0" tIns="0" rIns="0" bIns="0" rtlCol="0" anchor="ctr"/>
          <a:lstStyle/>
          <a:p>
            <a:pPr algn="ctr" indent="0" marL="0">
              <a:buNone/>
            </a:pPr>
            <a:r>
              <a:rPr lang="en-US" sz="1550" b="1" dirty="0">
                <a:solidFill>
                  <a:srgbClr val="FFFFFF"/>
                </a:solidFill>
                <a:latin typeface="Calibri" pitchFamily="34" charset="0"/>
                <a:ea typeface="Calibri" pitchFamily="34" charset="-122"/>
                <a:cs typeface="Calibri" pitchFamily="34" charset="-120"/>
              </a:rPr>
              <a:t>3</a:t>
            </a:r>
            <a:endParaRPr lang="en-US" sz="1550" dirty="0"/>
          </a:p>
        </p:txBody>
      </p:sp>
      <p:sp>
        <p:nvSpPr>
          <p:cNvPr id="19" name="Text 17"/>
          <p:cNvSpPr txBox="1"/>
          <p:nvPr/>
        </p:nvSpPr>
        <p:spPr>
          <a:xfrm>
            <a:off x="1261872" y="4270248"/>
            <a:ext cx="4480560" cy="960120"/>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One row per contract and clause type</a:t>
            </a:r>
            <a:endParaRPr lang="en-US" sz="1650" dirty="0"/>
          </a:p>
        </p:txBody>
      </p:sp>
      <p:sp>
        <p:nvSpPr>
          <p:cNvPr id="20" name="Text 18"/>
          <p:cNvSpPr txBox="1"/>
          <p:nvPr/>
        </p:nvSpPr>
        <p:spPr>
          <a:xfrm>
            <a:off x="5897880" y="4270248"/>
            <a:ext cx="5623560" cy="96012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510 × 41 = 20,910 rows. In 32.1% of them the clause is present.</a:t>
            </a:r>
            <a:endParaRPr lang="en-US" sz="1550" dirty="0"/>
          </a:p>
        </p:txBody>
      </p:sp>
      <p:sp>
        <p:nvSpPr>
          <p:cNvPr id="21" name="Shape 19"/>
          <p:cNvSpPr/>
          <p:nvPr/>
        </p:nvSpPr>
        <p:spPr>
          <a:xfrm>
            <a:off x="548640" y="5449824"/>
            <a:ext cx="11155680" cy="1197864"/>
          </a:xfrm>
          <a:prstGeom prst="roundRect">
            <a:avLst>
              <a:gd name="adj" fmla="val 4580"/>
            </a:avLst>
          </a:prstGeom>
          <a:solidFill>
            <a:srgbClr val="F6F7FB"/>
          </a:solidFill>
          <a:ln w="12700">
            <a:solidFill>
              <a:srgbClr val="E4E7F2"/>
            </a:solidFill>
            <a:prstDash val="solid"/>
          </a:ln>
        </p:spPr>
      </p:sp>
      <p:sp>
        <p:nvSpPr>
          <p:cNvPr id="22" name="Shape 20"/>
          <p:cNvSpPr/>
          <p:nvPr/>
        </p:nvSpPr>
        <p:spPr>
          <a:xfrm>
            <a:off x="777240" y="5888736"/>
            <a:ext cx="329184" cy="329184"/>
          </a:xfrm>
          <a:prstGeom prst="ellipse">
            <a:avLst/>
          </a:prstGeom>
          <a:solidFill>
            <a:srgbClr val="1E2761"/>
          </a:solidFill>
          <a:ln w="12700">
            <a:solidFill>
              <a:srgbClr val="1E2761"/>
            </a:solidFill>
            <a:prstDash val="solid"/>
          </a:ln>
        </p:spPr>
      </p:sp>
      <p:sp>
        <p:nvSpPr>
          <p:cNvPr id="23" name="Text 21"/>
          <p:cNvSpPr txBox="1"/>
          <p:nvPr/>
        </p:nvSpPr>
        <p:spPr>
          <a:xfrm>
            <a:off x="777240" y="5888736"/>
            <a:ext cx="329184" cy="329184"/>
          </a:xfrm>
          <a:prstGeom prst="rect">
            <a:avLst/>
          </a:prstGeom>
          <a:noFill/>
          <a:ln/>
        </p:spPr>
        <p:txBody>
          <a:bodyPr wrap="square" lIns="0" tIns="0" rIns="0" bIns="0" rtlCol="0" anchor="ctr"/>
          <a:lstStyle/>
          <a:p>
            <a:pPr algn="ctr" indent="0" marL="0">
              <a:buNone/>
            </a:pPr>
            <a:r>
              <a:rPr lang="en-US" sz="1550" b="1" dirty="0">
                <a:solidFill>
                  <a:srgbClr val="FFFFFF"/>
                </a:solidFill>
                <a:latin typeface="Calibri" pitchFamily="34" charset="0"/>
                <a:ea typeface="Calibri" pitchFamily="34" charset="-122"/>
                <a:cs typeface="Calibri" pitchFamily="34" charset="-120"/>
              </a:rPr>
              <a:t>4</a:t>
            </a:r>
            <a:endParaRPr lang="en-US" sz="1550" dirty="0"/>
          </a:p>
        </p:txBody>
      </p:sp>
      <p:sp>
        <p:nvSpPr>
          <p:cNvPr id="24" name="Text 22"/>
          <p:cNvSpPr txBox="1"/>
          <p:nvPr/>
        </p:nvSpPr>
        <p:spPr>
          <a:xfrm>
            <a:off x="1261872" y="5568696"/>
            <a:ext cx="4480560" cy="960120"/>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Cut contracts into windows</a:t>
            </a:r>
            <a:endParaRPr lang="en-US" sz="1650" dirty="0"/>
          </a:p>
        </p:txBody>
      </p:sp>
      <p:sp>
        <p:nvSpPr>
          <p:cNvPr id="25" name="Text 23"/>
          <p:cNvSpPr txBox="1"/>
          <p:nvPr/>
        </p:nvSpPr>
        <p:spPr>
          <a:xfrm>
            <a:off x="5897880" y="5568696"/>
            <a:ext cx="5623560" cy="96012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Windows are 2,000-character pieces that overlap by 500 characters, so no clause is cut in half. This gives 53,662 training windows.</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548640" y="109728"/>
            <a:ext cx="2286000" cy="301752"/>
          </a:xfrm>
          <a:prstGeom prst="roundRect">
            <a:avLst>
              <a:gd name="adj" fmla="val 45455"/>
            </a:avLst>
          </a:prstGeom>
          <a:solidFill>
            <a:srgbClr val="CADCFC"/>
          </a:solidFill>
          <a:ln w="12700">
            <a:solidFill>
              <a:srgbClr val="CADCFC"/>
            </a:solidFill>
            <a:prstDash val="solid"/>
          </a:ln>
        </p:spPr>
      </p:sp>
      <p:sp>
        <p:nvSpPr>
          <p:cNvPr id="3" name="Text 1"/>
          <p:cNvSpPr txBox="1"/>
          <p:nvPr/>
        </p:nvSpPr>
        <p:spPr>
          <a:xfrm>
            <a:off x="548640" y="109728"/>
            <a:ext cx="2286000" cy="301752"/>
          </a:xfrm>
          <a:prstGeom prst="rect">
            <a:avLst/>
          </a:prstGeom>
          <a:noFill/>
          <a:ln/>
        </p:spPr>
        <p:txBody>
          <a:bodyPr wrap="square" lIns="0" tIns="0" rIns="0" bIns="0" rtlCol="0" anchor="ctr"/>
          <a:lstStyle/>
          <a:p>
            <a:pPr algn="ctr" indent="0" marL="0">
              <a:buNone/>
            </a:pPr>
            <a:r>
              <a:rPr lang="en-US" sz="1450" b="1" dirty="0">
                <a:solidFill>
                  <a:srgbClr val="1E2761"/>
                </a:solidFill>
                <a:latin typeface="Calibri" pitchFamily="34" charset="0"/>
                <a:ea typeface="Calibri" pitchFamily="34" charset="-122"/>
                <a:cs typeface="Calibri" pitchFamily="34" charset="-120"/>
              </a:rPr>
              <a:t>PIPELINE</a:t>
            </a:r>
            <a:endParaRPr lang="en-US" sz="1450" dirty="0"/>
          </a:p>
        </p:txBody>
      </p:sp>
      <p:sp>
        <p:nvSpPr>
          <p:cNvPr id="4" name="Text 2"/>
          <p:cNvSpPr txBox="1"/>
          <p:nvPr/>
        </p:nvSpPr>
        <p:spPr>
          <a:xfrm>
            <a:off x="563728" y="329184"/>
            <a:ext cx="11064240" cy="676656"/>
          </a:xfrm>
          <a:prstGeom prst="rect">
            <a:avLst/>
          </a:prstGeom>
          <a:noFill/>
          <a:ln/>
        </p:spPr>
        <p:txBody>
          <a:bodyPr wrap="square" rtlCol="0" anchor="ctr"/>
          <a:lstStyle/>
          <a:p>
            <a:pPr algn="ctr" indent="0" marL="0">
              <a:buNone/>
            </a:pPr>
            <a:r>
              <a:rPr lang="en-US" sz="3500" b="1" dirty="0">
                <a:solidFill>
                  <a:srgbClr val="141B3D"/>
                </a:solidFill>
                <a:latin typeface="Cambria" pitchFamily="34" charset="0"/>
                <a:ea typeface="Cambria" pitchFamily="34" charset="-122"/>
                <a:cs typeface="Cambria" pitchFamily="34" charset="-120"/>
              </a:rPr>
              <a:t>How the system reads a contract</a:t>
            </a:r>
            <a:endParaRPr lang="en-US" sz="3500" dirty="0"/>
          </a:p>
        </p:txBody>
      </p:sp>
      <p:sp>
        <p:nvSpPr>
          <p:cNvPr id="5" name="Text 3"/>
          <p:cNvSpPr txBox="1"/>
          <p:nvPr/>
        </p:nvSpPr>
        <p:spPr>
          <a:xfrm>
            <a:off x="563728" y="1024128"/>
            <a:ext cx="11064240" cy="347472"/>
          </a:xfrm>
          <a:prstGeom prst="rect">
            <a:avLst/>
          </a:prstGeom>
          <a:noFill/>
          <a:ln/>
        </p:spPr>
        <p:txBody>
          <a:bodyPr wrap="square" rtlCol="0" anchor="ctr"/>
          <a:lstStyle/>
          <a:p>
            <a:pPr algn="ctr" indent="0" marL="0">
              <a:buNone/>
            </a:pPr>
            <a:r>
              <a:rPr lang="en-US" sz="1700" i="1" dirty="0">
                <a:solidFill>
                  <a:srgbClr val="6B7280"/>
                </a:solidFill>
                <a:latin typeface="Calibri" pitchFamily="34" charset="0"/>
                <a:ea typeface="Calibri" pitchFamily="34" charset="-122"/>
                <a:cs typeface="Calibri" pitchFamily="34" charset="-120"/>
              </a:rPr>
              <a:t>Four steps, from contract text to a report sorted by risk</a:t>
            </a:r>
            <a:endParaRPr lang="en-US" sz="1700" dirty="0"/>
          </a:p>
        </p:txBody>
      </p:sp>
      <p:sp>
        <p:nvSpPr>
          <p:cNvPr id="6" name="Shape 4"/>
          <p:cNvSpPr/>
          <p:nvPr/>
        </p:nvSpPr>
        <p:spPr>
          <a:xfrm>
            <a:off x="548640" y="1371600"/>
            <a:ext cx="2057400" cy="1325880"/>
          </a:xfrm>
          <a:prstGeom prst="roundRect">
            <a:avLst>
              <a:gd name="adj" fmla="val 5517"/>
            </a:avLst>
          </a:prstGeom>
          <a:solidFill>
            <a:srgbClr val="EFF1F7"/>
          </a:solidFill>
          <a:ln w="12700">
            <a:solidFill>
              <a:srgbClr val="E4E7F2"/>
            </a:solidFill>
            <a:prstDash val="solid"/>
          </a:ln>
        </p:spPr>
      </p:sp>
      <p:sp>
        <p:nvSpPr>
          <p:cNvPr id="7" name="Text 5"/>
          <p:cNvSpPr txBox="1"/>
          <p:nvPr/>
        </p:nvSpPr>
        <p:spPr>
          <a:xfrm>
            <a:off x="621792" y="1463040"/>
            <a:ext cx="1911096" cy="329184"/>
          </a:xfrm>
          <a:prstGeom prst="rect">
            <a:avLst/>
          </a:prstGeom>
          <a:noFill/>
          <a:ln/>
        </p:spPr>
        <p:txBody>
          <a:bodyPr wrap="square" lIns="0" tIns="0" rIns="0" bIns="0" rtlCol="0" anchor="ctr"/>
          <a:lstStyle/>
          <a:p>
            <a:pPr algn="ctr" indent="0" marL="0">
              <a:buNone/>
            </a:pPr>
            <a:r>
              <a:rPr lang="en-US" sz="1700" b="1" dirty="0">
                <a:solidFill>
                  <a:srgbClr val="6B7280"/>
                </a:solidFill>
                <a:latin typeface="Cambria" pitchFamily="34" charset="0"/>
                <a:ea typeface="Cambria" pitchFamily="34" charset="-122"/>
                <a:cs typeface="Cambria" pitchFamily="34" charset="-120"/>
              </a:rPr>
              <a:t>Contract</a:t>
            </a:r>
            <a:endParaRPr lang="en-US" sz="1700" dirty="0"/>
          </a:p>
        </p:txBody>
      </p:sp>
      <p:sp>
        <p:nvSpPr>
          <p:cNvPr id="8" name="Text 6"/>
          <p:cNvSpPr txBox="1"/>
          <p:nvPr/>
        </p:nvSpPr>
        <p:spPr>
          <a:xfrm>
            <a:off x="621792" y="1847088"/>
            <a:ext cx="1911096" cy="777240"/>
          </a:xfrm>
          <a:prstGeom prst="rect">
            <a:avLst/>
          </a:prstGeom>
          <a:noFill/>
          <a:ln/>
        </p:spPr>
        <p:txBody>
          <a:bodyPr wrap="square" lIns="0" tIns="0" rIns="0" bIns="0" rtlCol="0" anchor="ctr"/>
          <a:lstStyle/>
          <a:p>
            <a:pPr algn="ctr" indent="0" marL="0">
              <a:buNone/>
            </a:pPr>
            <a:r>
              <a:rPr lang="en-US" sz="1500" dirty="0">
                <a:solidFill>
                  <a:srgbClr val="374151"/>
                </a:solidFill>
                <a:latin typeface="Calibri" pitchFamily="34" charset="0"/>
                <a:ea typeface="Calibri" pitchFamily="34" charset="-122"/>
                <a:cs typeface="Calibri" pitchFamily="34" charset="-120"/>
              </a:rPr>
              <a:t>pasted text, PDF or Word</a:t>
            </a:r>
            <a:endParaRPr lang="en-US" sz="1500" dirty="0"/>
          </a:p>
        </p:txBody>
      </p:sp>
      <p:sp>
        <p:nvSpPr>
          <p:cNvPr id="9" name="Text 7"/>
          <p:cNvSpPr txBox="1"/>
          <p:nvPr/>
        </p:nvSpPr>
        <p:spPr>
          <a:xfrm>
            <a:off x="2615184" y="1783080"/>
            <a:ext cx="219456" cy="365760"/>
          </a:xfrm>
          <a:prstGeom prst="rect">
            <a:avLst/>
          </a:prstGeom>
          <a:noFill/>
          <a:ln/>
        </p:spPr>
        <p:txBody>
          <a:bodyPr wrap="square" lIns="0" tIns="0" rIns="0" bIns="0" rtlCol="0" anchor="ctr"/>
          <a:lstStyle/>
          <a:p>
            <a:pPr algn="ctr" indent="0" marL="0">
              <a:buNone/>
            </a:pPr>
            <a:r>
              <a:rPr lang="en-US" sz="2500" dirty="0">
                <a:solidFill>
                  <a:srgbClr val="C3C9DC"/>
                </a:solidFill>
                <a:latin typeface="Calibri" pitchFamily="34" charset="0"/>
                <a:ea typeface="Calibri" pitchFamily="34" charset="-122"/>
                <a:cs typeface="Calibri" pitchFamily="34" charset="-120"/>
              </a:rPr>
              <a:t>›</a:t>
            </a:r>
            <a:endParaRPr lang="en-US" sz="2500" dirty="0"/>
          </a:p>
        </p:txBody>
      </p:sp>
      <p:sp>
        <p:nvSpPr>
          <p:cNvPr id="10" name="Shape 8"/>
          <p:cNvSpPr/>
          <p:nvPr/>
        </p:nvSpPr>
        <p:spPr>
          <a:xfrm>
            <a:off x="2807208" y="1371600"/>
            <a:ext cx="2057400" cy="1325880"/>
          </a:xfrm>
          <a:prstGeom prst="roundRect">
            <a:avLst>
              <a:gd name="adj" fmla="val 5517"/>
            </a:avLst>
          </a:prstGeom>
          <a:solidFill>
            <a:srgbClr val="F6F7FB"/>
          </a:solidFill>
          <a:ln w="12700">
            <a:solidFill>
              <a:srgbClr val="E4E7F2"/>
            </a:solidFill>
            <a:prstDash val="solid"/>
          </a:ln>
        </p:spPr>
      </p:sp>
      <p:sp>
        <p:nvSpPr>
          <p:cNvPr id="11" name="Text 9"/>
          <p:cNvSpPr txBox="1"/>
          <p:nvPr/>
        </p:nvSpPr>
        <p:spPr>
          <a:xfrm>
            <a:off x="2880360" y="1463040"/>
            <a:ext cx="1911096" cy="329184"/>
          </a:xfrm>
          <a:prstGeom prst="rect">
            <a:avLst/>
          </a:prstGeom>
          <a:noFill/>
          <a:ln/>
        </p:spPr>
        <p:txBody>
          <a:bodyPr wrap="square" lIns="0" tIns="0" rIns="0" bIns="0" rtlCol="0" anchor="ctr"/>
          <a:lstStyle/>
          <a:p>
            <a:pPr algn="ctr" indent="0" marL="0">
              <a:buNone/>
            </a:pPr>
            <a:r>
              <a:rPr lang="en-US" sz="1700" b="1" dirty="0">
                <a:solidFill>
                  <a:srgbClr val="141B3D"/>
                </a:solidFill>
                <a:latin typeface="Cambria" pitchFamily="34" charset="0"/>
                <a:ea typeface="Cambria" pitchFamily="34" charset="-122"/>
                <a:cs typeface="Cambria" pitchFamily="34" charset="-120"/>
              </a:rPr>
              <a:t>1 Find clauses</a:t>
            </a:r>
            <a:endParaRPr lang="en-US" sz="1700" dirty="0"/>
          </a:p>
        </p:txBody>
      </p:sp>
      <p:sp>
        <p:nvSpPr>
          <p:cNvPr id="12" name="Text 10"/>
          <p:cNvSpPr txBox="1"/>
          <p:nvPr/>
        </p:nvSpPr>
        <p:spPr>
          <a:xfrm>
            <a:off x="2880360" y="1847088"/>
            <a:ext cx="1911096" cy="777240"/>
          </a:xfrm>
          <a:prstGeom prst="rect">
            <a:avLst/>
          </a:prstGeom>
          <a:noFill/>
          <a:ln/>
        </p:spPr>
        <p:txBody>
          <a:bodyPr wrap="square" lIns="0" tIns="0" rIns="0" bIns="0" rtlCol="0" anchor="ctr"/>
          <a:lstStyle/>
          <a:p>
            <a:pPr algn="ctr" indent="0" marL="0">
              <a:buNone/>
            </a:pPr>
            <a:r>
              <a:rPr lang="en-US" sz="1500" dirty="0">
                <a:solidFill>
                  <a:srgbClr val="374151"/>
                </a:solidFill>
                <a:latin typeface="Calibri" pitchFamily="34" charset="0"/>
                <a:ea typeface="Calibri" pitchFamily="34" charset="-122"/>
                <a:cs typeface="Calibri" pitchFamily="34" charset="-120"/>
              </a:rPr>
              <a:t>word model + small BERT</a:t>
            </a:r>
            <a:endParaRPr lang="en-US" sz="1500" dirty="0"/>
          </a:p>
        </p:txBody>
      </p:sp>
      <p:sp>
        <p:nvSpPr>
          <p:cNvPr id="13" name="Text 11"/>
          <p:cNvSpPr txBox="1"/>
          <p:nvPr/>
        </p:nvSpPr>
        <p:spPr>
          <a:xfrm>
            <a:off x="4873752" y="1783080"/>
            <a:ext cx="219456" cy="365760"/>
          </a:xfrm>
          <a:prstGeom prst="rect">
            <a:avLst/>
          </a:prstGeom>
          <a:noFill/>
          <a:ln/>
        </p:spPr>
        <p:txBody>
          <a:bodyPr wrap="square" lIns="0" tIns="0" rIns="0" bIns="0" rtlCol="0" anchor="ctr"/>
          <a:lstStyle/>
          <a:p>
            <a:pPr algn="ctr" indent="0" marL="0">
              <a:buNone/>
            </a:pPr>
            <a:r>
              <a:rPr lang="en-US" sz="2500" dirty="0">
                <a:solidFill>
                  <a:srgbClr val="C3C9DC"/>
                </a:solidFill>
                <a:latin typeface="Calibri" pitchFamily="34" charset="0"/>
                <a:ea typeface="Calibri" pitchFamily="34" charset="-122"/>
                <a:cs typeface="Calibri" pitchFamily="34" charset="-120"/>
              </a:rPr>
              <a:t>›</a:t>
            </a:r>
            <a:endParaRPr lang="en-US" sz="2500" dirty="0"/>
          </a:p>
        </p:txBody>
      </p:sp>
      <p:sp>
        <p:nvSpPr>
          <p:cNvPr id="14" name="Shape 12"/>
          <p:cNvSpPr/>
          <p:nvPr/>
        </p:nvSpPr>
        <p:spPr>
          <a:xfrm>
            <a:off x="5065776" y="1371600"/>
            <a:ext cx="2057400" cy="1325880"/>
          </a:xfrm>
          <a:prstGeom prst="roundRect">
            <a:avLst>
              <a:gd name="adj" fmla="val 5517"/>
            </a:avLst>
          </a:prstGeom>
          <a:solidFill>
            <a:srgbClr val="F6F7FB"/>
          </a:solidFill>
          <a:ln w="12700">
            <a:solidFill>
              <a:srgbClr val="E4E7F2"/>
            </a:solidFill>
            <a:prstDash val="solid"/>
          </a:ln>
        </p:spPr>
      </p:sp>
      <p:sp>
        <p:nvSpPr>
          <p:cNvPr id="15" name="Text 13"/>
          <p:cNvSpPr txBox="1"/>
          <p:nvPr/>
        </p:nvSpPr>
        <p:spPr>
          <a:xfrm>
            <a:off x="5138928" y="1463040"/>
            <a:ext cx="1911096" cy="329184"/>
          </a:xfrm>
          <a:prstGeom prst="rect">
            <a:avLst/>
          </a:prstGeom>
          <a:noFill/>
          <a:ln/>
        </p:spPr>
        <p:txBody>
          <a:bodyPr wrap="square" lIns="0" tIns="0" rIns="0" bIns="0" rtlCol="0" anchor="ctr"/>
          <a:lstStyle/>
          <a:p>
            <a:pPr algn="ctr" indent="0" marL="0">
              <a:buNone/>
            </a:pPr>
            <a:r>
              <a:rPr lang="en-US" sz="1700" b="1" dirty="0">
                <a:solidFill>
                  <a:srgbClr val="141B3D"/>
                </a:solidFill>
                <a:latin typeface="Cambria" pitchFamily="34" charset="0"/>
                <a:ea typeface="Cambria" pitchFamily="34" charset="-122"/>
                <a:cs typeface="Cambria" pitchFamily="34" charset="-120"/>
              </a:rPr>
              <a:t>2 Find text</a:t>
            </a:r>
            <a:endParaRPr lang="en-US" sz="1700" dirty="0"/>
          </a:p>
        </p:txBody>
      </p:sp>
      <p:sp>
        <p:nvSpPr>
          <p:cNvPr id="16" name="Text 14"/>
          <p:cNvSpPr txBox="1"/>
          <p:nvPr/>
        </p:nvSpPr>
        <p:spPr>
          <a:xfrm>
            <a:off x="5138928" y="1847088"/>
            <a:ext cx="1911096" cy="777240"/>
          </a:xfrm>
          <a:prstGeom prst="rect">
            <a:avLst/>
          </a:prstGeom>
          <a:noFill/>
          <a:ln/>
        </p:spPr>
        <p:txBody>
          <a:bodyPr wrap="square" lIns="0" tIns="0" rIns="0" bIns="0" rtlCol="0" anchor="ctr"/>
          <a:lstStyle/>
          <a:p>
            <a:pPr algn="ctr" indent="0" marL="0">
              <a:buNone/>
            </a:pPr>
            <a:r>
              <a:rPr lang="en-US" sz="1500" dirty="0">
                <a:solidFill>
                  <a:srgbClr val="374151"/>
                </a:solidFill>
                <a:latin typeface="Calibri" pitchFamily="34" charset="0"/>
                <a:ea typeface="Calibri" pitchFamily="34" charset="-122"/>
                <a:cs typeface="Calibri" pitchFamily="34" charset="-120"/>
              </a:rPr>
              <a:t>question-answering model</a:t>
            </a:r>
            <a:endParaRPr lang="en-US" sz="1500" dirty="0"/>
          </a:p>
        </p:txBody>
      </p:sp>
      <p:sp>
        <p:nvSpPr>
          <p:cNvPr id="17" name="Text 15"/>
          <p:cNvSpPr txBox="1"/>
          <p:nvPr/>
        </p:nvSpPr>
        <p:spPr>
          <a:xfrm>
            <a:off x="7132320" y="1783080"/>
            <a:ext cx="219456" cy="365760"/>
          </a:xfrm>
          <a:prstGeom prst="rect">
            <a:avLst/>
          </a:prstGeom>
          <a:noFill/>
          <a:ln/>
        </p:spPr>
        <p:txBody>
          <a:bodyPr wrap="square" lIns="0" tIns="0" rIns="0" bIns="0" rtlCol="0" anchor="ctr"/>
          <a:lstStyle/>
          <a:p>
            <a:pPr algn="ctr" indent="0" marL="0">
              <a:buNone/>
            </a:pPr>
            <a:r>
              <a:rPr lang="en-US" sz="2500" dirty="0">
                <a:solidFill>
                  <a:srgbClr val="C3C9DC"/>
                </a:solidFill>
                <a:latin typeface="Calibri" pitchFamily="34" charset="0"/>
                <a:ea typeface="Calibri" pitchFamily="34" charset="-122"/>
                <a:cs typeface="Calibri" pitchFamily="34" charset="-120"/>
              </a:rPr>
              <a:t>›</a:t>
            </a:r>
            <a:endParaRPr lang="en-US" sz="2500" dirty="0"/>
          </a:p>
        </p:txBody>
      </p:sp>
      <p:sp>
        <p:nvSpPr>
          <p:cNvPr id="18" name="Shape 16"/>
          <p:cNvSpPr/>
          <p:nvPr/>
        </p:nvSpPr>
        <p:spPr>
          <a:xfrm>
            <a:off x="7324344" y="1371600"/>
            <a:ext cx="2057400" cy="1325880"/>
          </a:xfrm>
          <a:prstGeom prst="roundRect">
            <a:avLst>
              <a:gd name="adj" fmla="val 5517"/>
            </a:avLst>
          </a:prstGeom>
          <a:solidFill>
            <a:srgbClr val="FDF6F0"/>
          </a:solidFill>
          <a:ln w="12700">
            <a:solidFill>
              <a:srgbClr val="F3DFC9"/>
            </a:solidFill>
            <a:prstDash val="solid"/>
          </a:ln>
        </p:spPr>
      </p:sp>
      <p:sp>
        <p:nvSpPr>
          <p:cNvPr id="19" name="Text 17"/>
          <p:cNvSpPr txBox="1"/>
          <p:nvPr/>
        </p:nvSpPr>
        <p:spPr>
          <a:xfrm>
            <a:off x="7397496" y="1463040"/>
            <a:ext cx="1911096" cy="329184"/>
          </a:xfrm>
          <a:prstGeom prst="rect">
            <a:avLst/>
          </a:prstGeom>
          <a:noFill/>
          <a:ln/>
        </p:spPr>
        <p:txBody>
          <a:bodyPr wrap="square" lIns="0" tIns="0" rIns="0" bIns="0" rtlCol="0" anchor="ctr"/>
          <a:lstStyle/>
          <a:p>
            <a:pPr algn="ctr" indent="0" marL="0">
              <a:buNone/>
            </a:pPr>
            <a:r>
              <a:rPr lang="en-US" sz="1700" b="1" dirty="0">
                <a:solidFill>
                  <a:srgbClr val="141B3D"/>
                </a:solidFill>
                <a:latin typeface="Cambria" pitchFamily="34" charset="0"/>
                <a:ea typeface="Cambria" pitchFamily="34" charset="-122"/>
                <a:cs typeface="Cambria" pitchFamily="34" charset="-120"/>
              </a:rPr>
              <a:t>3 Risk</a:t>
            </a:r>
            <a:endParaRPr lang="en-US" sz="1700" dirty="0"/>
          </a:p>
        </p:txBody>
      </p:sp>
      <p:sp>
        <p:nvSpPr>
          <p:cNvPr id="20" name="Text 18"/>
          <p:cNvSpPr txBox="1"/>
          <p:nvPr/>
        </p:nvSpPr>
        <p:spPr>
          <a:xfrm>
            <a:off x="7397496" y="1847088"/>
            <a:ext cx="1911096" cy="777240"/>
          </a:xfrm>
          <a:prstGeom prst="rect">
            <a:avLst/>
          </a:prstGeom>
          <a:noFill/>
          <a:ln/>
        </p:spPr>
        <p:txBody>
          <a:bodyPr wrap="square" lIns="0" tIns="0" rIns="0" bIns="0" rtlCol="0" anchor="ctr"/>
          <a:lstStyle/>
          <a:p>
            <a:pPr algn="ctr" indent="0" marL="0">
              <a:buNone/>
            </a:pPr>
            <a:r>
              <a:rPr lang="en-US" sz="1500" dirty="0">
                <a:solidFill>
                  <a:srgbClr val="374151"/>
                </a:solidFill>
                <a:latin typeface="Calibri" pitchFamily="34" charset="0"/>
                <a:ea typeface="Calibri" pitchFamily="34" charset="-122"/>
                <a:cs typeface="Calibri" pitchFamily="34" charset="-120"/>
              </a:rPr>
              <a:t>risk table for 41 types</a:t>
            </a:r>
            <a:endParaRPr lang="en-US" sz="1500" dirty="0"/>
          </a:p>
        </p:txBody>
      </p:sp>
      <p:sp>
        <p:nvSpPr>
          <p:cNvPr id="21" name="Text 19"/>
          <p:cNvSpPr txBox="1"/>
          <p:nvPr/>
        </p:nvSpPr>
        <p:spPr>
          <a:xfrm>
            <a:off x="9390888" y="1783080"/>
            <a:ext cx="219456" cy="365760"/>
          </a:xfrm>
          <a:prstGeom prst="rect">
            <a:avLst/>
          </a:prstGeom>
          <a:noFill/>
          <a:ln/>
        </p:spPr>
        <p:txBody>
          <a:bodyPr wrap="square" lIns="0" tIns="0" rIns="0" bIns="0" rtlCol="0" anchor="ctr"/>
          <a:lstStyle/>
          <a:p>
            <a:pPr algn="ctr" indent="0" marL="0">
              <a:buNone/>
            </a:pPr>
            <a:r>
              <a:rPr lang="en-US" sz="2500" dirty="0">
                <a:solidFill>
                  <a:srgbClr val="C3C9DC"/>
                </a:solidFill>
                <a:latin typeface="Calibri" pitchFamily="34" charset="0"/>
                <a:ea typeface="Calibri" pitchFamily="34" charset="-122"/>
                <a:cs typeface="Calibri" pitchFamily="34" charset="-120"/>
              </a:rPr>
              <a:t>›</a:t>
            </a:r>
            <a:endParaRPr lang="en-US" sz="2500" dirty="0"/>
          </a:p>
        </p:txBody>
      </p:sp>
      <p:sp>
        <p:nvSpPr>
          <p:cNvPr id="22" name="Shape 20"/>
          <p:cNvSpPr/>
          <p:nvPr/>
        </p:nvSpPr>
        <p:spPr>
          <a:xfrm>
            <a:off x="9582912" y="1371600"/>
            <a:ext cx="2057400" cy="1325880"/>
          </a:xfrm>
          <a:prstGeom prst="roundRect">
            <a:avLst>
              <a:gd name="adj" fmla="val 5517"/>
            </a:avLst>
          </a:prstGeom>
          <a:solidFill>
            <a:srgbClr val="FDF6F0"/>
          </a:solidFill>
          <a:ln w="12700">
            <a:solidFill>
              <a:srgbClr val="F3DFC9"/>
            </a:solidFill>
            <a:prstDash val="solid"/>
          </a:ln>
        </p:spPr>
      </p:sp>
      <p:sp>
        <p:nvSpPr>
          <p:cNvPr id="23" name="Text 21"/>
          <p:cNvSpPr txBox="1"/>
          <p:nvPr/>
        </p:nvSpPr>
        <p:spPr>
          <a:xfrm>
            <a:off x="9656064" y="1463040"/>
            <a:ext cx="1911096" cy="329184"/>
          </a:xfrm>
          <a:prstGeom prst="rect">
            <a:avLst/>
          </a:prstGeom>
          <a:noFill/>
          <a:ln/>
        </p:spPr>
        <p:txBody>
          <a:bodyPr wrap="square" lIns="0" tIns="0" rIns="0" bIns="0" rtlCol="0" anchor="ctr"/>
          <a:lstStyle/>
          <a:p>
            <a:pPr algn="ctr" indent="0" marL="0">
              <a:buNone/>
            </a:pPr>
            <a:r>
              <a:rPr lang="en-US" sz="1700" b="1" dirty="0">
                <a:solidFill>
                  <a:srgbClr val="141B3D"/>
                </a:solidFill>
                <a:latin typeface="Cambria" pitchFamily="34" charset="0"/>
                <a:ea typeface="Cambria" pitchFamily="34" charset="-122"/>
                <a:cs typeface="Cambria" pitchFamily="34" charset="-120"/>
              </a:rPr>
              <a:t>4 Explain</a:t>
            </a:r>
            <a:endParaRPr lang="en-US" sz="1700" dirty="0"/>
          </a:p>
        </p:txBody>
      </p:sp>
      <p:sp>
        <p:nvSpPr>
          <p:cNvPr id="24" name="Text 22"/>
          <p:cNvSpPr txBox="1"/>
          <p:nvPr/>
        </p:nvSpPr>
        <p:spPr>
          <a:xfrm>
            <a:off x="9656064" y="1847088"/>
            <a:ext cx="1911096" cy="777240"/>
          </a:xfrm>
          <a:prstGeom prst="rect">
            <a:avLst/>
          </a:prstGeom>
          <a:noFill/>
          <a:ln/>
        </p:spPr>
        <p:txBody>
          <a:bodyPr wrap="square" lIns="0" tIns="0" rIns="0" bIns="0" rtlCol="0" anchor="ctr"/>
          <a:lstStyle/>
          <a:p>
            <a:pPr algn="ctr" indent="0" marL="0">
              <a:buNone/>
            </a:pPr>
            <a:r>
              <a:rPr lang="en-US" sz="1500" dirty="0">
                <a:solidFill>
                  <a:srgbClr val="374151"/>
                </a:solidFill>
                <a:latin typeface="Calibri" pitchFamily="34" charset="0"/>
                <a:ea typeface="Calibri" pitchFamily="34" charset="-122"/>
                <a:cs typeface="Calibri" pitchFamily="34" charset="-120"/>
              </a:rPr>
              <a:t>FLAN-T5 writes one line</a:t>
            </a:r>
            <a:endParaRPr lang="en-US" sz="1500" dirty="0"/>
          </a:p>
        </p:txBody>
      </p:sp>
      <p:sp>
        <p:nvSpPr>
          <p:cNvPr id="25" name="Shape 23"/>
          <p:cNvSpPr/>
          <p:nvPr/>
        </p:nvSpPr>
        <p:spPr>
          <a:xfrm>
            <a:off x="2807208" y="2816352"/>
            <a:ext cx="2057400" cy="420624"/>
          </a:xfrm>
          <a:prstGeom prst="roundRect">
            <a:avLst>
              <a:gd name="adj" fmla="val 10870"/>
            </a:avLst>
          </a:prstGeom>
          <a:solidFill>
            <a:srgbClr val="E8ECF7"/>
          </a:solidFill>
          <a:ln w="12700">
            <a:solidFill>
              <a:srgbClr val="CFD8EE"/>
            </a:solidFill>
            <a:prstDash val="solid"/>
          </a:ln>
        </p:spPr>
      </p:sp>
      <p:sp>
        <p:nvSpPr>
          <p:cNvPr id="26" name="Text 24"/>
          <p:cNvSpPr txBox="1"/>
          <p:nvPr/>
        </p:nvSpPr>
        <p:spPr>
          <a:xfrm>
            <a:off x="2852928" y="2816352"/>
            <a:ext cx="1965960" cy="420624"/>
          </a:xfrm>
          <a:prstGeom prst="rect">
            <a:avLst/>
          </a:prstGeom>
          <a:noFill/>
          <a:ln/>
        </p:spPr>
        <p:txBody>
          <a:bodyPr wrap="square" lIns="0" tIns="0" rIns="0" bIns="0" rtlCol="0" anchor="ctr"/>
          <a:lstStyle/>
          <a:p>
            <a:pPr algn="ctr" indent="0" marL="0">
              <a:buNone/>
            </a:pPr>
            <a:r>
              <a:rPr lang="en-US" sz="1500" b="1" dirty="0">
                <a:solidFill>
                  <a:srgbClr val="1E2761"/>
                </a:solidFill>
                <a:latin typeface="Calibri" pitchFamily="34" charset="0"/>
                <a:ea typeface="Calibri" pitchFamily="34" charset="-122"/>
                <a:cs typeface="Calibri" pitchFamily="34" charset="-120"/>
              </a:rPr>
              <a:t>which clauses?</a:t>
            </a:r>
            <a:endParaRPr lang="en-US" sz="1500" dirty="0"/>
          </a:p>
        </p:txBody>
      </p:sp>
      <p:sp>
        <p:nvSpPr>
          <p:cNvPr id="27" name="Shape 25"/>
          <p:cNvSpPr/>
          <p:nvPr/>
        </p:nvSpPr>
        <p:spPr>
          <a:xfrm>
            <a:off x="5065776" y="2816352"/>
            <a:ext cx="2057400" cy="420624"/>
          </a:xfrm>
          <a:prstGeom prst="roundRect">
            <a:avLst>
              <a:gd name="adj" fmla="val 10870"/>
            </a:avLst>
          </a:prstGeom>
          <a:solidFill>
            <a:srgbClr val="E8ECF7"/>
          </a:solidFill>
          <a:ln w="12700">
            <a:solidFill>
              <a:srgbClr val="CFD8EE"/>
            </a:solidFill>
            <a:prstDash val="solid"/>
          </a:ln>
        </p:spPr>
      </p:sp>
      <p:sp>
        <p:nvSpPr>
          <p:cNvPr id="28" name="Text 26"/>
          <p:cNvSpPr txBox="1"/>
          <p:nvPr/>
        </p:nvSpPr>
        <p:spPr>
          <a:xfrm>
            <a:off x="5111496" y="2816352"/>
            <a:ext cx="1965960" cy="420624"/>
          </a:xfrm>
          <a:prstGeom prst="rect">
            <a:avLst/>
          </a:prstGeom>
          <a:noFill/>
          <a:ln/>
        </p:spPr>
        <p:txBody>
          <a:bodyPr wrap="square" lIns="0" tIns="0" rIns="0" bIns="0" rtlCol="0" anchor="ctr"/>
          <a:lstStyle/>
          <a:p>
            <a:pPr algn="ctr" indent="0" marL="0">
              <a:buNone/>
            </a:pPr>
            <a:r>
              <a:rPr lang="en-US" sz="1500" b="1" dirty="0">
                <a:solidFill>
                  <a:srgbClr val="1E2761"/>
                </a:solidFill>
                <a:latin typeface="Calibri" pitchFamily="34" charset="0"/>
                <a:ea typeface="Calibri" pitchFamily="34" charset="-122"/>
                <a:cs typeface="Calibri" pitchFamily="34" charset="-120"/>
              </a:rPr>
              <a:t>the exact words</a:t>
            </a:r>
            <a:endParaRPr lang="en-US" sz="1500" dirty="0"/>
          </a:p>
        </p:txBody>
      </p:sp>
      <p:sp>
        <p:nvSpPr>
          <p:cNvPr id="29" name="Shape 27"/>
          <p:cNvSpPr/>
          <p:nvPr/>
        </p:nvSpPr>
        <p:spPr>
          <a:xfrm>
            <a:off x="7324344" y="2816352"/>
            <a:ext cx="2057400" cy="420624"/>
          </a:xfrm>
          <a:prstGeom prst="roundRect">
            <a:avLst>
              <a:gd name="adj" fmla="val 10870"/>
            </a:avLst>
          </a:prstGeom>
          <a:solidFill>
            <a:srgbClr val="E8ECF7"/>
          </a:solidFill>
          <a:ln w="12700">
            <a:solidFill>
              <a:srgbClr val="CFD8EE"/>
            </a:solidFill>
            <a:prstDash val="solid"/>
          </a:ln>
        </p:spPr>
      </p:sp>
      <p:sp>
        <p:nvSpPr>
          <p:cNvPr id="30" name="Text 28"/>
          <p:cNvSpPr txBox="1"/>
          <p:nvPr/>
        </p:nvSpPr>
        <p:spPr>
          <a:xfrm>
            <a:off x="7370064" y="2816352"/>
            <a:ext cx="1965960" cy="420624"/>
          </a:xfrm>
          <a:prstGeom prst="rect">
            <a:avLst/>
          </a:prstGeom>
          <a:noFill/>
          <a:ln/>
        </p:spPr>
        <p:txBody>
          <a:bodyPr wrap="square" lIns="0" tIns="0" rIns="0" bIns="0" rtlCol="0" anchor="ctr"/>
          <a:lstStyle/>
          <a:p>
            <a:pPr algn="ctr" indent="0" marL="0">
              <a:buNone/>
            </a:pPr>
            <a:r>
              <a:rPr lang="en-US" sz="1500" b="1" dirty="0">
                <a:solidFill>
                  <a:srgbClr val="1E2761"/>
                </a:solidFill>
                <a:latin typeface="Calibri" pitchFamily="34" charset="0"/>
                <a:ea typeface="Calibri" pitchFamily="34" charset="-122"/>
                <a:cs typeface="Calibri" pitchFamily="34" charset="-120"/>
              </a:rPr>
              <a:t>High / Medium / Low</a:t>
            </a:r>
            <a:endParaRPr lang="en-US" sz="1500" dirty="0"/>
          </a:p>
        </p:txBody>
      </p:sp>
      <p:sp>
        <p:nvSpPr>
          <p:cNvPr id="31" name="Shape 29"/>
          <p:cNvSpPr/>
          <p:nvPr/>
        </p:nvSpPr>
        <p:spPr>
          <a:xfrm>
            <a:off x="9582912" y="2816352"/>
            <a:ext cx="2057400" cy="420624"/>
          </a:xfrm>
          <a:prstGeom prst="roundRect">
            <a:avLst>
              <a:gd name="adj" fmla="val 10870"/>
            </a:avLst>
          </a:prstGeom>
          <a:solidFill>
            <a:srgbClr val="E8ECF7"/>
          </a:solidFill>
          <a:ln w="12700">
            <a:solidFill>
              <a:srgbClr val="CFD8EE"/>
            </a:solidFill>
            <a:prstDash val="solid"/>
          </a:ln>
        </p:spPr>
      </p:sp>
      <p:sp>
        <p:nvSpPr>
          <p:cNvPr id="32" name="Text 30"/>
          <p:cNvSpPr txBox="1"/>
          <p:nvPr/>
        </p:nvSpPr>
        <p:spPr>
          <a:xfrm>
            <a:off x="9628632" y="2816352"/>
            <a:ext cx="1965960" cy="420624"/>
          </a:xfrm>
          <a:prstGeom prst="rect">
            <a:avLst/>
          </a:prstGeom>
          <a:noFill/>
          <a:ln/>
        </p:spPr>
        <p:txBody>
          <a:bodyPr wrap="square" lIns="0" tIns="0" rIns="0" bIns="0" rtlCol="0" anchor="ctr"/>
          <a:lstStyle/>
          <a:p>
            <a:pPr algn="ctr" indent="0" marL="0">
              <a:buNone/>
            </a:pPr>
            <a:r>
              <a:rPr lang="en-US" sz="1500" b="1" dirty="0">
                <a:solidFill>
                  <a:srgbClr val="1E2761"/>
                </a:solidFill>
                <a:latin typeface="Calibri" pitchFamily="34" charset="0"/>
                <a:ea typeface="Calibri" pitchFamily="34" charset="-122"/>
                <a:cs typeface="Calibri" pitchFamily="34" charset="-120"/>
              </a:rPr>
              <a:t>one simple sentence</a:t>
            </a:r>
            <a:endParaRPr lang="en-US" sz="1500" dirty="0"/>
          </a:p>
        </p:txBody>
      </p:sp>
      <p:sp>
        <p:nvSpPr>
          <p:cNvPr id="33" name="Shape 31"/>
          <p:cNvSpPr/>
          <p:nvPr/>
        </p:nvSpPr>
        <p:spPr>
          <a:xfrm>
            <a:off x="548640" y="3611880"/>
            <a:ext cx="7315200" cy="329184"/>
          </a:xfrm>
          <a:prstGeom prst="rect">
            <a:avLst/>
          </a:prstGeom>
          <a:solidFill>
            <a:srgbClr val="EFF1F7"/>
          </a:solidFill>
          <a:ln w="12700">
            <a:solidFill>
              <a:srgbClr val="D9DEEC"/>
            </a:solidFill>
            <a:prstDash val="solid"/>
          </a:ln>
        </p:spPr>
      </p:sp>
      <p:sp>
        <p:nvSpPr>
          <p:cNvPr id="34" name="Shape 32"/>
          <p:cNvSpPr/>
          <p:nvPr/>
        </p:nvSpPr>
        <p:spPr>
          <a:xfrm>
            <a:off x="4846320" y="3611880"/>
            <a:ext cx="201168" cy="329184"/>
          </a:xfrm>
          <a:prstGeom prst="rect">
            <a:avLst/>
          </a:prstGeom>
          <a:solidFill>
            <a:srgbClr val="D94F5C"/>
          </a:solidFill>
          <a:ln w="12700">
            <a:solidFill>
              <a:srgbClr val="D94F5C"/>
            </a:solidFill>
            <a:prstDash val="solid"/>
          </a:ln>
        </p:spPr>
      </p:sp>
      <p:sp>
        <p:nvSpPr>
          <p:cNvPr id="35" name="Text 33"/>
          <p:cNvSpPr txBox="1"/>
          <p:nvPr/>
        </p:nvSpPr>
        <p:spPr>
          <a:xfrm>
            <a:off x="3794760" y="3291840"/>
            <a:ext cx="2377440" cy="274320"/>
          </a:xfrm>
          <a:prstGeom prst="rect">
            <a:avLst/>
          </a:prstGeom>
          <a:noFill/>
          <a:ln/>
        </p:spPr>
        <p:txBody>
          <a:bodyPr wrap="square" lIns="0" tIns="0" rIns="0" bIns="0" rtlCol="0" anchor="ctr"/>
          <a:lstStyle/>
          <a:p>
            <a:pPr algn="ctr" indent="0" marL="0">
              <a:buNone/>
            </a:pPr>
            <a:r>
              <a:rPr lang="en-US" sz="1450" dirty="0">
                <a:solidFill>
                  <a:srgbClr val="D94F5C"/>
                </a:solidFill>
                <a:latin typeface="Calibri" pitchFamily="34" charset="0"/>
                <a:ea typeface="Calibri" pitchFamily="34" charset="-122"/>
                <a:cs typeface="Calibri" pitchFamily="34" charset="-120"/>
              </a:rPr>
              <a:t>the clause (196 characters)</a:t>
            </a:r>
            <a:endParaRPr lang="en-US" sz="1450" dirty="0"/>
          </a:p>
        </p:txBody>
      </p:sp>
      <p:sp>
        <p:nvSpPr>
          <p:cNvPr id="36" name="Shape 34"/>
          <p:cNvSpPr/>
          <p:nvPr/>
        </p:nvSpPr>
        <p:spPr>
          <a:xfrm>
            <a:off x="548640" y="4069080"/>
            <a:ext cx="2011680" cy="310896"/>
          </a:xfrm>
          <a:prstGeom prst="roundRect">
            <a:avLst>
              <a:gd name="adj" fmla="val 11765"/>
            </a:avLst>
          </a:prstGeom>
          <a:solidFill>
            <a:srgbClr val="F6F7FB"/>
          </a:solidFill>
          <a:ln w="12700">
            <a:solidFill>
              <a:srgbClr val="D9DEEC"/>
            </a:solidFill>
            <a:prstDash val="solid"/>
          </a:ln>
        </p:spPr>
      </p:sp>
      <p:sp>
        <p:nvSpPr>
          <p:cNvPr id="37" name="Text 35"/>
          <p:cNvSpPr txBox="1"/>
          <p:nvPr/>
        </p:nvSpPr>
        <p:spPr>
          <a:xfrm>
            <a:off x="548640" y="4069080"/>
            <a:ext cx="2011680" cy="310896"/>
          </a:xfrm>
          <a:prstGeom prst="rect">
            <a:avLst/>
          </a:prstGeom>
          <a:noFill/>
          <a:ln/>
        </p:spPr>
        <p:txBody>
          <a:bodyPr wrap="square" lIns="0" tIns="0" rIns="0" bIns="0" rtlCol="0" anchor="ctr"/>
          <a:lstStyle/>
          <a:p>
            <a:pPr algn="ctr" indent="0" marL="0">
              <a:buNone/>
            </a:pPr>
            <a:r>
              <a:rPr lang="en-US" sz="1450" dirty="0">
                <a:solidFill>
                  <a:srgbClr val="6B7280"/>
                </a:solidFill>
                <a:latin typeface="Calibri" pitchFamily="34" charset="0"/>
                <a:ea typeface="Calibri" pitchFamily="34" charset="-122"/>
                <a:cs typeface="Calibri" pitchFamily="34" charset="-120"/>
              </a:rPr>
              <a:t>window 1</a:t>
            </a:r>
            <a:endParaRPr lang="en-US" sz="1450" dirty="0"/>
          </a:p>
        </p:txBody>
      </p:sp>
      <p:sp>
        <p:nvSpPr>
          <p:cNvPr id="38" name="Text 36"/>
          <p:cNvSpPr txBox="1"/>
          <p:nvPr/>
        </p:nvSpPr>
        <p:spPr>
          <a:xfrm>
            <a:off x="2596896" y="4069080"/>
            <a:ext cx="502920" cy="310896"/>
          </a:xfrm>
          <a:prstGeom prst="rect">
            <a:avLst/>
          </a:prstGeom>
          <a:noFill/>
          <a:ln/>
        </p:spPr>
        <p:txBody>
          <a:bodyPr wrap="square" lIns="0" tIns="0" rIns="0" bIns="0" rtlCol="0" anchor="ctr"/>
          <a:lstStyle/>
          <a:p>
            <a:pPr indent="0" marL="0">
              <a:buNone/>
            </a:pPr>
            <a:r>
              <a:rPr lang="en-US" sz="1450" dirty="0">
                <a:solidFill>
                  <a:srgbClr val="C3C9DC"/>
                </a:solidFill>
                <a:latin typeface="Calibri" pitchFamily="34" charset="0"/>
                <a:ea typeface="Calibri" pitchFamily="34" charset="-122"/>
                <a:cs typeface="Calibri" pitchFamily="34" charset="-120"/>
              </a:rPr>
              <a:t>0.04</a:t>
            </a:r>
            <a:endParaRPr lang="en-US" sz="1450" dirty="0"/>
          </a:p>
        </p:txBody>
      </p:sp>
      <p:sp>
        <p:nvSpPr>
          <p:cNvPr id="39" name="Shape 37"/>
          <p:cNvSpPr/>
          <p:nvPr/>
        </p:nvSpPr>
        <p:spPr>
          <a:xfrm>
            <a:off x="1920240" y="4434840"/>
            <a:ext cx="2011680" cy="310896"/>
          </a:xfrm>
          <a:prstGeom prst="roundRect">
            <a:avLst>
              <a:gd name="adj" fmla="val 11765"/>
            </a:avLst>
          </a:prstGeom>
          <a:solidFill>
            <a:srgbClr val="F6F7FB"/>
          </a:solidFill>
          <a:ln w="12700">
            <a:solidFill>
              <a:srgbClr val="D9DEEC"/>
            </a:solidFill>
            <a:prstDash val="solid"/>
          </a:ln>
        </p:spPr>
      </p:sp>
      <p:sp>
        <p:nvSpPr>
          <p:cNvPr id="40" name="Text 38"/>
          <p:cNvSpPr txBox="1"/>
          <p:nvPr/>
        </p:nvSpPr>
        <p:spPr>
          <a:xfrm>
            <a:off x="1920240" y="4434840"/>
            <a:ext cx="2011680" cy="310896"/>
          </a:xfrm>
          <a:prstGeom prst="rect">
            <a:avLst/>
          </a:prstGeom>
          <a:noFill/>
          <a:ln/>
        </p:spPr>
        <p:txBody>
          <a:bodyPr wrap="square" lIns="0" tIns="0" rIns="0" bIns="0" rtlCol="0" anchor="ctr"/>
          <a:lstStyle/>
          <a:p>
            <a:pPr algn="ctr" indent="0" marL="0">
              <a:buNone/>
            </a:pPr>
            <a:r>
              <a:rPr lang="en-US" sz="1450" dirty="0">
                <a:solidFill>
                  <a:srgbClr val="6B7280"/>
                </a:solidFill>
                <a:latin typeface="Calibri" pitchFamily="34" charset="0"/>
                <a:ea typeface="Calibri" pitchFamily="34" charset="-122"/>
                <a:cs typeface="Calibri" pitchFamily="34" charset="-120"/>
              </a:rPr>
              <a:t>window 2</a:t>
            </a:r>
            <a:endParaRPr lang="en-US" sz="1450" dirty="0"/>
          </a:p>
        </p:txBody>
      </p:sp>
      <p:sp>
        <p:nvSpPr>
          <p:cNvPr id="41" name="Text 39"/>
          <p:cNvSpPr txBox="1"/>
          <p:nvPr/>
        </p:nvSpPr>
        <p:spPr>
          <a:xfrm>
            <a:off x="3968496" y="4434840"/>
            <a:ext cx="502920" cy="310896"/>
          </a:xfrm>
          <a:prstGeom prst="rect">
            <a:avLst/>
          </a:prstGeom>
          <a:noFill/>
          <a:ln/>
        </p:spPr>
        <p:txBody>
          <a:bodyPr wrap="square" lIns="0" tIns="0" rIns="0" bIns="0" rtlCol="0" anchor="ctr"/>
          <a:lstStyle/>
          <a:p>
            <a:pPr indent="0" marL="0">
              <a:buNone/>
            </a:pPr>
            <a:r>
              <a:rPr lang="en-US" sz="1450" dirty="0">
                <a:solidFill>
                  <a:srgbClr val="C3C9DC"/>
                </a:solidFill>
                <a:latin typeface="Calibri" pitchFamily="34" charset="0"/>
                <a:ea typeface="Calibri" pitchFamily="34" charset="-122"/>
                <a:cs typeface="Calibri" pitchFamily="34" charset="-120"/>
              </a:rPr>
              <a:t>0.11</a:t>
            </a:r>
            <a:endParaRPr lang="en-US" sz="1450" dirty="0"/>
          </a:p>
        </p:txBody>
      </p:sp>
      <p:sp>
        <p:nvSpPr>
          <p:cNvPr id="42" name="Shape 40"/>
          <p:cNvSpPr/>
          <p:nvPr/>
        </p:nvSpPr>
        <p:spPr>
          <a:xfrm>
            <a:off x="3291840" y="4800600"/>
            <a:ext cx="2011680" cy="310896"/>
          </a:xfrm>
          <a:prstGeom prst="roundRect">
            <a:avLst>
              <a:gd name="adj" fmla="val 11765"/>
            </a:avLst>
          </a:prstGeom>
          <a:solidFill>
            <a:srgbClr val="F6F7FB"/>
          </a:solidFill>
          <a:ln w="12700">
            <a:solidFill>
              <a:srgbClr val="D9DEEC"/>
            </a:solidFill>
            <a:prstDash val="solid"/>
          </a:ln>
        </p:spPr>
      </p:sp>
      <p:sp>
        <p:nvSpPr>
          <p:cNvPr id="43" name="Text 41"/>
          <p:cNvSpPr txBox="1"/>
          <p:nvPr/>
        </p:nvSpPr>
        <p:spPr>
          <a:xfrm>
            <a:off x="3291840" y="4800600"/>
            <a:ext cx="2011680" cy="310896"/>
          </a:xfrm>
          <a:prstGeom prst="rect">
            <a:avLst/>
          </a:prstGeom>
          <a:noFill/>
          <a:ln/>
        </p:spPr>
        <p:txBody>
          <a:bodyPr wrap="square" lIns="0" tIns="0" rIns="0" bIns="0" rtlCol="0" anchor="ctr"/>
          <a:lstStyle/>
          <a:p>
            <a:pPr algn="ctr" indent="0" marL="0">
              <a:buNone/>
            </a:pPr>
            <a:r>
              <a:rPr lang="en-US" sz="1450" dirty="0">
                <a:solidFill>
                  <a:srgbClr val="6B7280"/>
                </a:solidFill>
                <a:latin typeface="Calibri" pitchFamily="34" charset="0"/>
                <a:ea typeface="Calibri" pitchFamily="34" charset="-122"/>
                <a:cs typeface="Calibri" pitchFamily="34" charset="-120"/>
              </a:rPr>
              <a:t>window 3</a:t>
            </a:r>
            <a:endParaRPr lang="en-US" sz="1450" dirty="0"/>
          </a:p>
        </p:txBody>
      </p:sp>
      <p:sp>
        <p:nvSpPr>
          <p:cNvPr id="44" name="Text 42"/>
          <p:cNvSpPr txBox="1"/>
          <p:nvPr/>
        </p:nvSpPr>
        <p:spPr>
          <a:xfrm>
            <a:off x="5340096" y="4800600"/>
            <a:ext cx="502920" cy="310896"/>
          </a:xfrm>
          <a:prstGeom prst="rect">
            <a:avLst/>
          </a:prstGeom>
          <a:noFill/>
          <a:ln/>
        </p:spPr>
        <p:txBody>
          <a:bodyPr wrap="square" lIns="0" tIns="0" rIns="0" bIns="0" rtlCol="0" anchor="ctr"/>
          <a:lstStyle/>
          <a:p>
            <a:pPr indent="0" marL="0">
              <a:buNone/>
            </a:pPr>
            <a:r>
              <a:rPr lang="en-US" sz="1450" dirty="0">
                <a:solidFill>
                  <a:srgbClr val="C3C9DC"/>
                </a:solidFill>
                <a:latin typeface="Calibri" pitchFamily="34" charset="0"/>
                <a:ea typeface="Calibri" pitchFamily="34" charset="-122"/>
                <a:cs typeface="Calibri" pitchFamily="34" charset="-120"/>
              </a:rPr>
              <a:t>0.07</a:t>
            </a:r>
            <a:endParaRPr lang="en-US" sz="1450" dirty="0"/>
          </a:p>
        </p:txBody>
      </p:sp>
      <p:sp>
        <p:nvSpPr>
          <p:cNvPr id="45" name="Shape 43"/>
          <p:cNvSpPr/>
          <p:nvPr/>
        </p:nvSpPr>
        <p:spPr>
          <a:xfrm>
            <a:off x="4663440" y="5166360"/>
            <a:ext cx="2011680" cy="310896"/>
          </a:xfrm>
          <a:prstGeom prst="roundRect">
            <a:avLst>
              <a:gd name="adj" fmla="val 11765"/>
            </a:avLst>
          </a:prstGeom>
          <a:solidFill>
            <a:srgbClr val="EEF8F3"/>
          </a:solidFill>
          <a:ln w="12700">
            <a:solidFill>
              <a:srgbClr val="4CAF82"/>
            </a:solidFill>
            <a:prstDash val="solid"/>
          </a:ln>
        </p:spPr>
      </p:sp>
      <p:sp>
        <p:nvSpPr>
          <p:cNvPr id="46" name="Text 44"/>
          <p:cNvSpPr txBox="1"/>
          <p:nvPr/>
        </p:nvSpPr>
        <p:spPr>
          <a:xfrm>
            <a:off x="4663440" y="5166360"/>
            <a:ext cx="2011680" cy="310896"/>
          </a:xfrm>
          <a:prstGeom prst="rect">
            <a:avLst/>
          </a:prstGeom>
          <a:noFill/>
          <a:ln/>
        </p:spPr>
        <p:txBody>
          <a:bodyPr wrap="square" lIns="0" tIns="0" rIns="0" bIns="0" rtlCol="0" anchor="ctr"/>
          <a:lstStyle/>
          <a:p>
            <a:pPr algn="ctr" indent="0" marL="0">
              <a:buNone/>
            </a:pPr>
            <a:r>
              <a:rPr lang="en-US" sz="1450" dirty="0">
                <a:solidFill>
                  <a:srgbClr val="2E7D5B"/>
                </a:solidFill>
                <a:latin typeface="Calibri" pitchFamily="34" charset="0"/>
                <a:ea typeface="Calibri" pitchFamily="34" charset="-122"/>
                <a:cs typeface="Calibri" pitchFamily="34" charset="-120"/>
              </a:rPr>
              <a:t>window 4</a:t>
            </a:r>
            <a:endParaRPr lang="en-US" sz="1450" dirty="0"/>
          </a:p>
        </p:txBody>
      </p:sp>
      <p:sp>
        <p:nvSpPr>
          <p:cNvPr id="47" name="Text 45"/>
          <p:cNvSpPr txBox="1"/>
          <p:nvPr/>
        </p:nvSpPr>
        <p:spPr>
          <a:xfrm>
            <a:off x="6711696" y="5166360"/>
            <a:ext cx="502920" cy="310896"/>
          </a:xfrm>
          <a:prstGeom prst="rect">
            <a:avLst/>
          </a:prstGeom>
          <a:noFill/>
          <a:ln/>
        </p:spPr>
        <p:txBody>
          <a:bodyPr wrap="square" lIns="0" tIns="0" rIns="0" bIns="0" rtlCol="0" anchor="ctr"/>
          <a:lstStyle/>
          <a:p>
            <a:pPr indent="0" marL="0">
              <a:buNone/>
            </a:pPr>
            <a:r>
              <a:rPr lang="en-US" sz="1450" b="1" dirty="0">
                <a:solidFill>
                  <a:srgbClr val="4CAF82"/>
                </a:solidFill>
                <a:latin typeface="Calibri" pitchFamily="34" charset="0"/>
                <a:ea typeface="Calibri" pitchFamily="34" charset="-122"/>
                <a:cs typeface="Calibri" pitchFamily="34" charset="-120"/>
              </a:rPr>
              <a:t>0.91</a:t>
            </a:r>
            <a:endParaRPr lang="en-US" sz="1450" dirty="0"/>
          </a:p>
        </p:txBody>
      </p:sp>
      <p:sp>
        <p:nvSpPr>
          <p:cNvPr id="48" name="Text 46"/>
          <p:cNvSpPr txBox="1"/>
          <p:nvPr/>
        </p:nvSpPr>
        <p:spPr>
          <a:xfrm>
            <a:off x="548640" y="5559552"/>
            <a:ext cx="5303520" cy="274320"/>
          </a:xfrm>
          <a:prstGeom prst="rect">
            <a:avLst/>
          </a:prstGeom>
          <a:noFill/>
          <a:ln/>
        </p:spPr>
        <p:txBody>
          <a:bodyPr wrap="square" lIns="0" tIns="0" rIns="0" bIns="0" rtlCol="0" anchor="ctr"/>
          <a:lstStyle/>
          <a:p>
            <a:pPr indent="0" marL="0">
              <a:buNone/>
            </a:pPr>
            <a:r>
              <a:rPr lang="en-US" sz="1450" dirty="0">
                <a:solidFill>
                  <a:srgbClr val="6B7280"/>
                </a:solidFill>
                <a:latin typeface="Calibri" pitchFamily="34" charset="0"/>
                <a:ea typeface="Calibri" pitchFamily="34" charset="-122"/>
                <a:cs typeface="Calibri" pitchFamily="34" charset="-120"/>
              </a:rPr>
              <a:t>⋮  22 windows for a normal contract, 226 for the longest</a:t>
            </a:r>
            <a:endParaRPr lang="en-US" sz="1450" dirty="0"/>
          </a:p>
        </p:txBody>
      </p:sp>
      <p:sp>
        <p:nvSpPr>
          <p:cNvPr id="49" name="Shape 47"/>
          <p:cNvSpPr/>
          <p:nvPr/>
        </p:nvSpPr>
        <p:spPr>
          <a:xfrm>
            <a:off x="5760720" y="4251960"/>
            <a:ext cx="2103120" cy="822960"/>
          </a:xfrm>
          <a:prstGeom prst="roundRect">
            <a:avLst>
              <a:gd name="adj" fmla="val 8889"/>
            </a:avLst>
          </a:prstGeom>
          <a:solidFill>
            <a:srgbClr val="1E2761"/>
          </a:solidFill>
          <a:ln w="12700">
            <a:solidFill>
              <a:srgbClr val="1E2761"/>
            </a:solidFill>
            <a:prstDash val="solid"/>
          </a:ln>
        </p:spPr>
      </p:sp>
      <p:sp>
        <p:nvSpPr>
          <p:cNvPr id="50" name="Text 48"/>
          <p:cNvSpPr txBox="1"/>
          <p:nvPr/>
        </p:nvSpPr>
        <p:spPr>
          <a:xfrm>
            <a:off x="5806440" y="4370832"/>
            <a:ext cx="20116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highest = 0.91</a:t>
            </a:r>
            <a:endParaRPr lang="en-US" sz="1600" dirty="0"/>
          </a:p>
          <a:p>
            <a:pPr algn="ctr" indent="0" marL="0">
              <a:buNone/>
            </a:pPr>
            <a:r>
              <a:rPr lang="en-US" sz="1600" b="1" dirty="0">
                <a:solidFill>
                  <a:srgbClr val="FFFFFF"/>
                </a:solidFill>
                <a:latin typeface="Calibri" pitchFamily="34" charset="0"/>
                <a:ea typeface="Calibri" pitchFamily="34" charset="-122"/>
                <a:cs typeface="Calibri" pitchFamily="34" charset="-120"/>
              </a:rPr>
              <a:t>→ clause found</a:t>
            </a:r>
            <a:endParaRPr lang="en-US" sz="1600" dirty="0"/>
          </a:p>
        </p:txBody>
      </p:sp>
      <p:sp>
        <p:nvSpPr>
          <p:cNvPr id="51" name="Shape 49"/>
          <p:cNvSpPr/>
          <p:nvPr/>
        </p:nvSpPr>
        <p:spPr>
          <a:xfrm>
            <a:off x="8138160" y="3611880"/>
            <a:ext cx="3566160" cy="1280160"/>
          </a:xfrm>
          <a:prstGeom prst="roundRect">
            <a:avLst>
              <a:gd name="adj" fmla="val 5000"/>
            </a:avLst>
          </a:prstGeom>
          <a:solidFill>
            <a:srgbClr val="F6F7FB"/>
          </a:solidFill>
          <a:ln w="12700">
            <a:solidFill>
              <a:srgbClr val="E4E7F2"/>
            </a:solidFill>
            <a:prstDash val="solid"/>
          </a:ln>
        </p:spPr>
      </p:sp>
      <p:sp>
        <p:nvSpPr>
          <p:cNvPr id="52" name="Shape 50"/>
          <p:cNvSpPr/>
          <p:nvPr/>
        </p:nvSpPr>
        <p:spPr>
          <a:xfrm>
            <a:off x="8321040" y="3785616"/>
            <a:ext cx="256032" cy="256032"/>
          </a:xfrm>
          <a:prstGeom prst="ellipse">
            <a:avLst/>
          </a:prstGeom>
          <a:solidFill>
            <a:srgbClr val="4CAF82"/>
          </a:solidFill>
          <a:ln w="12700">
            <a:solidFill>
              <a:srgbClr val="4CAF82"/>
            </a:solidFill>
            <a:prstDash val="solid"/>
          </a:ln>
        </p:spPr>
      </p:sp>
      <p:sp>
        <p:nvSpPr>
          <p:cNvPr id="53" name="Text 51"/>
          <p:cNvSpPr txBox="1"/>
          <p:nvPr/>
        </p:nvSpPr>
        <p:spPr>
          <a:xfrm>
            <a:off x="8668512" y="3721608"/>
            <a:ext cx="2880360" cy="310896"/>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No clause is missed</a:t>
            </a:r>
            <a:endParaRPr lang="en-US" sz="1650" dirty="0"/>
          </a:p>
        </p:txBody>
      </p:sp>
      <p:sp>
        <p:nvSpPr>
          <p:cNvPr id="54" name="Text 52"/>
          <p:cNvSpPr txBox="1"/>
          <p:nvPr/>
        </p:nvSpPr>
        <p:spPr>
          <a:xfrm>
            <a:off x="8339328" y="4123944"/>
            <a:ext cx="3163824" cy="621792"/>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Windows overlap by 500 characters, which is longer than a normal clause.</a:t>
            </a:r>
            <a:endParaRPr lang="en-US" sz="1550" dirty="0"/>
          </a:p>
        </p:txBody>
      </p:sp>
      <p:sp>
        <p:nvSpPr>
          <p:cNvPr id="55" name="Shape 53"/>
          <p:cNvSpPr/>
          <p:nvPr/>
        </p:nvSpPr>
        <p:spPr>
          <a:xfrm>
            <a:off x="8138160" y="5029200"/>
            <a:ext cx="3566160" cy="1325880"/>
          </a:xfrm>
          <a:prstGeom prst="roundRect">
            <a:avLst>
              <a:gd name="adj" fmla="val 4828"/>
            </a:avLst>
          </a:prstGeom>
          <a:solidFill>
            <a:srgbClr val="F6F7FB"/>
          </a:solidFill>
          <a:ln w="12700">
            <a:solidFill>
              <a:srgbClr val="E4E7F2"/>
            </a:solidFill>
            <a:prstDash val="solid"/>
          </a:ln>
        </p:spPr>
      </p:sp>
      <p:sp>
        <p:nvSpPr>
          <p:cNvPr id="56" name="Shape 54"/>
          <p:cNvSpPr/>
          <p:nvPr/>
        </p:nvSpPr>
        <p:spPr>
          <a:xfrm>
            <a:off x="8321040" y="5202936"/>
            <a:ext cx="256032" cy="256032"/>
          </a:xfrm>
          <a:prstGeom prst="ellipse">
            <a:avLst/>
          </a:prstGeom>
          <a:solidFill>
            <a:srgbClr val="1E2761"/>
          </a:solidFill>
          <a:ln w="12700">
            <a:solidFill>
              <a:srgbClr val="1E2761"/>
            </a:solidFill>
            <a:prstDash val="solid"/>
          </a:ln>
        </p:spPr>
      </p:sp>
      <p:sp>
        <p:nvSpPr>
          <p:cNvPr id="57" name="Text 55"/>
          <p:cNvSpPr txBox="1"/>
          <p:nvPr/>
        </p:nvSpPr>
        <p:spPr>
          <a:xfrm>
            <a:off x="8668512" y="5138928"/>
            <a:ext cx="2880360" cy="310896"/>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Settings chosen fairly</a:t>
            </a:r>
            <a:endParaRPr lang="en-US" sz="1650" dirty="0"/>
          </a:p>
        </p:txBody>
      </p:sp>
      <p:sp>
        <p:nvSpPr>
          <p:cNvPr id="58" name="Text 56"/>
          <p:cNvSpPr txBox="1"/>
          <p:nvPr/>
        </p:nvSpPr>
        <p:spPr>
          <a:xfrm>
            <a:off x="8339328" y="5541264"/>
            <a:ext cx="3163824" cy="667512"/>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Each model's threshold for each clause type was chosen on 81 training contracts kept aside, never on the test set.</a:t>
            </a:r>
            <a:endParaRPr lang="en-US" sz="1550" dirty="0"/>
          </a:p>
        </p:txBody>
      </p:sp>
      <p:sp>
        <p:nvSpPr>
          <p:cNvPr id="59" name="Text 57"/>
          <p:cNvSpPr txBox="1"/>
          <p:nvPr/>
        </p:nvSpPr>
        <p:spPr>
          <a:xfrm>
            <a:off x="548640" y="5943600"/>
            <a:ext cx="7315200" cy="457200"/>
          </a:xfrm>
          <a:prstGeom prst="rect">
            <a:avLst/>
          </a:prstGeom>
          <a:noFill/>
          <a:ln/>
        </p:spPr>
        <p:txBody>
          <a:bodyPr wrap="square" rtlCol="0" anchor="ctr"/>
          <a:lstStyle/>
          <a:p>
            <a:pPr indent="0" marL="0">
              <a:buNone/>
            </a:pPr>
            <a:r>
              <a:rPr lang="en-US" sz="1500" i="1" dirty="0">
                <a:solidFill>
                  <a:srgbClr val="374151"/>
                </a:solidFill>
                <a:latin typeface="Calibri" pitchFamily="34" charset="0"/>
                <a:ea typeface="Calibri" pitchFamily="34" charset="-122"/>
                <a:cs typeface="Calibri" pitchFamily="34" charset="-120"/>
              </a:rPr>
              <a:t>We checked first: a “search first” design could reach at most 64% of clauses, so we read every window instead.</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548640" y="109728"/>
            <a:ext cx="2286000" cy="301752"/>
          </a:xfrm>
          <a:prstGeom prst="roundRect">
            <a:avLst>
              <a:gd name="adj" fmla="val 45455"/>
            </a:avLst>
          </a:prstGeom>
          <a:solidFill>
            <a:srgbClr val="CADCFC"/>
          </a:solidFill>
          <a:ln w="12700">
            <a:solidFill>
              <a:srgbClr val="CADCFC"/>
            </a:solidFill>
            <a:prstDash val="solid"/>
          </a:ln>
        </p:spPr>
      </p:sp>
      <p:sp>
        <p:nvSpPr>
          <p:cNvPr id="3" name="Text 1"/>
          <p:cNvSpPr txBox="1"/>
          <p:nvPr/>
        </p:nvSpPr>
        <p:spPr>
          <a:xfrm>
            <a:off x="548640" y="109728"/>
            <a:ext cx="2286000" cy="301752"/>
          </a:xfrm>
          <a:prstGeom prst="rect">
            <a:avLst/>
          </a:prstGeom>
          <a:noFill/>
          <a:ln/>
        </p:spPr>
        <p:txBody>
          <a:bodyPr wrap="square" lIns="0" tIns="0" rIns="0" bIns="0" rtlCol="0" anchor="ctr"/>
          <a:lstStyle/>
          <a:p>
            <a:pPr algn="ctr" indent="0" marL="0">
              <a:buNone/>
            </a:pPr>
            <a:r>
              <a:rPr lang="en-US" sz="1450" b="1" dirty="0">
                <a:solidFill>
                  <a:srgbClr val="1E2761"/>
                </a:solidFill>
                <a:latin typeface="Calibri" pitchFamily="34" charset="0"/>
                <a:ea typeface="Calibri" pitchFamily="34" charset="-122"/>
                <a:cs typeface="Calibri" pitchFamily="34" charset="-120"/>
              </a:rPr>
              <a:t>PIPELINE</a:t>
            </a:r>
            <a:endParaRPr lang="en-US" sz="1450" dirty="0"/>
          </a:p>
        </p:txBody>
      </p:sp>
      <p:sp>
        <p:nvSpPr>
          <p:cNvPr id="4" name="Text 2"/>
          <p:cNvSpPr txBox="1"/>
          <p:nvPr/>
        </p:nvSpPr>
        <p:spPr>
          <a:xfrm>
            <a:off x="563728" y="329184"/>
            <a:ext cx="11064240" cy="676656"/>
          </a:xfrm>
          <a:prstGeom prst="rect">
            <a:avLst/>
          </a:prstGeom>
          <a:noFill/>
          <a:ln/>
        </p:spPr>
        <p:txBody>
          <a:bodyPr wrap="square" rtlCol="0" anchor="ctr"/>
          <a:lstStyle/>
          <a:p>
            <a:pPr algn="ctr" indent="0" marL="0">
              <a:buNone/>
            </a:pPr>
            <a:r>
              <a:rPr lang="en-US" sz="3500" b="1" dirty="0">
                <a:solidFill>
                  <a:srgbClr val="141B3D"/>
                </a:solidFill>
                <a:latin typeface="Cambria" pitchFamily="34" charset="0"/>
                <a:ea typeface="Cambria" pitchFamily="34" charset="-122"/>
                <a:cs typeface="Cambria" pitchFamily="34" charset="-120"/>
              </a:rPr>
              <a:t>How we set the risk level</a:t>
            </a:r>
            <a:endParaRPr lang="en-US" sz="3500" dirty="0"/>
          </a:p>
        </p:txBody>
      </p:sp>
      <p:sp>
        <p:nvSpPr>
          <p:cNvPr id="5" name="Text 3"/>
          <p:cNvSpPr txBox="1"/>
          <p:nvPr/>
        </p:nvSpPr>
        <p:spPr>
          <a:xfrm>
            <a:off x="563728" y="1024128"/>
            <a:ext cx="11064240" cy="347472"/>
          </a:xfrm>
          <a:prstGeom prst="rect">
            <a:avLst/>
          </a:prstGeom>
          <a:noFill/>
          <a:ln/>
        </p:spPr>
        <p:txBody>
          <a:bodyPr wrap="square" rtlCol="0" anchor="ctr"/>
          <a:lstStyle/>
          <a:p>
            <a:pPr algn="ctr" indent="0" marL="0">
              <a:buNone/>
            </a:pPr>
            <a:r>
              <a:rPr lang="en-US" sz="1700" i="1" dirty="0">
                <a:solidFill>
                  <a:srgbClr val="6B7280"/>
                </a:solidFill>
                <a:latin typeface="Calibri" pitchFamily="34" charset="0"/>
                <a:ea typeface="Calibri" pitchFamily="34" charset="-122"/>
                <a:cs typeface="Calibri" pitchFamily="34" charset="-120"/>
              </a:rPr>
              <a:t>One fixed level for each of the 41 clause types, from the weaker side's point of view</a:t>
            </a:r>
            <a:endParaRPr lang="en-US" sz="1700" dirty="0"/>
          </a:p>
        </p:txBody>
      </p:sp>
      <p:sp>
        <p:nvSpPr>
          <p:cNvPr id="7" name="Text 4"/>
          <p:cNvSpPr txBox="1"/>
          <p:nvPr/>
        </p:nvSpPr>
        <p:spPr>
          <a:xfrm>
            <a:off x="548640" y="4041648"/>
            <a:ext cx="6949440" cy="274320"/>
          </a:xfrm>
          <a:prstGeom prst="rect">
            <a:avLst/>
          </a:prstGeom>
          <a:noFill/>
          <a:ln/>
        </p:spPr>
        <p:txBody>
          <a:bodyPr wrap="square" lIns="0" tIns="0" rIns="0" bIns="0" rtlCol="0" anchor="ctr"/>
          <a:lstStyle/>
          <a:p>
            <a:pPr algn="ctr" indent="0" marL="0">
              <a:buNone/>
            </a:pPr>
            <a:r>
              <a:rPr lang="en-US" sz="1400" i="1" dirty="0">
                <a:solidFill>
                  <a:srgbClr val="6B7280"/>
                </a:solidFill>
                <a:latin typeface="Calibri" pitchFamily="34" charset="0"/>
                <a:ea typeface="Calibri" pitchFamily="34" charset="-122"/>
                <a:cs typeface="Calibri" pitchFamily="34" charset="-120"/>
              </a:rPr>
              <a:t>Number of clause types at each risk level (full list in Appendix A)</a:t>
            </a:r>
            <a:endParaRPr lang="en-US" sz="1400" dirty="0"/>
          </a:p>
        </p:txBody>
      </p:sp>
      <p:sp>
        <p:nvSpPr>
          <p:cNvPr id="8" name="Shape 5"/>
          <p:cNvSpPr/>
          <p:nvPr/>
        </p:nvSpPr>
        <p:spPr>
          <a:xfrm>
            <a:off x="7772400" y="1371600"/>
            <a:ext cx="3931920" cy="1325880"/>
          </a:xfrm>
          <a:prstGeom prst="roundRect">
            <a:avLst>
              <a:gd name="adj" fmla="val 4828"/>
            </a:avLst>
          </a:prstGeom>
          <a:solidFill>
            <a:srgbClr val="F6F7FB"/>
          </a:solidFill>
          <a:ln w="12700">
            <a:solidFill>
              <a:srgbClr val="E4E7F2"/>
            </a:solidFill>
            <a:prstDash val="solid"/>
          </a:ln>
        </p:spPr>
      </p:sp>
      <p:sp>
        <p:nvSpPr>
          <p:cNvPr id="9" name="Shape 6"/>
          <p:cNvSpPr/>
          <p:nvPr/>
        </p:nvSpPr>
        <p:spPr>
          <a:xfrm>
            <a:off x="7955280" y="1545336"/>
            <a:ext cx="256032" cy="256032"/>
          </a:xfrm>
          <a:prstGeom prst="ellipse">
            <a:avLst/>
          </a:prstGeom>
          <a:solidFill>
            <a:srgbClr val="D94F5C"/>
          </a:solidFill>
          <a:ln w="12700">
            <a:solidFill>
              <a:srgbClr val="D94F5C"/>
            </a:solidFill>
            <a:prstDash val="solid"/>
          </a:ln>
        </p:spPr>
      </p:sp>
      <p:sp>
        <p:nvSpPr>
          <p:cNvPr id="10" name="Text 7"/>
          <p:cNvSpPr txBox="1"/>
          <p:nvPr/>
        </p:nvSpPr>
        <p:spPr>
          <a:xfrm>
            <a:off x="8302752" y="1481328"/>
            <a:ext cx="3246120" cy="310896"/>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Five questions for each type</a:t>
            </a:r>
            <a:endParaRPr lang="en-US" sz="1650" dirty="0"/>
          </a:p>
        </p:txBody>
      </p:sp>
      <p:sp>
        <p:nvSpPr>
          <p:cNvPr id="11" name="Text 8"/>
          <p:cNvSpPr txBox="1"/>
          <p:nvPr/>
        </p:nvSpPr>
        <p:spPr>
          <a:xfrm>
            <a:off x="7973568" y="1883664"/>
            <a:ext cx="3529584" cy="667512"/>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Can it cost money? Can it be undone? Does it limit you later? Is it one-sided? Does it last after the contract?</a:t>
            </a:r>
            <a:endParaRPr lang="en-US" sz="1550" dirty="0"/>
          </a:p>
        </p:txBody>
      </p:sp>
      <p:sp>
        <p:nvSpPr>
          <p:cNvPr id="12" name="Shape 9"/>
          <p:cNvSpPr/>
          <p:nvPr/>
        </p:nvSpPr>
        <p:spPr>
          <a:xfrm>
            <a:off x="7772400" y="2816352"/>
            <a:ext cx="3931920" cy="1353312"/>
          </a:xfrm>
          <a:prstGeom prst="roundRect">
            <a:avLst>
              <a:gd name="adj" fmla="val 4730"/>
            </a:avLst>
          </a:prstGeom>
          <a:solidFill>
            <a:srgbClr val="F6F7FB"/>
          </a:solidFill>
          <a:ln w="12700">
            <a:solidFill>
              <a:srgbClr val="E4E7F2"/>
            </a:solidFill>
            <a:prstDash val="solid"/>
          </a:ln>
        </p:spPr>
      </p:sp>
      <p:sp>
        <p:nvSpPr>
          <p:cNvPr id="13" name="Shape 10"/>
          <p:cNvSpPr/>
          <p:nvPr/>
        </p:nvSpPr>
        <p:spPr>
          <a:xfrm>
            <a:off x="7955280" y="2990088"/>
            <a:ext cx="256032" cy="256032"/>
          </a:xfrm>
          <a:prstGeom prst="ellipse">
            <a:avLst/>
          </a:prstGeom>
          <a:solidFill>
            <a:srgbClr val="E8A13A"/>
          </a:solidFill>
          <a:ln w="12700">
            <a:solidFill>
              <a:srgbClr val="E8A13A"/>
            </a:solidFill>
            <a:prstDash val="solid"/>
          </a:ln>
        </p:spPr>
      </p:sp>
      <p:sp>
        <p:nvSpPr>
          <p:cNvPr id="14" name="Text 11"/>
          <p:cNvSpPr txBox="1"/>
          <p:nvPr/>
        </p:nvSpPr>
        <p:spPr>
          <a:xfrm>
            <a:off x="8302752" y="2926080"/>
            <a:ext cx="3246120" cy="310896"/>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The rule</a:t>
            </a:r>
            <a:endParaRPr lang="en-US" sz="1650" dirty="0"/>
          </a:p>
        </p:txBody>
      </p:sp>
      <p:sp>
        <p:nvSpPr>
          <p:cNvPr id="15" name="Text 12"/>
          <p:cNvSpPr txBox="1"/>
          <p:nvPr/>
        </p:nvSpPr>
        <p:spPr>
          <a:xfrm>
            <a:off x="7973568" y="3328416"/>
            <a:ext cx="3529584" cy="694944"/>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High: no money limit, cannot be undone, or limits you later. Low: only records a fact. Medium: the rest.</a:t>
            </a:r>
            <a:endParaRPr lang="en-US" sz="1550" dirty="0"/>
          </a:p>
        </p:txBody>
      </p:sp>
      <p:sp>
        <p:nvSpPr>
          <p:cNvPr id="16" name="Shape 13"/>
          <p:cNvSpPr/>
          <p:nvPr/>
        </p:nvSpPr>
        <p:spPr>
          <a:xfrm>
            <a:off x="548640" y="4370832"/>
            <a:ext cx="11155680" cy="1353312"/>
          </a:xfrm>
          <a:prstGeom prst="roundRect">
            <a:avLst>
              <a:gd name="adj" fmla="val 4730"/>
            </a:avLst>
          </a:prstGeom>
          <a:solidFill>
            <a:srgbClr val="F6F7FB"/>
          </a:solidFill>
          <a:ln w="12700">
            <a:solidFill>
              <a:srgbClr val="E4E7F2"/>
            </a:solidFill>
            <a:prstDash val="solid"/>
          </a:ln>
        </p:spPr>
      </p:sp>
      <p:sp>
        <p:nvSpPr>
          <p:cNvPr id="17" name="Shape 14"/>
          <p:cNvSpPr/>
          <p:nvPr/>
        </p:nvSpPr>
        <p:spPr>
          <a:xfrm>
            <a:off x="731520" y="4544568"/>
            <a:ext cx="256032" cy="256032"/>
          </a:xfrm>
          <a:prstGeom prst="ellipse">
            <a:avLst/>
          </a:prstGeom>
          <a:solidFill>
            <a:srgbClr val="4CAF82"/>
          </a:solidFill>
          <a:ln w="12700">
            <a:solidFill>
              <a:srgbClr val="4CAF82"/>
            </a:solidFill>
            <a:prstDash val="solid"/>
          </a:ln>
        </p:spPr>
      </p:sp>
      <p:sp>
        <p:nvSpPr>
          <p:cNvPr id="18" name="Text 15"/>
          <p:cNvSpPr txBox="1"/>
          <p:nvPr/>
        </p:nvSpPr>
        <p:spPr>
          <a:xfrm>
            <a:off x="1078992" y="4480560"/>
            <a:ext cx="10469880" cy="310896"/>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Examples (the app shows a one-line reason for each)</a:t>
            </a:r>
            <a:endParaRPr lang="en-US" sz="1650" dirty="0"/>
          </a:p>
        </p:txBody>
      </p:sp>
      <p:sp>
        <p:nvSpPr>
          <p:cNvPr id="19" name="Text 16"/>
          <p:cNvSpPr txBox="1"/>
          <p:nvPr/>
        </p:nvSpPr>
        <p:spPr>
          <a:xfrm>
            <a:off x="749808" y="4882896"/>
            <a:ext cx="10753344" cy="694944"/>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High: Uncapped Liability, Liquidated Damages, IP Ownership Assignment, Non-Compete. Medium: Cap on Liability, Anti-Assignment, Renewal Term. Low: Parties, Agreement Date, Governing Law.</a:t>
            </a:r>
            <a:endParaRPr lang="en-US" sz="1550" dirty="0"/>
          </a:p>
        </p:txBody>
      </p:sp>
      <p:sp>
        <p:nvSpPr>
          <p:cNvPr id="20" name="Text 17"/>
          <p:cNvSpPr txBox="1"/>
          <p:nvPr/>
        </p:nvSpPr>
        <p:spPr>
          <a:xfrm>
            <a:off x="548640" y="5870448"/>
            <a:ext cx="11155680" cy="566928"/>
          </a:xfrm>
          <a:prstGeom prst="rect">
            <a:avLst/>
          </a:prstGeom>
          <a:noFill/>
          <a:ln/>
        </p:spPr>
        <p:txBody>
          <a:bodyPr wrap="square" rtlCol="0" anchor="ctr"/>
          <a:lstStyle/>
          <a:p>
            <a:pPr indent="0" marL="0">
              <a:buNone/>
            </a:pPr>
            <a:r>
              <a:rPr lang="en-US" sz="1450" i="1" dirty="0">
                <a:solidFill>
                  <a:srgbClr val="374151"/>
                </a:solidFill>
                <a:latin typeface="Calibri" pitchFamily="34" charset="0"/>
                <a:ea typeface="Calibri" pitchFamily="34" charset="-122"/>
                <a:cs typeface="Calibri" pitchFamily="34" charset="-120"/>
              </a:rPr>
              <a:t>The “weaker side” is the party with less say over the wording, usually the one who did not write the contract. A fixed table is easy to check and never changes by itself.</a:t>
            </a:r>
            <a:endParaRPr lang="en-US" sz="1450" dirty="0"/>
          </a:p>
        </p:txBody>
      </p:sp>
      <p:graphicFrame>
        <p:nvGraphicFramePr>
          <p:cNvPr id="21" name="Chart 20"/>
          <p:cNvGraphicFramePr>
            <a:graphicFrameLocks noGrp="1"/>
          </p:cNvGraphicFramePr>
          <p:nvPr/>
        </p:nvGraphicFramePr>
        <p:xfrm>
          <a:off x="548640" y="1371600"/>
          <a:ext cx="6949440" cy="2651760"/>
        </p:xfrm>
        <a:graphic>
          <a:graphicData uri="http://schemas.openxmlformats.org/drawingml/2006/chart">
            <c:chart xmlns:c="http://schemas.openxmlformats.org/drawingml/2006/chart" r:id="rId4"/>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548640" y="109728"/>
            <a:ext cx="2286000" cy="301752"/>
          </a:xfrm>
          <a:prstGeom prst="roundRect">
            <a:avLst>
              <a:gd name="adj" fmla="val 45455"/>
            </a:avLst>
          </a:prstGeom>
          <a:solidFill>
            <a:srgbClr val="CADCFC"/>
          </a:solidFill>
          <a:ln w="12700">
            <a:solidFill>
              <a:srgbClr val="CADCFC"/>
            </a:solidFill>
            <a:prstDash val="solid"/>
          </a:ln>
        </p:spPr>
      </p:sp>
      <p:sp>
        <p:nvSpPr>
          <p:cNvPr id="3" name="Text 1"/>
          <p:cNvSpPr txBox="1"/>
          <p:nvPr/>
        </p:nvSpPr>
        <p:spPr>
          <a:xfrm>
            <a:off x="548640" y="109728"/>
            <a:ext cx="2286000" cy="301752"/>
          </a:xfrm>
          <a:prstGeom prst="rect">
            <a:avLst/>
          </a:prstGeom>
          <a:noFill/>
          <a:ln/>
        </p:spPr>
        <p:txBody>
          <a:bodyPr wrap="square" lIns="0" tIns="0" rIns="0" bIns="0" rtlCol="0" anchor="ctr"/>
          <a:lstStyle/>
          <a:p>
            <a:pPr algn="ctr" indent="0" marL="0">
              <a:buNone/>
            </a:pPr>
            <a:r>
              <a:rPr lang="en-US" sz="1450" b="1" dirty="0">
                <a:solidFill>
                  <a:srgbClr val="1E2761"/>
                </a:solidFill>
                <a:latin typeface="Calibri" pitchFamily="34" charset="0"/>
                <a:ea typeface="Calibri" pitchFamily="34" charset="-122"/>
                <a:cs typeface="Calibri" pitchFamily="34" charset="-120"/>
              </a:rPr>
              <a:t>TRAINING</a:t>
            </a:r>
            <a:endParaRPr lang="en-US" sz="1450" dirty="0"/>
          </a:p>
        </p:txBody>
      </p:sp>
      <p:sp>
        <p:nvSpPr>
          <p:cNvPr id="4" name="Text 2"/>
          <p:cNvSpPr txBox="1"/>
          <p:nvPr/>
        </p:nvSpPr>
        <p:spPr>
          <a:xfrm>
            <a:off x="563728" y="329184"/>
            <a:ext cx="11064240" cy="676656"/>
          </a:xfrm>
          <a:prstGeom prst="rect">
            <a:avLst/>
          </a:prstGeom>
          <a:noFill/>
          <a:ln/>
        </p:spPr>
        <p:txBody>
          <a:bodyPr wrap="square" rtlCol="0" anchor="ctr"/>
          <a:lstStyle/>
          <a:p>
            <a:pPr algn="ctr" indent="0" marL="0">
              <a:buNone/>
            </a:pPr>
            <a:r>
              <a:rPr lang="en-US" sz="3500" b="1" dirty="0">
                <a:solidFill>
                  <a:srgbClr val="141B3D"/>
                </a:solidFill>
                <a:latin typeface="Cambria" pitchFamily="34" charset="0"/>
                <a:ea typeface="Cambria" pitchFamily="34" charset="-122"/>
                <a:cs typeface="Cambria" pitchFamily="34" charset="-120"/>
              </a:rPr>
              <a:t>How we trained the models</a:t>
            </a:r>
            <a:endParaRPr lang="en-US" sz="3500" dirty="0"/>
          </a:p>
        </p:txBody>
      </p:sp>
      <p:sp>
        <p:nvSpPr>
          <p:cNvPr id="5" name="Text 3"/>
          <p:cNvSpPr txBox="1"/>
          <p:nvPr/>
        </p:nvSpPr>
        <p:spPr>
          <a:xfrm>
            <a:off x="563728" y="1024128"/>
            <a:ext cx="11064240" cy="347472"/>
          </a:xfrm>
          <a:prstGeom prst="rect">
            <a:avLst/>
          </a:prstGeom>
          <a:noFill/>
          <a:ln/>
        </p:spPr>
        <p:txBody>
          <a:bodyPr wrap="square" rtlCol="0" anchor="ctr"/>
          <a:lstStyle/>
          <a:p>
            <a:pPr algn="ctr" indent="0" marL="0">
              <a:buNone/>
            </a:pPr>
            <a:r>
              <a:rPr lang="en-US" sz="1700" i="1" dirty="0">
                <a:solidFill>
                  <a:srgbClr val="6B7280"/>
                </a:solidFill>
                <a:latin typeface="Calibri" pitchFamily="34" charset="0"/>
                <a:ea typeface="Calibri" pitchFamily="34" charset="-122"/>
                <a:cs typeface="Calibri" pitchFamily="34" charset="-120"/>
              </a:rPr>
              <a:t>One Apple laptop, standard settings, and the same 80/20 split for every model</a:t>
            </a:r>
            <a:endParaRPr lang="en-US" sz="1700" dirty="0"/>
          </a:p>
        </p:txBody>
      </p:sp>
      <p:sp>
        <p:nvSpPr>
          <p:cNvPr id="6" name="Shape 4"/>
          <p:cNvSpPr/>
          <p:nvPr/>
        </p:nvSpPr>
        <p:spPr>
          <a:xfrm>
            <a:off x="548640" y="1371600"/>
            <a:ext cx="6675120" cy="512064"/>
          </a:xfrm>
          <a:prstGeom prst="rect">
            <a:avLst/>
          </a:prstGeom>
          <a:solidFill>
            <a:srgbClr val="F6F7FB"/>
          </a:solidFill>
          <a:ln w="12700">
            <a:solidFill>
              <a:srgbClr val="E4E7F2"/>
            </a:solidFill>
            <a:prstDash val="solid"/>
          </a:ln>
        </p:spPr>
      </p:sp>
      <p:sp>
        <p:nvSpPr>
          <p:cNvPr id="7" name="Shape 5"/>
          <p:cNvSpPr/>
          <p:nvPr/>
        </p:nvSpPr>
        <p:spPr>
          <a:xfrm>
            <a:off x="713232" y="1499616"/>
            <a:ext cx="256032" cy="256032"/>
          </a:xfrm>
          <a:prstGeom prst="ellipse">
            <a:avLst/>
          </a:prstGeom>
          <a:solidFill>
            <a:srgbClr val="1E2761"/>
          </a:solidFill>
          <a:ln w="12700">
            <a:solidFill>
              <a:srgbClr val="1E2761"/>
            </a:solidFill>
            <a:prstDash val="solid"/>
          </a:ln>
        </p:spPr>
      </p:sp>
      <p:sp>
        <p:nvSpPr>
          <p:cNvPr id="8" name="Text 6"/>
          <p:cNvSpPr txBox="1"/>
          <p:nvPr/>
        </p:nvSpPr>
        <p:spPr>
          <a:xfrm>
            <a:off x="1078992" y="1371600"/>
            <a:ext cx="1463040" cy="512064"/>
          </a:xfrm>
          <a:prstGeom prst="rect">
            <a:avLst/>
          </a:prstGeom>
          <a:noFill/>
          <a:ln/>
        </p:spPr>
        <p:txBody>
          <a:bodyPr wrap="square" lIns="0" tIns="0" rIns="0" bIns="0" rtlCol="0" anchor="ctr"/>
          <a:lstStyle/>
          <a:p>
            <a:pPr indent="0" marL="0">
              <a:buNone/>
            </a:pPr>
            <a:r>
              <a:rPr lang="en-US" sz="1450" b="1" dirty="0">
                <a:solidFill>
                  <a:srgbClr val="141B3D"/>
                </a:solidFill>
                <a:latin typeface="Calibri" pitchFamily="34" charset="0"/>
                <a:ea typeface="Calibri" pitchFamily="34" charset="-122"/>
                <a:cs typeface="Calibri" pitchFamily="34" charset="-120"/>
              </a:rPr>
              <a:t>Find clauses</a:t>
            </a:r>
            <a:endParaRPr lang="en-US" sz="1450" dirty="0"/>
          </a:p>
        </p:txBody>
      </p:sp>
      <p:sp>
        <p:nvSpPr>
          <p:cNvPr id="9" name="Text 7"/>
          <p:cNvSpPr txBox="1"/>
          <p:nvPr/>
        </p:nvSpPr>
        <p:spPr>
          <a:xfrm>
            <a:off x="2514600" y="1371600"/>
            <a:ext cx="3749040" cy="512064"/>
          </a:xfrm>
          <a:prstGeom prst="rect">
            <a:avLst/>
          </a:prstGeom>
          <a:noFill/>
          <a:ln/>
        </p:spPr>
        <p:txBody>
          <a:bodyPr wrap="square" lIns="0" tIns="0" rIns="0" bIns="0" rtlCol="0" anchor="ctr"/>
          <a:lstStyle/>
          <a:p>
            <a:pPr indent="0" marL="0">
              <a:buNone/>
            </a:pPr>
            <a:r>
              <a:rPr lang="en-US" sz="1450" dirty="0">
                <a:solidFill>
                  <a:srgbClr val="374151"/>
                </a:solidFill>
                <a:latin typeface="Calibri" pitchFamily="34" charset="0"/>
                <a:ea typeface="Calibri" pitchFamily="34" charset="-122"/>
                <a:cs typeface="Calibri" pitchFamily="34" charset="-120"/>
              </a:rPr>
              <a:t>DistilBERT · 24,000 windows · 512 tokens</a:t>
            </a:r>
            <a:endParaRPr lang="en-US" sz="1450" dirty="0"/>
          </a:p>
        </p:txBody>
      </p:sp>
      <p:sp>
        <p:nvSpPr>
          <p:cNvPr id="10" name="Text 8"/>
          <p:cNvSpPr txBox="1"/>
          <p:nvPr/>
        </p:nvSpPr>
        <p:spPr>
          <a:xfrm>
            <a:off x="6263640" y="1371600"/>
            <a:ext cx="868680" cy="512064"/>
          </a:xfrm>
          <a:prstGeom prst="rect">
            <a:avLst/>
          </a:prstGeom>
          <a:noFill/>
          <a:ln/>
        </p:spPr>
        <p:txBody>
          <a:bodyPr wrap="square" lIns="0" tIns="0" rIns="0" bIns="0" rtlCol="0" anchor="ctr"/>
          <a:lstStyle/>
          <a:p>
            <a:pPr indent="0" marL="0">
              <a:buNone/>
            </a:pPr>
            <a:r>
              <a:rPr lang="en-US" sz="1550" b="1" dirty="0">
                <a:solidFill>
                  <a:srgbClr val="141B3D"/>
                </a:solidFill>
                <a:latin typeface="Cambria" pitchFamily="34" charset="0"/>
                <a:ea typeface="Cambria" pitchFamily="34" charset="-122"/>
                <a:cs typeface="Cambria" pitchFamily="34" charset="-120"/>
              </a:rPr>
              <a:t>≈3 h</a:t>
            </a:r>
            <a:endParaRPr lang="en-US" sz="1550" dirty="0"/>
          </a:p>
        </p:txBody>
      </p:sp>
      <p:sp>
        <p:nvSpPr>
          <p:cNvPr id="11" name="Shape 9"/>
          <p:cNvSpPr/>
          <p:nvPr/>
        </p:nvSpPr>
        <p:spPr>
          <a:xfrm>
            <a:off x="548640" y="1938528"/>
            <a:ext cx="6675120" cy="512064"/>
          </a:xfrm>
          <a:prstGeom prst="rect">
            <a:avLst/>
          </a:prstGeom>
          <a:solidFill>
            <a:srgbClr val="FFFFFF"/>
          </a:solidFill>
          <a:ln w="12700">
            <a:solidFill>
              <a:srgbClr val="E4E7F2"/>
            </a:solidFill>
            <a:prstDash val="solid"/>
          </a:ln>
        </p:spPr>
      </p:sp>
      <p:sp>
        <p:nvSpPr>
          <p:cNvPr id="12" name="Shape 10"/>
          <p:cNvSpPr/>
          <p:nvPr/>
        </p:nvSpPr>
        <p:spPr>
          <a:xfrm>
            <a:off x="713232" y="2066544"/>
            <a:ext cx="256032" cy="256032"/>
          </a:xfrm>
          <a:prstGeom prst="ellipse">
            <a:avLst/>
          </a:prstGeom>
          <a:solidFill>
            <a:srgbClr val="1E2761"/>
          </a:solidFill>
          <a:ln w="12700">
            <a:solidFill>
              <a:srgbClr val="1E2761"/>
            </a:solidFill>
            <a:prstDash val="solid"/>
          </a:ln>
        </p:spPr>
      </p:sp>
      <p:sp>
        <p:nvSpPr>
          <p:cNvPr id="13" name="Text 11"/>
          <p:cNvSpPr txBox="1"/>
          <p:nvPr/>
        </p:nvSpPr>
        <p:spPr>
          <a:xfrm>
            <a:off x="1078992" y="1938528"/>
            <a:ext cx="1463040" cy="512064"/>
          </a:xfrm>
          <a:prstGeom prst="rect">
            <a:avLst/>
          </a:prstGeom>
          <a:noFill/>
          <a:ln/>
        </p:spPr>
        <p:txBody>
          <a:bodyPr wrap="square" lIns="0" tIns="0" rIns="0" bIns="0" rtlCol="0" anchor="ctr"/>
          <a:lstStyle/>
          <a:p>
            <a:pPr indent="0" marL="0">
              <a:buNone/>
            </a:pPr>
            <a:r>
              <a:rPr lang="en-US" sz="1450" b="1" dirty="0">
                <a:solidFill>
                  <a:srgbClr val="141B3D"/>
                </a:solidFill>
                <a:latin typeface="Calibri" pitchFamily="34" charset="0"/>
                <a:ea typeface="Calibri" pitchFamily="34" charset="-122"/>
                <a:cs typeface="Calibri" pitchFamily="34" charset="-120"/>
              </a:rPr>
              <a:t>Find text</a:t>
            </a:r>
            <a:endParaRPr lang="en-US" sz="1450" dirty="0"/>
          </a:p>
        </p:txBody>
      </p:sp>
      <p:sp>
        <p:nvSpPr>
          <p:cNvPr id="14" name="Text 12"/>
          <p:cNvSpPr txBox="1"/>
          <p:nvPr/>
        </p:nvSpPr>
        <p:spPr>
          <a:xfrm>
            <a:off x="2514600" y="1938528"/>
            <a:ext cx="3749040" cy="512064"/>
          </a:xfrm>
          <a:prstGeom prst="rect">
            <a:avLst/>
          </a:prstGeom>
          <a:noFill/>
          <a:ln/>
        </p:spPr>
        <p:txBody>
          <a:bodyPr wrap="square" lIns="0" tIns="0" rIns="0" bIns="0" rtlCol="0" anchor="ctr"/>
          <a:lstStyle/>
          <a:p>
            <a:pPr indent="0" marL="0">
              <a:buNone/>
            </a:pPr>
            <a:r>
              <a:rPr lang="en-US" sz="1450" dirty="0">
                <a:solidFill>
                  <a:srgbClr val="374151"/>
                </a:solidFill>
                <a:latin typeface="Calibri" pitchFamily="34" charset="0"/>
                <a:ea typeface="Calibri" pitchFamily="34" charset="-122"/>
                <a:cs typeface="Calibri" pitchFamily="34" charset="-120"/>
              </a:rPr>
              <a:t>DistilBERT-QA · 8,000 examples</a:t>
            </a:r>
            <a:endParaRPr lang="en-US" sz="1450" dirty="0"/>
          </a:p>
        </p:txBody>
      </p:sp>
      <p:sp>
        <p:nvSpPr>
          <p:cNvPr id="15" name="Text 13"/>
          <p:cNvSpPr txBox="1"/>
          <p:nvPr/>
        </p:nvSpPr>
        <p:spPr>
          <a:xfrm>
            <a:off x="6263640" y="1938528"/>
            <a:ext cx="868680" cy="512064"/>
          </a:xfrm>
          <a:prstGeom prst="rect">
            <a:avLst/>
          </a:prstGeom>
          <a:noFill/>
          <a:ln/>
        </p:spPr>
        <p:txBody>
          <a:bodyPr wrap="square" lIns="0" tIns="0" rIns="0" bIns="0" rtlCol="0" anchor="ctr"/>
          <a:lstStyle/>
          <a:p>
            <a:pPr indent="0" marL="0">
              <a:buNone/>
            </a:pPr>
            <a:r>
              <a:rPr lang="en-US" sz="1550" b="1" dirty="0">
                <a:solidFill>
                  <a:srgbClr val="141B3D"/>
                </a:solidFill>
                <a:latin typeface="Cambria" pitchFamily="34" charset="0"/>
                <a:ea typeface="Cambria" pitchFamily="34" charset="-122"/>
                <a:cs typeface="Cambria" pitchFamily="34" charset="-120"/>
              </a:rPr>
              <a:t>≈26 min</a:t>
            </a:r>
            <a:endParaRPr lang="en-US" sz="1550" dirty="0"/>
          </a:p>
        </p:txBody>
      </p:sp>
      <p:sp>
        <p:nvSpPr>
          <p:cNvPr id="16" name="Shape 14"/>
          <p:cNvSpPr/>
          <p:nvPr/>
        </p:nvSpPr>
        <p:spPr>
          <a:xfrm>
            <a:off x="548640" y="2505456"/>
            <a:ext cx="6675120" cy="512064"/>
          </a:xfrm>
          <a:prstGeom prst="rect">
            <a:avLst/>
          </a:prstGeom>
          <a:solidFill>
            <a:srgbClr val="F6F7FB"/>
          </a:solidFill>
          <a:ln w="12700">
            <a:solidFill>
              <a:srgbClr val="E4E7F2"/>
            </a:solidFill>
            <a:prstDash val="solid"/>
          </a:ln>
        </p:spPr>
      </p:sp>
      <p:sp>
        <p:nvSpPr>
          <p:cNvPr id="17" name="Shape 15"/>
          <p:cNvSpPr/>
          <p:nvPr/>
        </p:nvSpPr>
        <p:spPr>
          <a:xfrm>
            <a:off x="713232" y="2633472"/>
            <a:ext cx="256032" cy="256032"/>
          </a:xfrm>
          <a:prstGeom prst="ellipse">
            <a:avLst/>
          </a:prstGeom>
          <a:solidFill>
            <a:srgbClr val="E8A13A"/>
          </a:solidFill>
          <a:ln w="12700">
            <a:solidFill>
              <a:srgbClr val="E8A13A"/>
            </a:solidFill>
            <a:prstDash val="solid"/>
          </a:ln>
        </p:spPr>
      </p:sp>
      <p:sp>
        <p:nvSpPr>
          <p:cNvPr id="18" name="Text 16"/>
          <p:cNvSpPr txBox="1"/>
          <p:nvPr/>
        </p:nvSpPr>
        <p:spPr>
          <a:xfrm>
            <a:off x="1078992" y="2505456"/>
            <a:ext cx="1463040" cy="512064"/>
          </a:xfrm>
          <a:prstGeom prst="rect">
            <a:avLst/>
          </a:prstGeom>
          <a:noFill/>
          <a:ln/>
        </p:spPr>
        <p:txBody>
          <a:bodyPr wrap="square" lIns="0" tIns="0" rIns="0" bIns="0" rtlCol="0" anchor="ctr"/>
          <a:lstStyle/>
          <a:p>
            <a:pPr indent="0" marL="0">
              <a:buNone/>
            </a:pPr>
            <a:r>
              <a:rPr lang="en-US" sz="1450" b="1" dirty="0">
                <a:solidFill>
                  <a:srgbClr val="141B3D"/>
                </a:solidFill>
                <a:latin typeface="Calibri" pitchFamily="34" charset="0"/>
                <a:ea typeface="Calibri" pitchFamily="34" charset="-122"/>
                <a:cs typeface="Calibri" pitchFamily="34" charset="-120"/>
              </a:rPr>
              <a:t>Explain</a:t>
            </a:r>
            <a:endParaRPr lang="en-US" sz="1450" dirty="0"/>
          </a:p>
        </p:txBody>
      </p:sp>
      <p:sp>
        <p:nvSpPr>
          <p:cNvPr id="19" name="Text 17"/>
          <p:cNvSpPr txBox="1"/>
          <p:nvPr/>
        </p:nvSpPr>
        <p:spPr>
          <a:xfrm>
            <a:off x="2514600" y="2505456"/>
            <a:ext cx="3749040" cy="512064"/>
          </a:xfrm>
          <a:prstGeom prst="rect">
            <a:avLst/>
          </a:prstGeom>
          <a:noFill/>
          <a:ln/>
        </p:spPr>
        <p:txBody>
          <a:bodyPr wrap="square" lIns="0" tIns="0" rIns="0" bIns="0" rtlCol="0" anchor="ctr"/>
          <a:lstStyle/>
          <a:p>
            <a:pPr indent="0" marL="0">
              <a:buNone/>
            </a:pPr>
            <a:r>
              <a:rPr lang="en-US" sz="1450" dirty="0">
                <a:solidFill>
                  <a:srgbClr val="374151"/>
                </a:solidFill>
                <a:latin typeface="Calibri" pitchFamily="34" charset="0"/>
                <a:ea typeface="Calibri" pitchFamily="34" charset="-122"/>
                <a:cs typeface="Calibri" pitchFamily="34" charset="-120"/>
              </a:rPr>
              <a:t>FLAN-T5-small · 4,000 examples</a:t>
            </a:r>
            <a:endParaRPr lang="en-US" sz="1450" dirty="0"/>
          </a:p>
        </p:txBody>
      </p:sp>
      <p:sp>
        <p:nvSpPr>
          <p:cNvPr id="20" name="Text 18"/>
          <p:cNvSpPr txBox="1"/>
          <p:nvPr/>
        </p:nvSpPr>
        <p:spPr>
          <a:xfrm>
            <a:off x="6263640" y="2505456"/>
            <a:ext cx="868680" cy="512064"/>
          </a:xfrm>
          <a:prstGeom prst="rect">
            <a:avLst/>
          </a:prstGeom>
          <a:noFill/>
          <a:ln/>
        </p:spPr>
        <p:txBody>
          <a:bodyPr wrap="square" lIns="0" tIns="0" rIns="0" bIns="0" rtlCol="0" anchor="ctr"/>
          <a:lstStyle/>
          <a:p>
            <a:pPr indent="0" marL="0">
              <a:buNone/>
            </a:pPr>
            <a:r>
              <a:rPr lang="en-US" sz="1550" b="1" dirty="0">
                <a:solidFill>
                  <a:srgbClr val="141B3D"/>
                </a:solidFill>
                <a:latin typeface="Cambria" pitchFamily="34" charset="0"/>
                <a:ea typeface="Cambria" pitchFamily="34" charset="-122"/>
                <a:cs typeface="Cambria" pitchFamily="34" charset="-120"/>
              </a:rPr>
              <a:t>≈13 min</a:t>
            </a:r>
            <a:endParaRPr lang="en-US" sz="1550" dirty="0"/>
          </a:p>
        </p:txBody>
      </p:sp>
      <p:pic>
        <p:nvPicPr>
          <p:cNvPr id="21" name="Image 0" descr="fig/lr_schedule.png">    </p:cNvPr>
          <p:cNvPicPr>
            <a:picLocks noChangeAspect="1"/>
          </p:cNvPicPr>
          <p:nvPr/>
        </p:nvPicPr>
        <p:blipFill>
          <a:blip r:embed="rId1"/>
          <a:stretch>
            <a:fillRect/>
          </a:stretch>
        </p:blipFill>
        <p:spPr>
          <a:xfrm>
            <a:off x="548640" y="3200400"/>
            <a:ext cx="6675120" cy="1883664"/>
          </a:xfrm>
          <a:prstGeom prst="rect">
            <a:avLst/>
          </a:prstGeom>
        </p:spPr>
      </p:pic>
      <p:sp>
        <p:nvSpPr>
          <p:cNvPr id="22" name="Text 19"/>
          <p:cNvSpPr txBox="1"/>
          <p:nvPr/>
        </p:nvSpPr>
        <p:spPr>
          <a:xfrm>
            <a:off x="548640" y="5102352"/>
            <a:ext cx="6675120" cy="274320"/>
          </a:xfrm>
          <a:prstGeom prst="rect">
            <a:avLst/>
          </a:prstGeom>
          <a:noFill/>
          <a:ln/>
        </p:spPr>
        <p:txBody>
          <a:bodyPr wrap="square" lIns="0" tIns="0" rIns="0" bIns="0" rtlCol="0" anchor="ctr"/>
          <a:lstStyle/>
          <a:p>
            <a:pPr algn="ctr" indent="0" marL="0">
              <a:buNone/>
            </a:pPr>
            <a:r>
              <a:rPr lang="en-US" sz="1400" i="1" dirty="0">
                <a:solidFill>
                  <a:srgbClr val="6B7280"/>
                </a:solidFill>
                <a:latin typeface="Calibri" pitchFamily="34" charset="0"/>
                <a:ea typeface="Calibri" pitchFamily="34" charset="-122"/>
                <a:cs typeface="Calibri" pitchFamily="34" charset="-120"/>
              </a:rPr>
              <a:t>The learning rate starts high and falls steadily (Fig. 4.9)</a:t>
            </a:r>
            <a:endParaRPr lang="en-US" sz="1400" dirty="0"/>
          </a:p>
        </p:txBody>
      </p:sp>
      <p:sp>
        <p:nvSpPr>
          <p:cNvPr id="23" name="Text 20"/>
          <p:cNvSpPr txBox="1"/>
          <p:nvPr/>
        </p:nvSpPr>
        <p:spPr>
          <a:xfrm>
            <a:off x="548640" y="5349240"/>
            <a:ext cx="6675120" cy="685800"/>
          </a:xfrm>
          <a:prstGeom prst="rect">
            <a:avLst/>
          </a:prstGeom>
          <a:noFill/>
          <a:ln/>
        </p:spPr>
        <p:txBody>
          <a:bodyPr wrap="square" rtlCol="0" anchor="ctr"/>
          <a:lstStyle/>
          <a:p>
            <a:pPr indent="0" marL="0">
              <a:buNone/>
            </a:pPr>
            <a:r>
              <a:rPr lang="en-US" sz="1500" i="1" dirty="0">
                <a:solidFill>
                  <a:srgbClr val="374151"/>
                </a:solidFill>
                <a:latin typeface="Calibri" pitchFamily="34" charset="0"/>
                <a:ea typeface="Calibri" pitchFamily="34" charset="-122"/>
                <a:cs typeface="Calibri" pitchFamily="34" charset="-120"/>
              </a:rPr>
              <a:t>Apple M4 laptop with 16 GB memory and no NVIDIA GPU. The clause finder reads all 512 tokens of each window, and we kept the best of three passes over the data.</a:t>
            </a:r>
            <a:endParaRPr lang="en-US" sz="1500" dirty="0"/>
          </a:p>
        </p:txBody>
      </p:sp>
      <p:sp>
        <p:nvSpPr>
          <p:cNvPr id="24" name="Shape 21"/>
          <p:cNvSpPr/>
          <p:nvPr/>
        </p:nvSpPr>
        <p:spPr>
          <a:xfrm>
            <a:off x="7498080" y="1371600"/>
            <a:ext cx="4206240" cy="1481328"/>
          </a:xfrm>
          <a:prstGeom prst="roundRect">
            <a:avLst>
              <a:gd name="adj" fmla="val 4321"/>
            </a:avLst>
          </a:prstGeom>
          <a:solidFill>
            <a:srgbClr val="F6F7FB"/>
          </a:solidFill>
          <a:ln w="12700">
            <a:solidFill>
              <a:srgbClr val="E4E7F2"/>
            </a:solidFill>
            <a:prstDash val="solid"/>
          </a:ln>
        </p:spPr>
      </p:sp>
      <p:sp>
        <p:nvSpPr>
          <p:cNvPr id="25" name="Shape 22"/>
          <p:cNvSpPr/>
          <p:nvPr/>
        </p:nvSpPr>
        <p:spPr>
          <a:xfrm>
            <a:off x="7680960" y="1545336"/>
            <a:ext cx="256032" cy="256032"/>
          </a:xfrm>
          <a:prstGeom prst="ellipse">
            <a:avLst/>
          </a:prstGeom>
          <a:solidFill>
            <a:srgbClr val="4CAF82"/>
          </a:solidFill>
          <a:ln w="12700">
            <a:solidFill>
              <a:srgbClr val="4CAF82"/>
            </a:solidFill>
            <a:prstDash val="solid"/>
          </a:ln>
        </p:spPr>
      </p:sp>
      <p:sp>
        <p:nvSpPr>
          <p:cNvPr id="26" name="Text 23"/>
          <p:cNvSpPr txBox="1"/>
          <p:nvPr/>
        </p:nvSpPr>
        <p:spPr>
          <a:xfrm>
            <a:off x="8028432" y="1481328"/>
            <a:ext cx="3520440" cy="310896"/>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Simple model first</a:t>
            </a:r>
            <a:endParaRPr lang="en-US" sz="1650" dirty="0"/>
          </a:p>
        </p:txBody>
      </p:sp>
      <p:sp>
        <p:nvSpPr>
          <p:cNvPr id="27" name="Text 24"/>
          <p:cNvSpPr txBox="1"/>
          <p:nvPr/>
        </p:nvSpPr>
        <p:spPr>
          <a:xfrm>
            <a:off x="7699248" y="1883664"/>
            <a:ext cx="3803904" cy="82296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A word-count model (TF-IDF) with one classifier for each clause type. It trains in under a minute and scores 0.775, or 0.785 once tuned.</a:t>
            </a:r>
            <a:endParaRPr lang="en-US" sz="1550" dirty="0"/>
          </a:p>
        </p:txBody>
      </p:sp>
      <p:sp>
        <p:nvSpPr>
          <p:cNvPr id="28" name="Shape 25"/>
          <p:cNvSpPr/>
          <p:nvPr/>
        </p:nvSpPr>
        <p:spPr>
          <a:xfrm>
            <a:off x="7498080" y="2971800"/>
            <a:ext cx="4206240" cy="1481328"/>
          </a:xfrm>
          <a:prstGeom prst="roundRect">
            <a:avLst>
              <a:gd name="adj" fmla="val 4321"/>
            </a:avLst>
          </a:prstGeom>
          <a:solidFill>
            <a:srgbClr val="F6F7FB"/>
          </a:solidFill>
          <a:ln w="12700">
            <a:solidFill>
              <a:srgbClr val="E4E7F2"/>
            </a:solidFill>
            <a:prstDash val="solid"/>
          </a:ln>
        </p:spPr>
      </p:sp>
      <p:sp>
        <p:nvSpPr>
          <p:cNvPr id="29" name="Shape 26"/>
          <p:cNvSpPr/>
          <p:nvPr/>
        </p:nvSpPr>
        <p:spPr>
          <a:xfrm>
            <a:off x="7680960" y="3145536"/>
            <a:ext cx="256032" cy="256032"/>
          </a:xfrm>
          <a:prstGeom prst="ellipse">
            <a:avLst/>
          </a:prstGeom>
          <a:solidFill>
            <a:srgbClr val="4CAF82"/>
          </a:solidFill>
          <a:ln w="12700">
            <a:solidFill>
              <a:srgbClr val="4CAF82"/>
            </a:solidFill>
            <a:prstDash val="solid"/>
          </a:ln>
        </p:spPr>
      </p:sp>
      <p:sp>
        <p:nvSpPr>
          <p:cNvPr id="30" name="Text 27"/>
          <p:cNvSpPr txBox="1"/>
          <p:nvPr/>
        </p:nvSpPr>
        <p:spPr>
          <a:xfrm>
            <a:off x="8028432" y="3081528"/>
            <a:ext cx="3520440" cy="310896"/>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Training went well</a:t>
            </a:r>
            <a:endParaRPr lang="en-US" sz="1650" dirty="0"/>
          </a:p>
        </p:txBody>
      </p:sp>
      <p:sp>
        <p:nvSpPr>
          <p:cNvPr id="31" name="Text 28"/>
          <p:cNvSpPr txBox="1"/>
          <p:nvPr/>
        </p:nvSpPr>
        <p:spPr>
          <a:xfrm>
            <a:off x="7699248" y="3483864"/>
            <a:ext cx="3803904" cy="82296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The held-back loss was lowest after the second of three passes (0.245), so we kept that pass and the model did not just memorise.</a:t>
            </a:r>
            <a:endParaRPr lang="en-US" sz="1550" dirty="0"/>
          </a:p>
        </p:txBody>
      </p:sp>
      <p:sp>
        <p:nvSpPr>
          <p:cNvPr id="32" name="Shape 29"/>
          <p:cNvSpPr/>
          <p:nvPr/>
        </p:nvSpPr>
        <p:spPr>
          <a:xfrm>
            <a:off x="7498080" y="4517136"/>
            <a:ext cx="4206240" cy="1783080"/>
          </a:xfrm>
          <a:prstGeom prst="roundRect">
            <a:avLst>
              <a:gd name="adj" fmla="val 3590"/>
            </a:avLst>
          </a:prstGeom>
          <a:solidFill>
            <a:srgbClr val="F6F7FB"/>
          </a:solidFill>
          <a:ln w="12700">
            <a:solidFill>
              <a:srgbClr val="E4E7F2"/>
            </a:solidFill>
            <a:prstDash val="solid"/>
          </a:ln>
        </p:spPr>
      </p:sp>
      <p:sp>
        <p:nvSpPr>
          <p:cNvPr id="33" name="Shape 30"/>
          <p:cNvSpPr/>
          <p:nvPr/>
        </p:nvSpPr>
        <p:spPr>
          <a:xfrm>
            <a:off x="7680960" y="4690872"/>
            <a:ext cx="256032" cy="256032"/>
          </a:xfrm>
          <a:prstGeom prst="ellipse">
            <a:avLst/>
          </a:prstGeom>
          <a:solidFill>
            <a:srgbClr val="1E2761"/>
          </a:solidFill>
          <a:ln w="12700">
            <a:solidFill>
              <a:srgbClr val="1E2761"/>
            </a:solidFill>
            <a:prstDash val="solid"/>
          </a:ln>
        </p:spPr>
      </p:sp>
      <p:sp>
        <p:nvSpPr>
          <p:cNvPr id="34" name="Text 31"/>
          <p:cNvSpPr txBox="1"/>
          <p:nvPr/>
        </p:nvSpPr>
        <p:spPr>
          <a:xfrm>
            <a:off x="8028432" y="4626864"/>
            <a:ext cx="3520440" cy="310896"/>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No peeking at the test set</a:t>
            </a:r>
            <a:endParaRPr lang="en-US" sz="1650" dirty="0"/>
          </a:p>
        </p:txBody>
      </p:sp>
      <p:sp>
        <p:nvSpPr>
          <p:cNvPr id="35" name="Text 32"/>
          <p:cNvSpPr txBox="1"/>
          <p:nvPr/>
        </p:nvSpPr>
        <p:spPr>
          <a:xfrm>
            <a:off x="7699248" y="5029200"/>
            <a:ext cx="3803904" cy="1124712"/>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We kept 81 training contracts aside and chose every setting on them. The 102 test contracts were scored once, at the end.</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548640" y="109728"/>
            <a:ext cx="2286000" cy="301752"/>
          </a:xfrm>
          <a:prstGeom prst="roundRect">
            <a:avLst>
              <a:gd name="adj" fmla="val 45455"/>
            </a:avLst>
          </a:prstGeom>
          <a:solidFill>
            <a:srgbClr val="D94F5C"/>
          </a:solidFill>
          <a:ln w="12700">
            <a:solidFill>
              <a:srgbClr val="D94F5C"/>
            </a:solidFill>
            <a:prstDash val="solid"/>
          </a:ln>
        </p:spPr>
      </p:sp>
      <p:sp>
        <p:nvSpPr>
          <p:cNvPr id="3" name="Text 1"/>
          <p:cNvSpPr txBox="1"/>
          <p:nvPr/>
        </p:nvSpPr>
        <p:spPr>
          <a:xfrm>
            <a:off x="548640" y="109728"/>
            <a:ext cx="2286000" cy="301752"/>
          </a:xfrm>
          <a:prstGeom prst="rect">
            <a:avLst/>
          </a:prstGeom>
          <a:noFill/>
          <a:ln/>
        </p:spPr>
        <p:txBody>
          <a:bodyPr wrap="square" lIns="0" tIns="0" rIns="0" bIns="0" rtlCol="0" anchor="ctr"/>
          <a:lstStyle/>
          <a:p>
            <a:pPr algn="ctr" indent="0" marL="0">
              <a:buNone/>
            </a:pPr>
            <a:r>
              <a:rPr lang="en-US" sz="1450" b="1" dirty="0">
                <a:solidFill>
                  <a:srgbClr val="FFFFFF"/>
                </a:solidFill>
                <a:latin typeface="Calibri" pitchFamily="34" charset="0"/>
                <a:ea typeface="Calibri" pitchFamily="34" charset="-122"/>
                <a:cs typeface="Calibri" pitchFamily="34" charset="-120"/>
              </a:rPr>
              <a:t>PROBLEMS</a:t>
            </a:r>
            <a:endParaRPr lang="en-US" sz="1450" dirty="0"/>
          </a:p>
        </p:txBody>
      </p:sp>
      <p:sp>
        <p:nvSpPr>
          <p:cNvPr id="4" name="Text 2"/>
          <p:cNvSpPr txBox="1"/>
          <p:nvPr/>
        </p:nvSpPr>
        <p:spPr>
          <a:xfrm>
            <a:off x="563728" y="329184"/>
            <a:ext cx="11064240" cy="676656"/>
          </a:xfrm>
          <a:prstGeom prst="rect">
            <a:avLst/>
          </a:prstGeom>
          <a:noFill/>
          <a:ln/>
        </p:spPr>
        <p:txBody>
          <a:bodyPr wrap="square" rtlCol="0" anchor="ctr"/>
          <a:lstStyle/>
          <a:p>
            <a:pPr algn="ctr" indent="0" marL="0">
              <a:buNone/>
            </a:pPr>
            <a:r>
              <a:rPr lang="en-US" sz="3500" b="1" dirty="0">
                <a:solidFill>
                  <a:srgbClr val="141B3D"/>
                </a:solidFill>
                <a:latin typeface="Cambria" pitchFamily="34" charset="0"/>
                <a:ea typeface="Cambria" pitchFamily="34" charset="-122"/>
                <a:cs typeface="Cambria" pitchFamily="34" charset="-120"/>
              </a:rPr>
              <a:t>Problems we met while building the models</a:t>
            </a:r>
            <a:endParaRPr lang="en-US" sz="3500" dirty="0"/>
          </a:p>
        </p:txBody>
      </p:sp>
      <p:sp>
        <p:nvSpPr>
          <p:cNvPr id="5" name="Text 3"/>
          <p:cNvSpPr txBox="1"/>
          <p:nvPr/>
        </p:nvSpPr>
        <p:spPr>
          <a:xfrm>
            <a:off x="563728" y="1024128"/>
            <a:ext cx="11064240" cy="347472"/>
          </a:xfrm>
          <a:prstGeom prst="rect">
            <a:avLst/>
          </a:prstGeom>
          <a:noFill/>
          <a:ln/>
        </p:spPr>
        <p:txBody>
          <a:bodyPr wrap="square" rtlCol="0" anchor="ctr"/>
          <a:lstStyle/>
          <a:p>
            <a:pPr algn="ctr" indent="0" marL="0">
              <a:buNone/>
            </a:pPr>
            <a:r>
              <a:rPr lang="en-US" sz="1700" i="1" dirty="0">
                <a:solidFill>
                  <a:srgbClr val="6B7280"/>
                </a:solidFill>
                <a:latin typeface="Calibri" pitchFamily="34" charset="0"/>
                <a:ea typeface="Calibri" pitchFamily="34" charset="-122"/>
                <a:cs typeface="Calibri" pitchFamily="34" charset="-120"/>
              </a:rPr>
              <a:t>What went wrong, and how we fixed it</a:t>
            </a:r>
            <a:endParaRPr lang="en-US" sz="1700" dirty="0"/>
          </a:p>
        </p:txBody>
      </p:sp>
      <p:sp>
        <p:nvSpPr>
          <p:cNvPr id="6" name="Shape 4"/>
          <p:cNvSpPr/>
          <p:nvPr/>
        </p:nvSpPr>
        <p:spPr>
          <a:xfrm>
            <a:off x="548640" y="1554480"/>
            <a:ext cx="11155680" cy="1197864"/>
          </a:xfrm>
          <a:prstGeom prst="roundRect">
            <a:avLst>
              <a:gd name="adj" fmla="val 4580"/>
            </a:avLst>
          </a:prstGeom>
          <a:solidFill>
            <a:srgbClr val="F6F7FB"/>
          </a:solidFill>
          <a:ln w="12700">
            <a:solidFill>
              <a:srgbClr val="E4E7F2"/>
            </a:solidFill>
            <a:prstDash val="solid"/>
          </a:ln>
        </p:spPr>
      </p:sp>
      <p:sp>
        <p:nvSpPr>
          <p:cNvPr id="7" name="Shape 5"/>
          <p:cNvSpPr/>
          <p:nvPr/>
        </p:nvSpPr>
        <p:spPr>
          <a:xfrm>
            <a:off x="777240" y="2002536"/>
            <a:ext cx="310896" cy="310896"/>
          </a:xfrm>
          <a:prstGeom prst="ellipse">
            <a:avLst/>
          </a:prstGeom>
          <a:solidFill>
            <a:srgbClr val="D94F5C"/>
          </a:solidFill>
          <a:ln w="12700">
            <a:solidFill>
              <a:srgbClr val="D94F5C"/>
            </a:solidFill>
            <a:prstDash val="solid"/>
          </a:ln>
        </p:spPr>
      </p:sp>
      <p:sp>
        <p:nvSpPr>
          <p:cNvPr id="8" name="Text 6"/>
          <p:cNvSpPr txBox="1"/>
          <p:nvPr/>
        </p:nvSpPr>
        <p:spPr>
          <a:xfrm>
            <a:off x="1234440" y="1673352"/>
            <a:ext cx="4480560" cy="960120"/>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Contracts are too long for the model</a:t>
            </a:r>
            <a:endParaRPr lang="en-US" sz="1650" dirty="0"/>
          </a:p>
        </p:txBody>
      </p:sp>
      <p:sp>
        <p:nvSpPr>
          <p:cNvPr id="9" name="Text 7"/>
          <p:cNvSpPr txBox="1"/>
          <p:nvPr/>
        </p:nvSpPr>
        <p:spPr>
          <a:xfrm>
            <a:off x="5897880" y="1673352"/>
            <a:ext cx="5623560" cy="96012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A normal contract is 16 times longer than the model can read at once. We read it in overlapping windows and keep the highest score.</a:t>
            </a:r>
            <a:endParaRPr lang="en-US" sz="1550" dirty="0"/>
          </a:p>
        </p:txBody>
      </p:sp>
      <p:sp>
        <p:nvSpPr>
          <p:cNvPr id="10" name="Shape 8"/>
          <p:cNvSpPr/>
          <p:nvPr/>
        </p:nvSpPr>
        <p:spPr>
          <a:xfrm>
            <a:off x="548640" y="2852928"/>
            <a:ext cx="11155680" cy="1197864"/>
          </a:xfrm>
          <a:prstGeom prst="roundRect">
            <a:avLst>
              <a:gd name="adj" fmla="val 4580"/>
            </a:avLst>
          </a:prstGeom>
          <a:solidFill>
            <a:srgbClr val="F6F7FB"/>
          </a:solidFill>
          <a:ln w="12700">
            <a:solidFill>
              <a:srgbClr val="E4E7F2"/>
            </a:solidFill>
            <a:prstDash val="solid"/>
          </a:ln>
        </p:spPr>
      </p:sp>
      <p:sp>
        <p:nvSpPr>
          <p:cNvPr id="11" name="Shape 9"/>
          <p:cNvSpPr/>
          <p:nvPr/>
        </p:nvSpPr>
        <p:spPr>
          <a:xfrm>
            <a:off x="777240" y="3300984"/>
            <a:ext cx="310896" cy="310896"/>
          </a:xfrm>
          <a:prstGeom prst="ellipse">
            <a:avLst/>
          </a:prstGeom>
          <a:solidFill>
            <a:srgbClr val="D94F5C"/>
          </a:solidFill>
          <a:ln w="12700">
            <a:solidFill>
              <a:srgbClr val="D94F5C"/>
            </a:solidFill>
            <a:prstDash val="solid"/>
          </a:ln>
        </p:spPr>
      </p:sp>
      <p:sp>
        <p:nvSpPr>
          <p:cNvPr id="12" name="Text 10"/>
          <p:cNvSpPr txBox="1"/>
          <p:nvPr/>
        </p:nvSpPr>
        <p:spPr>
          <a:xfrm>
            <a:off x="1234440" y="2971800"/>
            <a:ext cx="4480560" cy="960120"/>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The first model crashed on the Mac</a:t>
            </a:r>
            <a:endParaRPr lang="en-US" sz="1650" dirty="0"/>
          </a:p>
        </p:txBody>
      </p:sp>
      <p:sp>
        <p:nvSpPr>
          <p:cNvPr id="13" name="Text 11"/>
          <p:cNvSpPr txBox="1"/>
          <p:nvPr/>
        </p:nvSpPr>
        <p:spPr>
          <a:xfrm>
            <a:off x="5897880" y="2971800"/>
            <a:ext cx="5623560" cy="96012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DeBERTa-v3 failed on the Mac's graphics chip and was very slow on the CPU, so we switched to the smaller DistilBERT.</a:t>
            </a:r>
            <a:endParaRPr lang="en-US" sz="1550" dirty="0"/>
          </a:p>
        </p:txBody>
      </p:sp>
      <p:sp>
        <p:nvSpPr>
          <p:cNvPr id="14" name="Shape 12"/>
          <p:cNvSpPr/>
          <p:nvPr/>
        </p:nvSpPr>
        <p:spPr>
          <a:xfrm>
            <a:off x="548640" y="4151376"/>
            <a:ext cx="11155680" cy="1197864"/>
          </a:xfrm>
          <a:prstGeom prst="roundRect">
            <a:avLst>
              <a:gd name="adj" fmla="val 4580"/>
            </a:avLst>
          </a:prstGeom>
          <a:solidFill>
            <a:srgbClr val="F6F7FB"/>
          </a:solidFill>
          <a:ln w="12700">
            <a:solidFill>
              <a:srgbClr val="E4E7F2"/>
            </a:solidFill>
            <a:prstDash val="solid"/>
          </a:ln>
        </p:spPr>
      </p:sp>
      <p:sp>
        <p:nvSpPr>
          <p:cNvPr id="15" name="Shape 13"/>
          <p:cNvSpPr/>
          <p:nvPr/>
        </p:nvSpPr>
        <p:spPr>
          <a:xfrm>
            <a:off x="777240" y="4599432"/>
            <a:ext cx="310896" cy="310896"/>
          </a:xfrm>
          <a:prstGeom prst="ellipse">
            <a:avLst/>
          </a:prstGeom>
          <a:solidFill>
            <a:srgbClr val="D94F5C"/>
          </a:solidFill>
          <a:ln w="12700">
            <a:solidFill>
              <a:srgbClr val="D94F5C"/>
            </a:solidFill>
            <a:prstDash val="solid"/>
          </a:ln>
        </p:spPr>
      </p:sp>
      <p:sp>
        <p:nvSpPr>
          <p:cNvPr id="16" name="Text 14"/>
          <p:cNvSpPr txBox="1"/>
          <p:nvPr/>
        </p:nvSpPr>
        <p:spPr>
          <a:xfrm>
            <a:off x="1234440" y="4270248"/>
            <a:ext cx="4480560" cy="960120"/>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The model read only half of each window</a:t>
            </a:r>
            <a:endParaRPr lang="en-US" sz="1650" dirty="0"/>
          </a:p>
        </p:txBody>
      </p:sp>
      <p:sp>
        <p:nvSpPr>
          <p:cNvPr id="17" name="Text 15"/>
          <p:cNvSpPr txBox="1"/>
          <p:nvPr/>
        </p:nvSpPr>
        <p:spPr>
          <a:xfrm>
            <a:off x="5897880" y="4270248"/>
            <a:ext cx="5623560" cy="96012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At 256 tokens it saw about 1,000 of 2,000 characters, and 23% of its examples were about text it never read. 512 tokens fixed this.</a:t>
            </a:r>
            <a:endParaRPr lang="en-US" sz="1550" dirty="0"/>
          </a:p>
        </p:txBody>
      </p:sp>
      <p:sp>
        <p:nvSpPr>
          <p:cNvPr id="18" name="Shape 16"/>
          <p:cNvSpPr/>
          <p:nvPr/>
        </p:nvSpPr>
        <p:spPr>
          <a:xfrm>
            <a:off x="548640" y="5449824"/>
            <a:ext cx="11155680" cy="1197864"/>
          </a:xfrm>
          <a:prstGeom prst="roundRect">
            <a:avLst>
              <a:gd name="adj" fmla="val 4580"/>
            </a:avLst>
          </a:prstGeom>
          <a:solidFill>
            <a:srgbClr val="F6F7FB"/>
          </a:solidFill>
          <a:ln w="12700">
            <a:solidFill>
              <a:srgbClr val="E4E7F2"/>
            </a:solidFill>
            <a:prstDash val="solid"/>
          </a:ln>
        </p:spPr>
      </p:sp>
      <p:sp>
        <p:nvSpPr>
          <p:cNvPr id="19" name="Shape 17"/>
          <p:cNvSpPr/>
          <p:nvPr/>
        </p:nvSpPr>
        <p:spPr>
          <a:xfrm>
            <a:off x="777240" y="5897880"/>
            <a:ext cx="310896" cy="310896"/>
          </a:xfrm>
          <a:prstGeom prst="ellipse">
            <a:avLst/>
          </a:prstGeom>
          <a:solidFill>
            <a:srgbClr val="D94F5C"/>
          </a:solidFill>
          <a:ln w="12700">
            <a:solidFill>
              <a:srgbClr val="D94F5C"/>
            </a:solidFill>
            <a:prstDash val="solid"/>
          </a:ln>
        </p:spPr>
      </p:sp>
      <p:sp>
        <p:nvSpPr>
          <p:cNvPr id="20" name="Text 18"/>
          <p:cNvSpPr txBox="1"/>
          <p:nvPr/>
        </p:nvSpPr>
        <p:spPr>
          <a:xfrm>
            <a:off x="1234440" y="5568696"/>
            <a:ext cx="4480560" cy="960120"/>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No simple-English examples in CUAD</a:t>
            </a:r>
            <a:endParaRPr lang="en-US" sz="1650" dirty="0"/>
          </a:p>
        </p:txBody>
      </p:sp>
      <p:sp>
        <p:nvSpPr>
          <p:cNvPr id="21" name="Text 19"/>
          <p:cNvSpPr txBox="1"/>
          <p:nvPr/>
        </p:nvSpPr>
        <p:spPr>
          <a:xfrm>
            <a:off x="5897880" y="5568696"/>
            <a:ext cx="5623560" cy="96012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We wrote 41 one-line explanations ourselves, one for each clause type, and trained FLAN-T5 on them.</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548640" y="109728"/>
            <a:ext cx="2286000" cy="301752"/>
          </a:xfrm>
          <a:prstGeom prst="roundRect">
            <a:avLst>
              <a:gd name="adj" fmla="val 45455"/>
            </a:avLst>
          </a:prstGeom>
          <a:solidFill>
            <a:srgbClr val="D94F5C"/>
          </a:solidFill>
          <a:ln w="12700">
            <a:solidFill>
              <a:srgbClr val="D94F5C"/>
            </a:solidFill>
            <a:prstDash val="solid"/>
          </a:ln>
        </p:spPr>
      </p:sp>
      <p:sp>
        <p:nvSpPr>
          <p:cNvPr id="3" name="Text 1"/>
          <p:cNvSpPr txBox="1"/>
          <p:nvPr/>
        </p:nvSpPr>
        <p:spPr>
          <a:xfrm>
            <a:off x="548640" y="109728"/>
            <a:ext cx="2286000" cy="301752"/>
          </a:xfrm>
          <a:prstGeom prst="rect">
            <a:avLst/>
          </a:prstGeom>
          <a:noFill/>
          <a:ln/>
        </p:spPr>
        <p:txBody>
          <a:bodyPr wrap="square" lIns="0" tIns="0" rIns="0" bIns="0" rtlCol="0" anchor="ctr"/>
          <a:lstStyle/>
          <a:p>
            <a:pPr algn="ctr" indent="0" marL="0">
              <a:buNone/>
            </a:pPr>
            <a:r>
              <a:rPr lang="en-US" sz="1450" b="1" dirty="0">
                <a:solidFill>
                  <a:srgbClr val="FFFFFF"/>
                </a:solidFill>
                <a:latin typeface="Calibri" pitchFamily="34" charset="0"/>
                <a:ea typeface="Calibri" pitchFamily="34" charset="-122"/>
                <a:cs typeface="Calibri" pitchFamily="34" charset="-120"/>
              </a:rPr>
              <a:t>PROBLEMS</a:t>
            </a:r>
            <a:endParaRPr lang="en-US" sz="1450" dirty="0"/>
          </a:p>
        </p:txBody>
      </p:sp>
      <p:sp>
        <p:nvSpPr>
          <p:cNvPr id="4" name="Text 2"/>
          <p:cNvSpPr txBox="1"/>
          <p:nvPr/>
        </p:nvSpPr>
        <p:spPr>
          <a:xfrm>
            <a:off x="563728" y="329184"/>
            <a:ext cx="11064240" cy="676656"/>
          </a:xfrm>
          <a:prstGeom prst="rect">
            <a:avLst/>
          </a:prstGeom>
          <a:noFill/>
          <a:ln/>
        </p:spPr>
        <p:txBody>
          <a:bodyPr wrap="square" rtlCol="0" anchor="ctr"/>
          <a:lstStyle/>
          <a:p>
            <a:pPr algn="ctr" indent="0" marL="0">
              <a:buNone/>
            </a:pPr>
            <a:r>
              <a:rPr lang="en-US" sz="3500" b="1" dirty="0">
                <a:solidFill>
                  <a:srgbClr val="141B3D"/>
                </a:solidFill>
                <a:latin typeface="Cambria" pitchFamily="34" charset="0"/>
                <a:ea typeface="Cambria" pitchFamily="34" charset="-122"/>
                <a:cs typeface="Cambria" pitchFamily="34" charset="-120"/>
              </a:rPr>
              <a:t>Problems we met while building the app</a:t>
            </a:r>
            <a:endParaRPr lang="en-US" sz="3500" dirty="0"/>
          </a:p>
        </p:txBody>
      </p:sp>
      <p:sp>
        <p:nvSpPr>
          <p:cNvPr id="5" name="Text 3"/>
          <p:cNvSpPr txBox="1"/>
          <p:nvPr/>
        </p:nvSpPr>
        <p:spPr>
          <a:xfrm>
            <a:off x="563728" y="1024128"/>
            <a:ext cx="11064240" cy="347472"/>
          </a:xfrm>
          <a:prstGeom prst="rect">
            <a:avLst/>
          </a:prstGeom>
          <a:noFill/>
          <a:ln/>
        </p:spPr>
        <p:txBody>
          <a:bodyPr wrap="square" rtlCol="0" anchor="ctr"/>
          <a:lstStyle/>
          <a:p>
            <a:pPr algn="ctr" indent="0" marL="0">
              <a:buNone/>
            </a:pPr>
            <a:r>
              <a:rPr lang="en-US" sz="1700" i="1" dirty="0">
                <a:solidFill>
                  <a:srgbClr val="6B7280"/>
                </a:solidFill>
                <a:latin typeface="Calibri" pitchFamily="34" charset="0"/>
                <a:ea typeface="Calibri" pitchFamily="34" charset="-122"/>
                <a:cs typeface="Calibri" pitchFamily="34" charset="-120"/>
              </a:rPr>
              <a:t>Found by testing the app, then fixed and tested again</a:t>
            </a:r>
            <a:endParaRPr lang="en-US" sz="1700" dirty="0"/>
          </a:p>
        </p:txBody>
      </p:sp>
      <p:sp>
        <p:nvSpPr>
          <p:cNvPr id="6" name="Shape 4"/>
          <p:cNvSpPr/>
          <p:nvPr/>
        </p:nvSpPr>
        <p:spPr>
          <a:xfrm>
            <a:off x="548640" y="1554480"/>
            <a:ext cx="11155680" cy="1197864"/>
          </a:xfrm>
          <a:prstGeom prst="roundRect">
            <a:avLst>
              <a:gd name="adj" fmla="val 4580"/>
            </a:avLst>
          </a:prstGeom>
          <a:solidFill>
            <a:srgbClr val="F6F7FB"/>
          </a:solidFill>
          <a:ln w="12700">
            <a:solidFill>
              <a:srgbClr val="E4E7F2"/>
            </a:solidFill>
            <a:prstDash val="solid"/>
          </a:ln>
        </p:spPr>
      </p:sp>
      <p:sp>
        <p:nvSpPr>
          <p:cNvPr id="7" name="Shape 5"/>
          <p:cNvSpPr/>
          <p:nvPr/>
        </p:nvSpPr>
        <p:spPr>
          <a:xfrm>
            <a:off x="777240" y="2002536"/>
            <a:ext cx="310896" cy="310896"/>
          </a:xfrm>
          <a:prstGeom prst="ellipse">
            <a:avLst/>
          </a:prstGeom>
          <a:solidFill>
            <a:srgbClr val="D94F5C"/>
          </a:solidFill>
          <a:ln w="12700">
            <a:solidFill>
              <a:srgbClr val="D94F5C"/>
            </a:solidFill>
            <a:prstDash val="solid"/>
          </a:ln>
        </p:spPr>
      </p:sp>
      <p:sp>
        <p:nvSpPr>
          <p:cNvPr id="8" name="Text 6"/>
          <p:cNvSpPr txBox="1"/>
          <p:nvPr/>
        </p:nvSpPr>
        <p:spPr>
          <a:xfrm>
            <a:off x="1234440" y="1673352"/>
            <a:ext cx="4480560" cy="960120"/>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6 clauses gave 14 cards</a:t>
            </a:r>
            <a:endParaRPr lang="en-US" sz="1650" dirty="0"/>
          </a:p>
        </p:txBody>
      </p:sp>
      <p:sp>
        <p:nvSpPr>
          <p:cNvPr id="9" name="Text 7"/>
          <p:cNvSpPr txBox="1"/>
          <p:nvPr/>
        </p:nvSpPr>
        <p:spPr>
          <a:xfrm>
            <a:off x="5897880" y="1673352"/>
            <a:ext cx="5623560" cy="96012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We added a clause mode: each paragraph gets one clause type and one card. Now 18 numbered clauses give 18 cards.</a:t>
            </a:r>
            <a:endParaRPr lang="en-US" sz="1550" dirty="0"/>
          </a:p>
        </p:txBody>
      </p:sp>
      <p:sp>
        <p:nvSpPr>
          <p:cNvPr id="10" name="Shape 8"/>
          <p:cNvSpPr/>
          <p:nvPr/>
        </p:nvSpPr>
        <p:spPr>
          <a:xfrm>
            <a:off x="548640" y="2852928"/>
            <a:ext cx="11155680" cy="1197864"/>
          </a:xfrm>
          <a:prstGeom prst="roundRect">
            <a:avLst>
              <a:gd name="adj" fmla="val 4580"/>
            </a:avLst>
          </a:prstGeom>
          <a:solidFill>
            <a:srgbClr val="F6F7FB"/>
          </a:solidFill>
          <a:ln w="12700">
            <a:solidFill>
              <a:srgbClr val="E4E7F2"/>
            </a:solidFill>
            <a:prstDash val="solid"/>
          </a:ln>
        </p:spPr>
      </p:sp>
      <p:sp>
        <p:nvSpPr>
          <p:cNvPr id="11" name="Shape 9"/>
          <p:cNvSpPr/>
          <p:nvPr/>
        </p:nvSpPr>
        <p:spPr>
          <a:xfrm>
            <a:off x="777240" y="3300984"/>
            <a:ext cx="310896" cy="310896"/>
          </a:xfrm>
          <a:prstGeom prst="ellipse">
            <a:avLst/>
          </a:prstGeom>
          <a:solidFill>
            <a:srgbClr val="D94F5C"/>
          </a:solidFill>
          <a:ln w="12700">
            <a:solidFill>
              <a:srgbClr val="D94F5C"/>
            </a:solidFill>
            <a:prstDash val="solid"/>
          </a:ln>
        </p:spPr>
      </p:sp>
      <p:sp>
        <p:nvSpPr>
          <p:cNvPr id="12" name="Text 10"/>
          <p:cNvSpPr txBox="1"/>
          <p:nvPr/>
        </p:nvSpPr>
        <p:spPr>
          <a:xfrm>
            <a:off x="1234440" y="2971800"/>
            <a:ext cx="4480560" cy="960120"/>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Scores could not be compared</a:t>
            </a:r>
            <a:endParaRPr lang="en-US" sz="1650" dirty="0"/>
          </a:p>
        </p:txBody>
      </p:sp>
      <p:sp>
        <p:nvSpPr>
          <p:cNvPr id="13" name="Text 11"/>
          <p:cNvSpPr txBox="1"/>
          <p:nvPr/>
        </p:nvSpPr>
        <p:spPr>
          <a:xfrm>
            <a:off x="5897880" y="2971800"/>
            <a:ext cx="5623560" cy="96012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“Parties” scored about 0.98 on almost any text. We adjusted each score using 1,586 training clauses, and correct answers rose from 9.6% to 42.3%.</a:t>
            </a:r>
            <a:endParaRPr lang="en-US" sz="1550" dirty="0"/>
          </a:p>
        </p:txBody>
      </p:sp>
      <p:sp>
        <p:nvSpPr>
          <p:cNvPr id="14" name="Shape 12"/>
          <p:cNvSpPr/>
          <p:nvPr/>
        </p:nvSpPr>
        <p:spPr>
          <a:xfrm>
            <a:off x="548640" y="4151376"/>
            <a:ext cx="11155680" cy="1197864"/>
          </a:xfrm>
          <a:prstGeom prst="roundRect">
            <a:avLst>
              <a:gd name="adj" fmla="val 4580"/>
            </a:avLst>
          </a:prstGeom>
          <a:solidFill>
            <a:srgbClr val="F6F7FB"/>
          </a:solidFill>
          <a:ln w="12700">
            <a:solidFill>
              <a:srgbClr val="E4E7F2"/>
            </a:solidFill>
            <a:prstDash val="solid"/>
          </a:ln>
        </p:spPr>
      </p:sp>
      <p:sp>
        <p:nvSpPr>
          <p:cNvPr id="15" name="Shape 13"/>
          <p:cNvSpPr/>
          <p:nvPr/>
        </p:nvSpPr>
        <p:spPr>
          <a:xfrm>
            <a:off x="777240" y="4599432"/>
            <a:ext cx="310896" cy="310896"/>
          </a:xfrm>
          <a:prstGeom prst="ellipse">
            <a:avLst/>
          </a:prstGeom>
          <a:solidFill>
            <a:srgbClr val="D94F5C"/>
          </a:solidFill>
          <a:ln w="12700">
            <a:solidFill>
              <a:srgbClr val="D94F5C"/>
            </a:solidFill>
            <a:prstDash val="solid"/>
          </a:ln>
        </p:spPr>
      </p:sp>
      <p:sp>
        <p:nvSpPr>
          <p:cNvPr id="16" name="Text 14"/>
          <p:cNvSpPr txBox="1"/>
          <p:nvPr/>
        </p:nvSpPr>
        <p:spPr>
          <a:xfrm>
            <a:off x="1234440" y="4270248"/>
            <a:ext cx="4480560" cy="960120"/>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The quoted text looked the same everywhere</a:t>
            </a:r>
            <a:endParaRPr lang="en-US" sz="1650" dirty="0"/>
          </a:p>
        </p:txBody>
      </p:sp>
      <p:sp>
        <p:nvSpPr>
          <p:cNvPr id="17" name="Text 15"/>
          <p:cNvSpPr txBox="1"/>
          <p:nvPr/>
        </p:nvSpPr>
        <p:spPr>
          <a:xfrm>
            <a:off x="5897880" y="4270248"/>
            <a:ext cx="5623560" cy="96012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Now the first model picks the paragraph, and the text model only highlights the key words inside it.</a:t>
            </a:r>
            <a:endParaRPr lang="en-US" sz="1550" dirty="0"/>
          </a:p>
        </p:txBody>
      </p:sp>
      <p:sp>
        <p:nvSpPr>
          <p:cNvPr id="18" name="Shape 16"/>
          <p:cNvSpPr/>
          <p:nvPr/>
        </p:nvSpPr>
        <p:spPr>
          <a:xfrm>
            <a:off x="548640" y="5449824"/>
            <a:ext cx="11155680" cy="1197864"/>
          </a:xfrm>
          <a:prstGeom prst="roundRect">
            <a:avLst>
              <a:gd name="adj" fmla="val 4580"/>
            </a:avLst>
          </a:prstGeom>
          <a:solidFill>
            <a:srgbClr val="F6F7FB"/>
          </a:solidFill>
          <a:ln w="12700">
            <a:solidFill>
              <a:srgbClr val="E4E7F2"/>
            </a:solidFill>
            <a:prstDash val="solid"/>
          </a:ln>
        </p:spPr>
      </p:sp>
      <p:sp>
        <p:nvSpPr>
          <p:cNvPr id="19" name="Shape 17"/>
          <p:cNvSpPr/>
          <p:nvPr/>
        </p:nvSpPr>
        <p:spPr>
          <a:xfrm>
            <a:off x="777240" y="5897880"/>
            <a:ext cx="310896" cy="310896"/>
          </a:xfrm>
          <a:prstGeom prst="ellipse">
            <a:avLst/>
          </a:prstGeom>
          <a:solidFill>
            <a:srgbClr val="D94F5C"/>
          </a:solidFill>
          <a:ln w="12700">
            <a:solidFill>
              <a:srgbClr val="D94F5C"/>
            </a:solidFill>
            <a:prstDash val="solid"/>
          </a:ln>
        </p:spPr>
      </p:sp>
      <p:sp>
        <p:nvSpPr>
          <p:cNvPr id="20" name="Text 18"/>
          <p:cNvSpPr txBox="1"/>
          <p:nvPr/>
        </p:nvSpPr>
        <p:spPr>
          <a:xfrm>
            <a:off x="1234440" y="5568696"/>
            <a:ext cx="4480560" cy="960120"/>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Long contracts were slow</a:t>
            </a:r>
            <a:endParaRPr lang="en-US" sz="1650" dirty="0"/>
          </a:p>
        </p:txBody>
      </p:sp>
      <p:sp>
        <p:nvSpPr>
          <p:cNvPr id="21" name="Text 19"/>
          <p:cNvSpPr txBox="1"/>
          <p:nvPr/>
        </p:nvSpPr>
        <p:spPr>
          <a:xfrm>
            <a:off x="5897880" y="5568696"/>
            <a:ext cx="5623560" cy="96012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The app reads at most 30 windows (about 45,500 characters), so even the longest test contract takes under two minutes. The app tells the user this.</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548640" y="109728"/>
            <a:ext cx="2286000" cy="301752"/>
          </a:xfrm>
          <a:prstGeom prst="roundRect">
            <a:avLst>
              <a:gd name="adj" fmla="val 45455"/>
            </a:avLst>
          </a:prstGeom>
          <a:solidFill>
            <a:srgbClr val="CADCFC"/>
          </a:solidFill>
          <a:ln w="12700">
            <a:solidFill>
              <a:srgbClr val="CADCFC"/>
            </a:solidFill>
            <a:prstDash val="solid"/>
          </a:ln>
        </p:spPr>
      </p:sp>
      <p:sp>
        <p:nvSpPr>
          <p:cNvPr id="3" name="Text 1"/>
          <p:cNvSpPr txBox="1"/>
          <p:nvPr/>
        </p:nvSpPr>
        <p:spPr>
          <a:xfrm>
            <a:off x="548640" y="109728"/>
            <a:ext cx="2286000" cy="301752"/>
          </a:xfrm>
          <a:prstGeom prst="rect">
            <a:avLst/>
          </a:prstGeom>
          <a:noFill/>
          <a:ln/>
        </p:spPr>
        <p:txBody>
          <a:bodyPr wrap="square" lIns="0" tIns="0" rIns="0" bIns="0" rtlCol="0" anchor="ctr"/>
          <a:lstStyle/>
          <a:p>
            <a:pPr algn="ctr" indent="0" marL="0">
              <a:buNone/>
            </a:pPr>
            <a:r>
              <a:rPr lang="en-US" sz="1450" b="1" dirty="0">
                <a:solidFill>
                  <a:srgbClr val="1E2761"/>
                </a:solidFill>
                <a:latin typeface="Calibri" pitchFamily="34" charset="0"/>
                <a:ea typeface="Calibri" pitchFamily="34" charset="-122"/>
                <a:cs typeface="Calibri" pitchFamily="34" charset="-120"/>
              </a:rPr>
              <a:t>EVALUATION</a:t>
            </a:r>
            <a:endParaRPr lang="en-US" sz="1450" dirty="0"/>
          </a:p>
        </p:txBody>
      </p:sp>
      <p:sp>
        <p:nvSpPr>
          <p:cNvPr id="4" name="Text 2"/>
          <p:cNvSpPr txBox="1"/>
          <p:nvPr/>
        </p:nvSpPr>
        <p:spPr>
          <a:xfrm>
            <a:off x="563728" y="329184"/>
            <a:ext cx="11064240" cy="676656"/>
          </a:xfrm>
          <a:prstGeom prst="rect">
            <a:avLst/>
          </a:prstGeom>
          <a:noFill/>
          <a:ln/>
        </p:spPr>
        <p:txBody>
          <a:bodyPr wrap="square" rtlCol="0" anchor="ctr"/>
          <a:lstStyle/>
          <a:p>
            <a:pPr algn="ctr" indent="0" marL="0">
              <a:buNone/>
            </a:pPr>
            <a:r>
              <a:rPr lang="en-US" sz="3500" b="1" dirty="0">
                <a:solidFill>
                  <a:srgbClr val="141B3D"/>
                </a:solidFill>
                <a:latin typeface="Cambria" pitchFamily="34" charset="0"/>
                <a:ea typeface="Cambria" pitchFamily="34" charset="-122"/>
                <a:cs typeface="Cambria" pitchFamily="34" charset="-120"/>
              </a:rPr>
              <a:t>How we tested</a:t>
            </a:r>
            <a:endParaRPr lang="en-US" sz="3500" dirty="0"/>
          </a:p>
        </p:txBody>
      </p:sp>
      <p:sp>
        <p:nvSpPr>
          <p:cNvPr id="5" name="Text 3"/>
          <p:cNvSpPr txBox="1"/>
          <p:nvPr/>
        </p:nvSpPr>
        <p:spPr>
          <a:xfrm>
            <a:off x="563728" y="1024128"/>
            <a:ext cx="11064240" cy="347472"/>
          </a:xfrm>
          <a:prstGeom prst="rect">
            <a:avLst/>
          </a:prstGeom>
          <a:noFill/>
          <a:ln/>
        </p:spPr>
        <p:txBody>
          <a:bodyPr wrap="square" rtlCol="0" anchor="ctr"/>
          <a:lstStyle/>
          <a:p>
            <a:pPr algn="ctr" indent="0" marL="0">
              <a:buNone/>
            </a:pPr>
            <a:r>
              <a:rPr lang="en-US" sz="1700" i="1" dirty="0">
                <a:solidFill>
                  <a:srgbClr val="6B7280"/>
                </a:solidFill>
                <a:latin typeface="Calibri" pitchFamily="34" charset="0"/>
                <a:ea typeface="Calibri" pitchFamily="34" charset="-122"/>
                <a:cs typeface="Calibri" pitchFamily="34" charset="-120"/>
              </a:rPr>
              <a:t>Every number comes from contracts the models never saw</a:t>
            </a:r>
            <a:endParaRPr lang="en-US" sz="1700" dirty="0"/>
          </a:p>
        </p:txBody>
      </p:sp>
      <p:sp>
        <p:nvSpPr>
          <p:cNvPr id="6" name="Shape 4"/>
          <p:cNvSpPr/>
          <p:nvPr/>
        </p:nvSpPr>
        <p:spPr>
          <a:xfrm>
            <a:off x="882396" y="1554480"/>
            <a:ext cx="10424160" cy="868680"/>
          </a:xfrm>
          <a:prstGeom prst="roundRect">
            <a:avLst>
              <a:gd name="adj" fmla="val 7368"/>
            </a:avLst>
          </a:prstGeom>
          <a:solidFill>
            <a:srgbClr val="E8ECF7"/>
          </a:solidFill>
          <a:ln w="12700">
            <a:solidFill>
              <a:srgbClr val="E8ECF7"/>
            </a:solidFill>
            <a:prstDash val="solid"/>
          </a:ln>
        </p:spPr>
      </p:sp>
      <p:sp>
        <p:nvSpPr>
          <p:cNvPr id="7" name="Text 5"/>
          <p:cNvSpPr txBox="1"/>
          <p:nvPr/>
        </p:nvSpPr>
        <p:spPr>
          <a:xfrm>
            <a:off x="882396" y="1554480"/>
            <a:ext cx="10424160" cy="868680"/>
          </a:xfrm>
          <a:prstGeom prst="rect">
            <a:avLst/>
          </a:prstGeom>
          <a:noFill/>
          <a:ln/>
        </p:spPr>
        <p:txBody>
          <a:bodyPr wrap="square" lIns="0" tIns="0" rIns="0" bIns="0" rtlCol="0" anchor="ctr"/>
          <a:lstStyle/>
          <a:p>
            <a:pPr algn="ctr" indent="0" marL="0">
              <a:buNone/>
            </a:pPr>
            <a:r>
              <a:rPr lang="en-US" sz="1700" b="1" dirty="0">
                <a:solidFill>
                  <a:srgbClr val="141B3D"/>
                </a:solidFill>
                <a:latin typeface="Calibri" pitchFamily="34" charset="0"/>
                <a:ea typeface="Calibri" pitchFamily="34" charset="-122"/>
                <a:cs typeface="Calibri" pitchFamily="34" charset="-120"/>
              </a:rPr>
              <a:t>510 CUAD contracts</a:t>
            </a:r>
            <a:endParaRPr lang="en-US" sz="1700" dirty="0"/>
          </a:p>
        </p:txBody>
      </p:sp>
      <p:sp>
        <p:nvSpPr>
          <p:cNvPr id="8" name="Text 6"/>
          <p:cNvSpPr txBox="1"/>
          <p:nvPr/>
        </p:nvSpPr>
        <p:spPr>
          <a:xfrm>
            <a:off x="914400" y="2441448"/>
            <a:ext cx="10360152" cy="274320"/>
          </a:xfrm>
          <a:prstGeom prst="rect">
            <a:avLst/>
          </a:prstGeom>
          <a:noFill/>
          <a:ln/>
        </p:spPr>
        <p:txBody>
          <a:bodyPr wrap="square" lIns="0" tIns="0" rIns="0" bIns="0" rtlCol="0" anchor="ctr"/>
          <a:lstStyle/>
          <a:p>
            <a:pPr algn="ctr" indent="0" marL="0">
              <a:buNone/>
            </a:pPr>
            <a:r>
              <a:rPr lang="en-US" sz="1500" dirty="0">
                <a:solidFill>
                  <a:srgbClr val="6B7280"/>
                </a:solidFill>
                <a:latin typeface="Calibri" pitchFamily="34" charset="0"/>
                <a:ea typeface="Calibri" pitchFamily="34" charset="-122"/>
                <a:cs typeface="Calibri" pitchFamily="34" charset="-120"/>
              </a:rPr>
              <a:t>↓  split once, by whole contract</a:t>
            </a:r>
            <a:endParaRPr lang="en-US" sz="1500" dirty="0"/>
          </a:p>
        </p:txBody>
      </p:sp>
      <p:sp>
        <p:nvSpPr>
          <p:cNvPr id="9" name="Shape 7"/>
          <p:cNvSpPr/>
          <p:nvPr/>
        </p:nvSpPr>
        <p:spPr>
          <a:xfrm>
            <a:off x="2025396" y="2743200"/>
            <a:ext cx="8138160" cy="868680"/>
          </a:xfrm>
          <a:prstGeom prst="roundRect">
            <a:avLst>
              <a:gd name="adj" fmla="val 7368"/>
            </a:avLst>
          </a:prstGeom>
          <a:solidFill>
            <a:srgbClr val="CFD8EE"/>
          </a:solidFill>
          <a:ln w="12700">
            <a:solidFill>
              <a:srgbClr val="CFD8EE"/>
            </a:solidFill>
            <a:prstDash val="solid"/>
          </a:ln>
        </p:spPr>
      </p:sp>
      <p:sp>
        <p:nvSpPr>
          <p:cNvPr id="10" name="Text 8"/>
          <p:cNvSpPr txBox="1"/>
          <p:nvPr/>
        </p:nvSpPr>
        <p:spPr>
          <a:xfrm>
            <a:off x="2025396" y="2743200"/>
            <a:ext cx="8138160" cy="868680"/>
          </a:xfrm>
          <a:prstGeom prst="rect">
            <a:avLst/>
          </a:prstGeom>
          <a:noFill/>
          <a:ln/>
        </p:spPr>
        <p:txBody>
          <a:bodyPr wrap="square" lIns="0" tIns="0" rIns="0" bIns="0" rtlCol="0" anchor="ctr"/>
          <a:lstStyle/>
          <a:p>
            <a:pPr algn="ctr" indent="0" marL="0">
              <a:buNone/>
            </a:pPr>
            <a:r>
              <a:rPr lang="en-US" sz="1700" b="1" dirty="0">
                <a:solidFill>
                  <a:srgbClr val="141B3D"/>
                </a:solidFill>
                <a:latin typeface="Calibri" pitchFamily="34" charset="0"/>
                <a:ea typeface="Calibri" pitchFamily="34" charset="-122"/>
                <a:cs typeface="Calibri" pitchFamily="34" charset="-120"/>
              </a:rPr>
              <a:t>102 test contracts kept aside  (408 for training, 81 of them to choose settings)</a:t>
            </a:r>
            <a:endParaRPr lang="en-US" sz="1700" dirty="0"/>
          </a:p>
        </p:txBody>
      </p:sp>
      <p:sp>
        <p:nvSpPr>
          <p:cNvPr id="11" name="Text 9"/>
          <p:cNvSpPr txBox="1"/>
          <p:nvPr/>
        </p:nvSpPr>
        <p:spPr>
          <a:xfrm>
            <a:off x="914400" y="3630168"/>
            <a:ext cx="10360152" cy="274320"/>
          </a:xfrm>
          <a:prstGeom prst="rect">
            <a:avLst/>
          </a:prstGeom>
          <a:noFill/>
          <a:ln/>
        </p:spPr>
        <p:txBody>
          <a:bodyPr wrap="square" lIns="0" tIns="0" rIns="0" bIns="0" rtlCol="0" anchor="ctr"/>
          <a:lstStyle/>
          <a:p>
            <a:pPr algn="ctr" indent="0" marL="0">
              <a:buNone/>
            </a:pPr>
            <a:r>
              <a:rPr lang="en-US" sz="1500" dirty="0">
                <a:solidFill>
                  <a:srgbClr val="6B7280"/>
                </a:solidFill>
                <a:latin typeface="Calibri" pitchFamily="34" charset="0"/>
                <a:ea typeface="Calibri" pitchFamily="34" charset="-122"/>
                <a:cs typeface="Calibri" pitchFamily="34" charset="-120"/>
              </a:rPr>
              <a:t>↓  a separate notebook loads the saved models</a:t>
            </a:r>
            <a:endParaRPr lang="en-US" sz="1500" dirty="0"/>
          </a:p>
        </p:txBody>
      </p:sp>
      <p:sp>
        <p:nvSpPr>
          <p:cNvPr id="12" name="Shape 10"/>
          <p:cNvSpPr/>
          <p:nvPr/>
        </p:nvSpPr>
        <p:spPr>
          <a:xfrm>
            <a:off x="3163824" y="3931920"/>
            <a:ext cx="5852160" cy="868680"/>
          </a:xfrm>
          <a:prstGeom prst="roundRect">
            <a:avLst>
              <a:gd name="adj" fmla="val 7368"/>
            </a:avLst>
          </a:prstGeom>
          <a:solidFill>
            <a:srgbClr val="1E2761"/>
          </a:solidFill>
          <a:ln w="12700">
            <a:solidFill>
              <a:srgbClr val="1E2761"/>
            </a:solidFill>
            <a:prstDash val="solid"/>
          </a:ln>
        </p:spPr>
      </p:sp>
      <p:sp>
        <p:nvSpPr>
          <p:cNvPr id="13" name="Text 11"/>
          <p:cNvSpPr txBox="1"/>
          <p:nvPr/>
        </p:nvSpPr>
        <p:spPr>
          <a:xfrm>
            <a:off x="3163824" y="3931920"/>
            <a:ext cx="5852160" cy="86868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4,182 clause checks · 2,667 text windows · 150 explanations</a:t>
            </a:r>
            <a:endParaRPr lang="en-US" sz="1700" dirty="0"/>
          </a:p>
        </p:txBody>
      </p:sp>
      <p:sp>
        <p:nvSpPr>
          <p:cNvPr id="14" name="Text 12"/>
          <p:cNvSpPr txBox="1"/>
          <p:nvPr/>
        </p:nvSpPr>
        <p:spPr>
          <a:xfrm>
            <a:off x="822960" y="5074920"/>
            <a:ext cx="2377440" cy="868680"/>
          </a:xfrm>
          <a:prstGeom prst="rect">
            <a:avLst/>
          </a:prstGeom>
          <a:noFill/>
          <a:ln/>
        </p:spPr>
        <p:txBody>
          <a:bodyPr wrap="square" lIns="0" tIns="0" rIns="0" bIns="0" rtlCol="0" anchor="ctr"/>
          <a:lstStyle/>
          <a:p>
            <a:pPr indent="0" marL="0">
              <a:buNone/>
            </a:pPr>
            <a:r>
              <a:rPr lang="en-US" sz="4750" b="1" dirty="0">
                <a:solidFill>
                  <a:srgbClr val="1E2761"/>
                </a:solidFill>
                <a:latin typeface="Cambria" pitchFamily="34" charset="0"/>
                <a:ea typeface="Cambria" pitchFamily="34" charset="-122"/>
                <a:cs typeface="Cambria" pitchFamily="34" charset="-120"/>
              </a:rPr>
              <a:t>10,000</a:t>
            </a:r>
            <a:endParaRPr lang="en-US" sz="4750" dirty="0"/>
          </a:p>
        </p:txBody>
      </p:sp>
      <p:sp>
        <p:nvSpPr>
          <p:cNvPr id="15" name="Text 13"/>
          <p:cNvSpPr txBox="1"/>
          <p:nvPr/>
        </p:nvSpPr>
        <p:spPr>
          <a:xfrm>
            <a:off x="3291840" y="5138928"/>
            <a:ext cx="2926080" cy="777240"/>
          </a:xfrm>
          <a:prstGeom prst="rect">
            <a:avLst/>
          </a:prstGeom>
          <a:noFill/>
          <a:ln/>
        </p:spPr>
        <p:txBody>
          <a:bodyPr wrap="square" lIns="0" tIns="0" rIns="0" bIns="0" rtlCol="0" anchor="ctr"/>
          <a:lstStyle/>
          <a:p>
            <a:pPr indent="0" marL="0">
              <a:buNone/>
            </a:pPr>
            <a:r>
              <a:rPr lang="en-US" sz="1500" dirty="0">
                <a:solidFill>
                  <a:srgbClr val="374151"/>
                </a:solidFill>
                <a:latin typeface="Calibri" pitchFamily="34" charset="0"/>
                <a:ea typeface="Calibri" pitchFamily="34" charset="-122"/>
                <a:cs typeface="Calibri" pitchFamily="34" charset="-120"/>
              </a:rPr>
              <a:t>re-runs on random mixes of the</a:t>
            </a:r>
            <a:endParaRPr lang="en-US" sz="1500" dirty="0"/>
          </a:p>
          <a:p>
            <a:pPr indent="0" marL="0">
              <a:buNone/>
            </a:pPr>
            <a:r>
              <a:rPr lang="en-US" sz="1500" dirty="0">
                <a:solidFill>
                  <a:srgbClr val="374151"/>
                </a:solidFill>
                <a:latin typeface="Calibri" pitchFamily="34" charset="0"/>
                <a:ea typeface="Calibri" pitchFamily="34" charset="-122"/>
                <a:cs typeface="Calibri" pitchFamily="34" charset="-120"/>
              </a:rPr>
              <a:t>test contracts, for a 95% range</a:t>
            </a:r>
            <a:endParaRPr lang="en-US" sz="1500" dirty="0"/>
          </a:p>
        </p:txBody>
      </p:sp>
      <p:sp>
        <p:nvSpPr>
          <p:cNvPr id="16" name="Text 14"/>
          <p:cNvSpPr txBox="1"/>
          <p:nvPr/>
        </p:nvSpPr>
        <p:spPr>
          <a:xfrm>
            <a:off x="6309360" y="5029200"/>
            <a:ext cx="5303520" cy="1188720"/>
          </a:xfrm>
          <a:prstGeom prst="rect">
            <a:avLst/>
          </a:prstGeom>
          <a:noFill/>
          <a:ln/>
        </p:spPr>
        <p:txBody>
          <a:bodyPr wrap="square" rtlCol="0" anchor="ctr"/>
          <a:lstStyle/>
          <a:p>
            <a:pPr indent="0" marL="0">
              <a:buNone/>
            </a:pPr>
            <a:r>
              <a:rPr lang="en-US" sz="1500" dirty="0">
                <a:solidFill>
                  <a:srgbClr val="374151"/>
                </a:solidFill>
                <a:latin typeface="Calibri" pitchFamily="34" charset="0"/>
                <a:ea typeface="Calibri" pitchFamily="34" charset="-122"/>
                <a:cs typeface="Calibri" pitchFamily="34" charset="-120"/>
              </a:rPr>
              <a:t>We report accuracy and the F1 score (a balance of finding clauses and avoiding false alarms), a word-overlap score for clause text, and ROUGE-L for explanations. We re-checked the main result with 3 random seeds, all the training data, 20 different splits and a run that changes only the window length.</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548640" y="109728"/>
            <a:ext cx="2286000" cy="301752"/>
          </a:xfrm>
          <a:prstGeom prst="roundRect">
            <a:avLst>
              <a:gd name="adj" fmla="val 45455"/>
            </a:avLst>
          </a:prstGeom>
          <a:solidFill>
            <a:srgbClr val="CADCFC"/>
          </a:solidFill>
          <a:ln w="12700">
            <a:solidFill>
              <a:srgbClr val="CADCFC"/>
            </a:solidFill>
            <a:prstDash val="solid"/>
          </a:ln>
        </p:spPr>
      </p:sp>
      <p:sp>
        <p:nvSpPr>
          <p:cNvPr id="3" name="Text 1"/>
          <p:cNvSpPr txBox="1"/>
          <p:nvPr/>
        </p:nvSpPr>
        <p:spPr>
          <a:xfrm>
            <a:off x="548640" y="109728"/>
            <a:ext cx="2286000" cy="301752"/>
          </a:xfrm>
          <a:prstGeom prst="rect">
            <a:avLst/>
          </a:prstGeom>
          <a:noFill/>
          <a:ln/>
        </p:spPr>
        <p:txBody>
          <a:bodyPr wrap="square" lIns="0" tIns="0" rIns="0" bIns="0" rtlCol="0" anchor="ctr"/>
          <a:lstStyle/>
          <a:p>
            <a:pPr algn="ctr" indent="0" marL="0">
              <a:buNone/>
            </a:pPr>
            <a:r>
              <a:rPr lang="en-US" sz="1450" b="1" dirty="0">
                <a:solidFill>
                  <a:srgbClr val="1E2761"/>
                </a:solidFill>
                <a:latin typeface="Calibri" pitchFamily="34" charset="0"/>
                <a:ea typeface="Calibri" pitchFamily="34" charset="-122"/>
                <a:cs typeface="Calibri" pitchFamily="34" charset="-120"/>
              </a:rPr>
              <a:t>RESULTS</a:t>
            </a:r>
            <a:endParaRPr lang="en-US" sz="1450" dirty="0"/>
          </a:p>
        </p:txBody>
      </p:sp>
      <p:sp>
        <p:nvSpPr>
          <p:cNvPr id="4" name="Text 2"/>
          <p:cNvSpPr txBox="1"/>
          <p:nvPr/>
        </p:nvSpPr>
        <p:spPr>
          <a:xfrm>
            <a:off x="563728" y="329184"/>
            <a:ext cx="11064240" cy="676656"/>
          </a:xfrm>
          <a:prstGeom prst="rect">
            <a:avLst/>
          </a:prstGeom>
          <a:noFill/>
          <a:ln/>
        </p:spPr>
        <p:txBody>
          <a:bodyPr wrap="square" rtlCol="0" anchor="ctr"/>
          <a:lstStyle/>
          <a:p>
            <a:pPr algn="ctr" indent="0" marL="0">
              <a:buNone/>
            </a:pPr>
            <a:r>
              <a:rPr lang="en-US" sz="3500" b="1" dirty="0">
                <a:solidFill>
                  <a:srgbClr val="141B3D"/>
                </a:solidFill>
                <a:latin typeface="Cambria" pitchFamily="34" charset="0"/>
                <a:ea typeface="Cambria" pitchFamily="34" charset="-122"/>
                <a:cs typeface="Cambria" pitchFamily="34" charset="-120"/>
              </a:rPr>
              <a:t>Result 1: finding which clauses are present</a:t>
            </a:r>
            <a:endParaRPr lang="en-US" sz="3500" dirty="0"/>
          </a:p>
        </p:txBody>
      </p:sp>
      <p:sp>
        <p:nvSpPr>
          <p:cNvPr id="5" name="Text 3"/>
          <p:cNvSpPr txBox="1"/>
          <p:nvPr/>
        </p:nvSpPr>
        <p:spPr>
          <a:xfrm>
            <a:off x="563728" y="1024128"/>
            <a:ext cx="11064240" cy="347472"/>
          </a:xfrm>
          <a:prstGeom prst="rect">
            <a:avLst/>
          </a:prstGeom>
          <a:noFill/>
          <a:ln/>
        </p:spPr>
        <p:txBody>
          <a:bodyPr wrap="square" rtlCol="0" anchor="ctr"/>
          <a:lstStyle/>
          <a:p>
            <a:pPr algn="ctr" indent="0" marL="0">
              <a:buNone/>
            </a:pPr>
            <a:r>
              <a:rPr lang="en-US" sz="1700" i="1" dirty="0">
                <a:solidFill>
                  <a:srgbClr val="6B7280"/>
                </a:solidFill>
                <a:latin typeface="Calibri" pitchFamily="34" charset="0"/>
                <a:ea typeface="Calibri" pitchFamily="34" charset="-122"/>
                <a:cs typeface="Calibri" pitchFamily="34" charset="-120"/>
              </a:rPr>
              <a:t>F1 on 4,182 test checks: first setup, then both models tuned on held-out contracts</a:t>
            </a:r>
            <a:endParaRPr lang="en-US" sz="1700" dirty="0"/>
          </a:p>
        </p:txBody>
      </p:sp>
      <p:sp>
        <p:nvSpPr>
          <p:cNvPr id="8" name="Text 4"/>
          <p:cNvSpPr txBox="1"/>
          <p:nvPr/>
        </p:nvSpPr>
        <p:spPr>
          <a:xfrm>
            <a:off x="3520440" y="5212080"/>
            <a:ext cx="3017520" cy="822960"/>
          </a:xfrm>
          <a:prstGeom prst="rect">
            <a:avLst/>
          </a:prstGeom>
          <a:noFill/>
          <a:ln/>
        </p:spPr>
        <p:txBody>
          <a:bodyPr wrap="square" lIns="0" tIns="0" rIns="0" bIns="0" rtlCol="0" anchor="ctr"/>
          <a:lstStyle/>
          <a:p>
            <a:pPr indent="0" marL="0">
              <a:buNone/>
            </a:pPr>
            <a:r>
              <a:rPr lang="en-US" sz="1500" i="1" dirty="0">
                <a:solidFill>
                  <a:srgbClr val="6B7280"/>
                </a:solidFill>
                <a:latin typeface="Calibri" pitchFamily="34" charset="0"/>
                <a:ea typeface="Calibri" pitchFamily="34" charset="-122"/>
                <a:cs typeface="Calibri" pitchFamily="34" charset="-120"/>
              </a:rPr>
              <a:t>F1 score of the 12 best</a:t>
            </a:r>
            <a:endParaRPr lang="en-US" sz="1500" dirty="0"/>
          </a:p>
          <a:p>
            <a:pPr indent="0" marL="0">
              <a:buNone/>
            </a:pPr>
            <a:r>
              <a:rPr lang="en-US" sz="1500" i="1" dirty="0">
                <a:solidFill>
                  <a:srgbClr val="6B7280"/>
                </a:solidFill>
                <a:latin typeface="Calibri" pitchFamily="34" charset="0"/>
                <a:ea typeface="Calibri" pitchFamily="34" charset="-122"/>
                <a:cs typeface="Calibri" pitchFamily="34" charset="-120"/>
              </a:rPr>
              <a:t>clause types, first setup (Fig. 5.3)</a:t>
            </a:r>
            <a:endParaRPr lang="en-US" sz="1500" dirty="0"/>
          </a:p>
        </p:txBody>
      </p:sp>
      <p:sp>
        <p:nvSpPr>
          <p:cNvPr id="9" name="Shape 5"/>
          <p:cNvSpPr/>
          <p:nvPr/>
        </p:nvSpPr>
        <p:spPr>
          <a:xfrm>
            <a:off x="6766560" y="1371600"/>
            <a:ext cx="4937760" cy="1463040"/>
          </a:xfrm>
          <a:prstGeom prst="roundRect">
            <a:avLst>
              <a:gd name="adj" fmla="val 4375"/>
            </a:avLst>
          </a:prstGeom>
          <a:solidFill>
            <a:srgbClr val="F6F7FB"/>
          </a:solidFill>
          <a:ln w="12700">
            <a:solidFill>
              <a:srgbClr val="E4E7F2"/>
            </a:solidFill>
            <a:prstDash val="solid"/>
          </a:ln>
        </p:spPr>
      </p:sp>
      <p:sp>
        <p:nvSpPr>
          <p:cNvPr id="10" name="Shape 6"/>
          <p:cNvSpPr/>
          <p:nvPr/>
        </p:nvSpPr>
        <p:spPr>
          <a:xfrm>
            <a:off x="6949440" y="1545336"/>
            <a:ext cx="256032" cy="256032"/>
          </a:xfrm>
          <a:prstGeom prst="ellipse">
            <a:avLst/>
          </a:prstGeom>
          <a:solidFill>
            <a:srgbClr val="4CAF82"/>
          </a:solidFill>
          <a:ln w="12700">
            <a:solidFill>
              <a:srgbClr val="4CAF82"/>
            </a:solidFill>
            <a:prstDash val="solid"/>
          </a:ln>
        </p:spPr>
      </p:sp>
      <p:sp>
        <p:nvSpPr>
          <p:cNvPr id="11" name="Text 7"/>
          <p:cNvSpPr txBox="1"/>
          <p:nvPr/>
        </p:nvSpPr>
        <p:spPr>
          <a:xfrm>
            <a:off x="7296912" y="1481328"/>
            <a:ext cx="4251960" cy="310896"/>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Best: both models agreeing</a:t>
            </a:r>
            <a:endParaRPr lang="en-US" sz="1650" dirty="0"/>
          </a:p>
        </p:txBody>
      </p:sp>
      <p:sp>
        <p:nvSpPr>
          <p:cNvPr id="12" name="Text 8"/>
          <p:cNvSpPr txBox="1"/>
          <p:nvPr/>
        </p:nvSpPr>
        <p:spPr>
          <a:xfrm>
            <a:off x="6967728" y="1883664"/>
            <a:ext cx="4535424" cy="804672"/>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F1 0.809 and accuracy 88.43%, with every setting chosen on contracts kept aside. It beats the tuned word model (0.785) by more than the error margin.</a:t>
            </a:r>
            <a:endParaRPr lang="en-US" sz="1550" dirty="0"/>
          </a:p>
        </p:txBody>
      </p:sp>
      <p:sp>
        <p:nvSpPr>
          <p:cNvPr id="13" name="Shape 9"/>
          <p:cNvSpPr/>
          <p:nvPr/>
        </p:nvSpPr>
        <p:spPr>
          <a:xfrm>
            <a:off x="6766560" y="2971800"/>
            <a:ext cx="4937760" cy="1463040"/>
          </a:xfrm>
          <a:prstGeom prst="roundRect">
            <a:avLst>
              <a:gd name="adj" fmla="val 4375"/>
            </a:avLst>
          </a:prstGeom>
          <a:solidFill>
            <a:srgbClr val="F6F7FB"/>
          </a:solidFill>
          <a:ln w="12700">
            <a:solidFill>
              <a:srgbClr val="E4E7F2"/>
            </a:solidFill>
            <a:prstDash val="solid"/>
          </a:ln>
        </p:spPr>
      </p:sp>
      <p:sp>
        <p:nvSpPr>
          <p:cNvPr id="14" name="Shape 10"/>
          <p:cNvSpPr/>
          <p:nvPr/>
        </p:nvSpPr>
        <p:spPr>
          <a:xfrm>
            <a:off x="6949440" y="3145536"/>
            <a:ext cx="256032" cy="256032"/>
          </a:xfrm>
          <a:prstGeom prst="ellipse">
            <a:avLst/>
          </a:prstGeom>
          <a:solidFill>
            <a:srgbClr val="D94F5C"/>
          </a:solidFill>
          <a:ln w="12700">
            <a:solidFill>
              <a:srgbClr val="D94F5C"/>
            </a:solidFill>
            <a:prstDash val="solid"/>
          </a:ln>
        </p:spPr>
      </p:sp>
      <p:sp>
        <p:nvSpPr>
          <p:cNvPr id="15" name="Text 11"/>
          <p:cNvSpPr txBox="1"/>
          <p:nvPr/>
        </p:nvSpPr>
        <p:spPr>
          <a:xfrm>
            <a:off x="7296912" y="3081528"/>
            <a:ext cx="4251960" cy="310896"/>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Reading the whole window mattered</a:t>
            </a:r>
            <a:endParaRPr lang="en-US" sz="1650" dirty="0"/>
          </a:p>
        </p:txBody>
      </p:sp>
      <p:sp>
        <p:nvSpPr>
          <p:cNvPr id="16" name="Text 12"/>
          <p:cNvSpPr txBox="1"/>
          <p:nvPr/>
        </p:nvSpPr>
        <p:spPr>
          <a:xfrm>
            <a:off x="6967728" y="3483864"/>
            <a:ext cx="4535424" cy="804672"/>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Our first model read half of each window and lost (0.692 vs 0.775). Reading all of it and tuning both fairly: 0.797 vs 0.785, a tie.</a:t>
            </a:r>
            <a:endParaRPr lang="en-US" sz="1550" dirty="0"/>
          </a:p>
        </p:txBody>
      </p:sp>
      <p:sp>
        <p:nvSpPr>
          <p:cNvPr id="17" name="Shape 13"/>
          <p:cNvSpPr/>
          <p:nvPr/>
        </p:nvSpPr>
        <p:spPr>
          <a:xfrm>
            <a:off x="6766560" y="4572000"/>
            <a:ext cx="4937760" cy="1737360"/>
          </a:xfrm>
          <a:prstGeom prst="roundRect">
            <a:avLst>
              <a:gd name="adj" fmla="val 3684"/>
            </a:avLst>
          </a:prstGeom>
          <a:solidFill>
            <a:srgbClr val="F6F7FB"/>
          </a:solidFill>
          <a:ln w="12700">
            <a:solidFill>
              <a:srgbClr val="E4E7F2"/>
            </a:solidFill>
            <a:prstDash val="solid"/>
          </a:ln>
        </p:spPr>
      </p:sp>
      <p:sp>
        <p:nvSpPr>
          <p:cNvPr id="18" name="Shape 14"/>
          <p:cNvSpPr/>
          <p:nvPr/>
        </p:nvSpPr>
        <p:spPr>
          <a:xfrm>
            <a:off x="6949440" y="4745736"/>
            <a:ext cx="256032" cy="256032"/>
          </a:xfrm>
          <a:prstGeom prst="ellipse">
            <a:avLst/>
          </a:prstGeom>
          <a:solidFill>
            <a:srgbClr val="E8A13A"/>
          </a:solidFill>
          <a:ln w="12700">
            <a:solidFill>
              <a:srgbClr val="E8A13A"/>
            </a:solidFill>
            <a:prstDash val="solid"/>
          </a:ln>
        </p:spPr>
      </p:sp>
      <p:sp>
        <p:nvSpPr>
          <p:cNvPr id="19" name="Text 15"/>
          <p:cNvSpPr txBox="1"/>
          <p:nvPr/>
        </p:nvSpPr>
        <p:spPr>
          <a:xfrm>
            <a:off x="7296912" y="4681728"/>
            <a:ext cx="4251960" cy="310896"/>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Common clauses are almost perfect</a:t>
            </a:r>
            <a:endParaRPr lang="en-US" sz="1650" dirty="0"/>
          </a:p>
        </p:txBody>
      </p:sp>
      <p:sp>
        <p:nvSpPr>
          <p:cNvPr id="20" name="Text 16"/>
          <p:cNvSpPr txBox="1"/>
          <p:nvPr/>
        </p:nvSpPr>
        <p:spPr>
          <a:xfrm>
            <a:off x="6967728" y="5084064"/>
            <a:ext cx="4535424" cy="1078992"/>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Document Name 1.000, Parties 0.995, Agreement Date 0.963, Governing Law 0.931. The rarest types have only 2 to 7 test examples, too few to learn.</a:t>
            </a:r>
            <a:endParaRPr lang="en-US" sz="1550" dirty="0"/>
          </a:p>
        </p:txBody>
      </p:sp>
      <p:graphicFrame>
        <p:nvGraphicFramePr>
          <p:cNvPr id="21" name="Chart 20"/>
          <p:cNvGraphicFramePr>
            <a:graphicFrameLocks noGrp="1"/>
          </p:cNvGraphicFramePr>
          <p:nvPr/>
        </p:nvGraphicFramePr>
        <p:xfrm>
          <a:off x="548640" y="1371600"/>
          <a:ext cx="6035040" cy="3465576"/>
        </p:xfrm>
        <a:graphic>
          <a:graphicData uri="http://schemas.openxmlformats.org/drawingml/2006/chart">
            <c:chart xmlns:c="http://schemas.openxmlformats.org/drawingml/2006/chart" r:id="rId5"/>
          </a:graphicData>
        </a:graphic>
      </p:graphicFrame>
      <p:pic>
        <p:nvPicPr>
          <p:cNvPr id="22" name="Picture 21" descr="per_category_f1.png"/>
          <p:cNvPicPr>
            <a:picLocks noChangeAspect="1"/>
          </p:cNvPicPr>
          <p:nvPr/>
        </p:nvPicPr>
        <p:blipFill>
          <a:blip r:embed="rId6"/>
          <a:stretch>
            <a:fillRect/>
          </a:stretch>
        </p:blipFill>
        <p:spPr>
          <a:xfrm>
            <a:off x="548640" y="4893447"/>
            <a:ext cx="2788920" cy="1716258"/>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548640" y="109728"/>
            <a:ext cx="2286000" cy="301752"/>
          </a:xfrm>
          <a:prstGeom prst="roundRect">
            <a:avLst>
              <a:gd name="adj" fmla="val 45455"/>
            </a:avLst>
          </a:prstGeom>
          <a:solidFill>
            <a:srgbClr val="CADCFC"/>
          </a:solidFill>
          <a:ln w="12700">
            <a:solidFill>
              <a:srgbClr val="CADCFC"/>
            </a:solidFill>
            <a:prstDash val="solid"/>
          </a:ln>
        </p:spPr>
      </p:sp>
      <p:sp>
        <p:nvSpPr>
          <p:cNvPr id="3" name="Text 1"/>
          <p:cNvSpPr txBox="1"/>
          <p:nvPr/>
        </p:nvSpPr>
        <p:spPr>
          <a:xfrm>
            <a:off x="548640" y="109728"/>
            <a:ext cx="2286000" cy="301752"/>
          </a:xfrm>
          <a:prstGeom prst="rect">
            <a:avLst/>
          </a:prstGeom>
          <a:noFill/>
          <a:ln/>
        </p:spPr>
        <p:txBody>
          <a:bodyPr wrap="square" lIns="0" tIns="0" rIns="0" bIns="0" rtlCol="0" anchor="ctr"/>
          <a:lstStyle/>
          <a:p>
            <a:pPr algn="ctr" indent="0" marL="0">
              <a:buNone/>
            </a:pPr>
            <a:r>
              <a:rPr lang="en-US" sz="1450" b="1" dirty="0">
                <a:solidFill>
                  <a:srgbClr val="1E2761"/>
                </a:solidFill>
                <a:latin typeface="Calibri" pitchFamily="34" charset="0"/>
                <a:ea typeface="Calibri" pitchFamily="34" charset="-122"/>
                <a:cs typeface="Calibri" pitchFamily="34" charset="-120"/>
              </a:rPr>
              <a:t>RESULTS</a:t>
            </a:r>
            <a:endParaRPr lang="en-US" sz="1450" dirty="0"/>
          </a:p>
        </p:txBody>
      </p:sp>
      <p:sp>
        <p:nvSpPr>
          <p:cNvPr id="4" name="Text 2"/>
          <p:cNvSpPr txBox="1"/>
          <p:nvPr/>
        </p:nvSpPr>
        <p:spPr>
          <a:xfrm>
            <a:off x="563728" y="329184"/>
            <a:ext cx="11064240" cy="676656"/>
          </a:xfrm>
          <a:prstGeom prst="rect">
            <a:avLst/>
          </a:prstGeom>
          <a:noFill/>
          <a:ln/>
        </p:spPr>
        <p:txBody>
          <a:bodyPr wrap="square" rtlCol="0" anchor="ctr"/>
          <a:lstStyle/>
          <a:p>
            <a:pPr algn="ctr" indent="0" marL="0">
              <a:buNone/>
            </a:pPr>
            <a:r>
              <a:rPr lang="en-US" sz="3500" b="1" dirty="0">
                <a:solidFill>
                  <a:srgbClr val="141B3D"/>
                </a:solidFill>
                <a:latin typeface="Cambria" pitchFamily="34" charset="0"/>
                <a:ea typeface="Cambria" pitchFamily="34" charset="-122"/>
                <a:cs typeface="Cambria" pitchFamily="34" charset="-120"/>
              </a:rPr>
              <a:t>Result 2: clause text and simple English</a:t>
            </a:r>
            <a:endParaRPr lang="en-US" sz="3500" dirty="0"/>
          </a:p>
        </p:txBody>
      </p:sp>
      <p:sp>
        <p:nvSpPr>
          <p:cNvPr id="5" name="Text 3"/>
          <p:cNvSpPr txBox="1"/>
          <p:nvPr/>
        </p:nvSpPr>
        <p:spPr>
          <a:xfrm>
            <a:off x="563728" y="1024128"/>
            <a:ext cx="11064240" cy="347472"/>
          </a:xfrm>
          <a:prstGeom prst="rect">
            <a:avLst/>
          </a:prstGeom>
          <a:noFill/>
          <a:ln/>
        </p:spPr>
        <p:txBody>
          <a:bodyPr wrap="square" rtlCol="0" anchor="ctr"/>
          <a:lstStyle/>
          <a:p>
            <a:pPr algn="ctr" indent="0" marL="0">
              <a:buNone/>
            </a:pPr>
            <a:r>
              <a:rPr lang="en-US" sz="1700" i="1" dirty="0">
                <a:solidFill>
                  <a:srgbClr val="6B7280"/>
                </a:solidFill>
                <a:latin typeface="Calibri" pitchFamily="34" charset="0"/>
                <a:ea typeface="Calibri" pitchFamily="34" charset="-122"/>
                <a:cs typeface="Calibri" pitchFamily="34" charset="-120"/>
              </a:rPr>
              <a:t>How well we find the words of a clause and explain it</a:t>
            </a:r>
            <a:endParaRPr lang="en-US" sz="1700" dirty="0"/>
          </a:p>
        </p:txBody>
      </p:sp>
      <p:sp>
        <p:nvSpPr>
          <p:cNvPr id="6" name="Shape 4"/>
          <p:cNvSpPr/>
          <p:nvPr/>
        </p:nvSpPr>
        <p:spPr>
          <a:xfrm>
            <a:off x="548640" y="1600200"/>
            <a:ext cx="2286000" cy="1188720"/>
          </a:xfrm>
          <a:prstGeom prst="roundRect">
            <a:avLst>
              <a:gd name="adj" fmla="val 5385"/>
            </a:avLst>
          </a:prstGeom>
          <a:solidFill>
            <a:srgbClr val="F6F7FB"/>
          </a:solidFill>
          <a:ln w="12700">
            <a:solidFill>
              <a:srgbClr val="D9DEEC"/>
            </a:solidFill>
            <a:prstDash val="solid"/>
          </a:ln>
        </p:spPr>
      </p:sp>
      <p:sp>
        <p:nvSpPr>
          <p:cNvPr id="7" name="Text 5"/>
          <p:cNvSpPr txBox="1"/>
          <p:nvPr/>
        </p:nvSpPr>
        <p:spPr>
          <a:xfrm>
            <a:off x="640080" y="1691640"/>
            <a:ext cx="2103120" cy="1005840"/>
          </a:xfrm>
          <a:prstGeom prst="rect">
            <a:avLst/>
          </a:prstGeom>
          <a:noFill/>
          <a:ln/>
        </p:spPr>
        <p:txBody>
          <a:bodyPr wrap="square" lIns="0" tIns="0" rIns="0" bIns="0" rtlCol="0" anchor="ctr"/>
          <a:lstStyle/>
          <a:p>
            <a:pPr algn="ctr" indent="0" marL="0">
              <a:buNone/>
            </a:pPr>
            <a:r>
              <a:rPr lang="en-US" sz="1450" dirty="0">
                <a:solidFill>
                  <a:srgbClr val="374151"/>
                </a:solidFill>
                <a:latin typeface="Calibri" pitchFamily="34" charset="0"/>
                <a:ea typeface="Calibri" pitchFamily="34" charset="-122"/>
                <a:cs typeface="Calibri" pitchFamily="34" charset="-120"/>
              </a:rPr>
              <a:t>clause text</a:t>
            </a:r>
            <a:endParaRPr lang="en-US" sz="1450" dirty="0"/>
          </a:p>
          <a:p>
            <a:pPr algn="ctr" indent="0" marL="0">
              <a:buNone/>
            </a:pPr>
            <a:r>
              <a:rPr lang="en-US" sz="1450" dirty="0">
                <a:solidFill>
                  <a:srgbClr val="374151"/>
                </a:solidFill>
                <a:latin typeface="Calibri" pitchFamily="34" charset="0"/>
                <a:ea typeface="Calibri" pitchFamily="34" charset="-122"/>
                <a:cs typeface="Calibri" pitchFamily="34" charset="-120"/>
              </a:rPr>
              <a:t>“any attempted assignment … will be void”</a:t>
            </a:r>
            <a:endParaRPr lang="en-US" sz="1450" dirty="0"/>
          </a:p>
        </p:txBody>
      </p:sp>
      <p:sp>
        <p:nvSpPr>
          <p:cNvPr id="8" name="Text 6"/>
          <p:cNvSpPr txBox="1"/>
          <p:nvPr/>
        </p:nvSpPr>
        <p:spPr>
          <a:xfrm>
            <a:off x="2926080" y="2057400"/>
            <a:ext cx="219456" cy="365760"/>
          </a:xfrm>
          <a:prstGeom prst="rect">
            <a:avLst/>
          </a:prstGeom>
          <a:noFill/>
          <a:ln/>
        </p:spPr>
        <p:txBody>
          <a:bodyPr wrap="square" lIns="0" tIns="0" rIns="0" bIns="0" rtlCol="0" anchor="ctr"/>
          <a:lstStyle/>
          <a:p>
            <a:pPr algn="ctr" indent="0" marL="0">
              <a:buNone/>
            </a:pPr>
            <a:r>
              <a:rPr lang="en-US" sz="2500" dirty="0">
                <a:solidFill>
                  <a:srgbClr val="C3C9DC"/>
                </a:solidFill>
                <a:latin typeface="Calibri" pitchFamily="34" charset="0"/>
                <a:ea typeface="Calibri" pitchFamily="34" charset="-122"/>
                <a:cs typeface="Calibri" pitchFamily="34" charset="-120"/>
              </a:rPr>
              <a:t>›</a:t>
            </a:r>
            <a:endParaRPr lang="en-US" sz="2500" dirty="0"/>
          </a:p>
        </p:txBody>
      </p:sp>
      <p:sp>
        <p:nvSpPr>
          <p:cNvPr id="9" name="Shape 7"/>
          <p:cNvSpPr/>
          <p:nvPr/>
        </p:nvSpPr>
        <p:spPr>
          <a:xfrm>
            <a:off x="3383280" y="1600200"/>
            <a:ext cx="2286000" cy="1188720"/>
          </a:xfrm>
          <a:prstGeom prst="roundRect">
            <a:avLst>
              <a:gd name="adj" fmla="val 5385"/>
            </a:avLst>
          </a:prstGeom>
          <a:solidFill>
            <a:srgbClr val="1E2761"/>
          </a:solidFill>
          <a:ln w="12700">
            <a:solidFill>
              <a:srgbClr val="1E2761"/>
            </a:solidFill>
            <a:prstDash val="solid"/>
          </a:ln>
        </p:spPr>
      </p:sp>
      <p:sp>
        <p:nvSpPr>
          <p:cNvPr id="10" name="Text 8"/>
          <p:cNvSpPr txBox="1"/>
          <p:nvPr/>
        </p:nvSpPr>
        <p:spPr>
          <a:xfrm>
            <a:off x="3474720" y="1828800"/>
            <a:ext cx="2103120" cy="777240"/>
          </a:xfrm>
          <a:prstGeom prst="rect">
            <a:avLst/>
          </a:prstGeom>
          <a:noFill/>
          <a:ln/>
        </p:spPr>
        <p:txBody>
          <a:bodyPr wrap="square" lIns="0" tIns="0" rIns="0" bIns="0" rtlCol="0" anchor="ctr"/>
          <a:lstStyle/>
          <a:p>
            <a:pPr algn="ctr" indent="0" marL="0">
              <a:buNone/>
            </a:pPr>
            <a:r>
              <a:rPr lang="en-US" sz="1450" b="1" dirty="0">
                <a:solidFill>
                  <a:srgbClr val="FFFFFF"/>
                </a:solidFill>
                <a:latin typeface="Calibri" pitchFamily="34" charset="0"/>
                <a:ea typeface="Calibri" pitchFamily="34" charset="-122"/>
                <a:cs typeface="Calibri" pitchFamily="34" charset="-120"/>
              </a:rPr>
              <a:t>FLAN-T5-small</a:t>
            </a:r>
            <a:endParaRPr lang="en-US" sz="1450" dirty="0"/>
          </a:p>
          <a:p>
            <a:pPr algn="ctr" indent="0" marL="0">
              <a:buNone/>
            </a:pPr>
            <a:r>
              <a:rPr lang="en-US" sz="1450" b="1" dirty="0">
                <a:solidFill>
                  <a:srgbClr val="FFFFFF"/>
                </a:solidFill>
                <a:latin typeface="Calibri" pitchFamily="34" charset="0"/>
                <a:ea typeface="Calibri" pitchFamily="34" charset="-122"/>
                <a:cs typeface="Calibri" pitchFamily="34" charset="-120"/>
              </a:rPr>
              <a:t>picks the matching sentence</a:t>
            </a:r>
            <a:endParaRPr lang="en-US" sz="1450" dirty="0"/>
          </a:p>
        </p:txBody>
      </p:sp>
      <p:sp>
        <p:nvSpPr>
          <p:cNvPr id="11" name="Text 9"/>
          <p:cNvSpPr txBox="1"/>
          <p:nvPr/>
        </p:nvSpPr>
        <p:spPr>
          <a:xfrm>
            <a:off x="5760720" y="2057400"/>
            <a:ext cx="219456" cy="365760"/>
          </a:xfrm>
          <a:prstGeom prst="rect">
            <a:avLst/>
          </a:prstGeom>
          <a:noFill/>
          <a:ln/>
        </p:spPr>
        <p:txBody>
          <a:bodyPr wrap="square" lIns="0" tIns="0" rIns="0" bIns="0" rtlCol="0" anchor="ctr"/>
          <a:lstStyle/>
          <a:p>
            <a:pPr algn="ctr" indent="0" marL="0">
              <a:buNone/>
            </a:pPr>
            <a:r>
              <a:rPr lang="en-US" sz="2500" dirty="0">
                <a:solidFill>
                  <a:srgbClr val="C3C9DC"/>
                </a:solidFill>
                <a:latin typeface="Calibri" pitchFamily="34" charset="0"/>
                <a:ea typeface="Calibri" pitchFamily="34" charset="-122"/>
                <a:cs typeface="Calibri" pitchFamily="34" charset="-120"/>
              </a:rPr>
              <a:t>›</a:t>
            </a:r>
            <a:endParaRPr lang="en-US" sz="2500" dirty="0"/>
          </a:p>
        </p:txBody>
      </p:sp>
      <p:sp>
        <p:nvSpPr>
          <p:cNvPr id="12" name="Shape 10"/>
          <p:cNvSpPr/>
          <p:nvPr/>
        </p:nvSpPr>
        <p:spPr>
          <a:xfrm>
            <a:off x="6217920" y="1600200"/>
            <a:ext cx="3017520" cy="420624"/>
          </a:xfrm>
          <a:prstGeom prst="roundRect">
            <a:avLst>
              <a:gd name="adj" fmla="val 8696"/>
            </a:avLst>
          </a:prstGeom>
          <a:solidFill>
            <a:srgbClr val="EEF8F3"/>
          </a:solidFill>
          <a:ln w="12700">
            <a:solidFill>
              <a:srgbClr val="4CAF82"/>
            </a:solidFill>
            <a:prstDash val="solid"/>
          </a:ln>
        </p:spPr>
      </p:sp>
      <p:sp>
        <p:nvSpPr>
          <p:cNvPr id="13" name="Text 11"/>
          <p:cNvSpPr txBox="1"/>
          <p:nvPr/>
        </p:nvSpPr>
        <p:spPr>
          <a:xfrm>
            <a:off x="6309360" y="1600200"/>
            <a:ext cx="2880360" cy="420624"/>
          </a:xfrm>
          <a:prstGeom prst="rect">
            <a:avLst/>
          </a:prstGeom>
          <a:noFill/>
          <a:ln/>
        </p:spPr>
        <p:txBody>
          <a:bodyPr wrap="square" lIns="0" tIns="0" rIns="0" bIns="0" rtlCol="0" anchor="ctr"/>
          <a:lstStyle/>
          <a:p>
            <a:pPr indent="0" marL="0">
              <a:buNone/>
            </a:pPr>
            <a:r>
              <a:rPr lang="en-US" sz="1450" dirty="0">
                <a:solidFill>
                  <a:srgbClr val="141B3D"/>
                </a:solidFill>
                <a:latin typeface="Calibri" pitchFamily="34" charset="0"/>
                <a:ea typeface="Calibri" pitchFamily="34" charset="-122"/>
                <a:cs typeface="Calibri" pitchFamily="34" charset="-120"/>
              </a:rPr>
              <a:t>Anti-Assignment sentence</a:t>
            </a:r>
            <a:endParaRPr lang="en-US" sz="1450" dirty="0"/>
          </a:p>
        </p:txBody>
      </p:sp>
      <p:sp>
        <p:nvSpPr>
          <p:cNvPr id="14" name="Text 12"/>
          <p:cNvSpPr txBox="1"/>
          <p:nvPr/>
        </p:nvSpPr>
        <p:spPr>
          <a:xfrm>
            <a:off x="9372600" y="1600200"/>
            <a:ext cx="2331720" cy="420624"/>
          </a:xfrm>
          <a:prstGeom prst="rect">
            <a:avLst/>
          </a:prstGeom>
          <a:noFill/>
          <a:ln/>
        </p:spPr>
        <p:txBody>
          <a:bodyPr wrap="square" lIns="0" tIns="0" rIns="0" bIns="0" rtlCol="0" anchor="ctr"/>
          <a:lstStyle/>
          <a:p>
            <a:pPr indent="0" marL="0">
              <a:buNone/>
            </a:pPr>
            <a:r>
              <a:rPr lang="en-US" sz="1450" b="1" dirty="0">
                <a:solidFill>
                  <a:srgbClr val="4CAF82"/>
                </a:solidFill>
                <a:latin typeface="Calibri" pitchFamily="34" charset="0"/>
                <a:ea typeface="Calibri" pitchFamily="34" charset="-122"/>
                <a:cs typeface="Calibri" pitchFamily="34" charset="-120"/>
              </a:rPr>
              <a:t>right 70%</a:t>
            </a:r>
            <a:endParaRPr lang="en-US" sz="1450" dirty="0"/>
          </a:p>
        </p:txBody>
      </p:sp>
      <p:sp>
        <p:nvSpPr>
          <p:cNvPr id="15" name="Shape 13"/>
          <p:cNvSpPr/>
          <p:nvPr/>
        </p:nvSpPr>
        <p:spPr>
          <a:xfrm>
            <a:off x="6217920" y="2093976"/>
            <a:ext cx="3017520" cy="420624"/>
          </a:xfrm>
          <a:prstGeom prst="roundRect">
            <a:avLst>
              <a:gd name="adj" fmla="val 8696"/>
            </a:avLst>
          </a:prstGeom>
          <a:solidFill>
            <a:srgbClr val="F6F7FB"/>
          </a:solidFill>
          <a:ln w="12700">
            <a:solidFill>
              <a:srgbClr val="D9DEEC"/>
            </a:solidFill>
            <a:prstDash val="solid"/>
          </a:ln>
        </p:spPr>
      </p:sp>
      <p:sp>
        <p:nvSpPr>
          <p:cNvPr id="16" name="Text 14"/>
          <p:cNvSpPr txBox="1"/>
          <p:nvPr/>
        </p:nvSpPr>
        <p:spPr>
          <a:xfrm>
            <a:off x="6309360" y="2093976"/>
            <a:ext cx="2880360" cy="420624"/>
          </a:xfrm>
          <a:prstGeom prst="rect">
            <a:avLst/>
          </a:prstGeom>
          <a:noFill/>
          <a:ln/>
        </p:spPr>
        <p:txBody>
          <a:bodyPr wrap="square" lIns="0" tIns="0" rIns="0" bIns="0" rtlCol="0" anchor="ctr"/>
          <a:lstStyle/>
          <a:p>
            <a:pPr indent="0" marL="0">
              <a:buNone/>
            </a:pPr>
            <a:r>
              <a:rPr lang="en-US" sz="1450" dirty="0">
                <a:solidFill>
                  <a:srgbClr val="6B7280"/>
                </a:solidFill>
                <a:latin typeface="Calibri" pitchFamily="34" charset="0"/>
                <a:ea typeface="Calibri" pitchFamily="34" charset="-122"/>
                <a:cs typeface="Calibri" pitchFamily="34" charset="-120"/>
              </a:rPr>
              <a:t>Cap on Liability sentence</a:t>
            </a:r>
            <a:endParaRPr lang="en-US" sz="1450" dirty="0"/>
          </a:p>
        </p:txBody>
      </p:sp>
      <p:sp>
        <p:nvSpPr>
          <p:cNvPr id="17" name="Shape 15"/>
          <p:cNvSpPr/>
          <p:nvPr/>
        </p:nvSpPr>
        <p:spPr>
          <a:xfrm>
            <a:off x="6217920" y="2587752"/>
            <a:ext cx="3017520" cy="420624"/>
          </a:xfrm>
          <a:prstGeom prst="roundRect">
            <a:avLst>
              <a:gd name="adj" fmla="val 8696"/>
            </a:avLst>
          </a:prstGeom>
          <a:solidFill>
            <a:srgbClr val="FDF0F1"/>
          </a:solidFill>
          <a:ln w="12700">
            <a:solidFill>
              <a:srgbClr val="D94F5C"/>
            </a:solidFill>
            <a:prstDash val="solid"/>
          </a:ln>
        </p:spPr>
      </p:sp>
      <p:sp>
        <p:nvSpPr>
          <p:cNvPr id="18" name="Text 16"/>
          <p:cNvSpPr txBox="1"/>
          <p:nvPr/>
        </p:nvSpPr>
        <p:spPr>
          <a:xfrm>
            <a:off x="6309360" y="2587752"/>
            <a:ext cx="2880360" cy="420624"/>
          </a:xfrm>
          <a:prstGeom prst="rect">
            <a:avLst/>
          </a:prstGeom>
          <a:noFill/>
          <a:ln/>
        </p:spPr>
        <p:txBody>
          <a:bodyPr wrap="square" lIns="0" tIns="0" rIns="0" bIns="0" rtlCol="0" anchor="ctr"/>
          <a:lstStyle/>
          <a:p>
            <a:pPr indent="0" marL="0">
              <a:buNone/>
            </a:pPr>
            <a:r>
              <a:rPr lang="en-US" sz="1450" dirty="0">
                <a:solidFill>
                  <a:srgbClr val="141B3D"/>
                </a:solidFill>
                <a:latin typeface="Calibri" pitchFamily="34" charset="0"/>
                <a:ea typeface="Calibri" pitchFamily="34" charset="-122"/>
                <a:cs typeface="Calibri" pitchFamily="34" charset="-120"/>
              </a:rPr>
              <a:t>ROFR sentence</a:t>
            </a:r>
            <a:endParaRPr lang="en-US" sz="1450" dirty="0"/>
          </a:p>
        </p:txBody>
      </p:sp>
      <p:sp>
        <p:nvSpPr>
          <p:cNvPr id="19" name="Text 17"/>
          <p:cNvSpPr txBox="1"/>
          <p:nvPr/>
        </p:nvSpPr>
        <p:spPr>
          <a:xfrm>
            <a:off x="9372600" y="2587752"/>
            <a:ext cx="2331720" cy="420624"/>
          </a:xfrm>
          <a:prstGeom prst="rect">
            <a:avLst/>
          </a:prstGeom>
          <a:noFill/>
          <a:ln/>
        </p:spPr>
        <p:txBody>
          <a:bodyPr wrap="square" lIns="0" tIns="0" rIns="0" bIns="0" rtlCol="0" anchor="ctr"/>
          <a:lstStyle/>
          <a:p>
            <a:pPr indent="0" marL="0">
              <a:buNone/>
            </a:pPr>
            <a:r>
              <a:rPr lang="en-US" sz="1450" b="1" dirty="0">
                <a:solidFill>
                  <a:srgbClr val="D94F5C"/>
                </a:solidFill>
                <a:latin typeface="Calibri" pitchFamily="34" charset="0"/>
                <a:ea typeface="Calibri" pitchFamily="34" charset="-122"/>
                <a:cs typeface="Calibri" pitchFamily="34" charset="-120"/>
              </a:rPr>
              <a:t>other 30%</a:t>
            </a:r>
            <a:endParaRPr lang="en-US" sz="1450" dirty="0"/>
          </a:p>
        </p:txBody>
      </p:sp>
      <p:sp>
        <p:nvSpPr>
          <p:cNvPr id="20" name="Text 18"/>
          <p:cNvSpPr txBox="1"/>
          <p:nvPr/>
        </p:nvSpPr>
        <p:spPr>
          <a:xfrm>
            <a:off x="6217920" y="3090672"/>
            <a:ext cx="4206240" cy="274320"/>
          </a:xfrm>
          <a:prstGeom prst="rect">
            <a:avLst/>
          </a:prstGeom>
          <a:noFill/>
          <a:ln/>
        </p:spPr>
        <p:txBody>
          <a:bodyPr wrap="square" lIns="0" tIns="0" rIns="0" bIns="0" rtlCol="0" anchor="ctr"/>
          <a:lstStyle/>
          <a:p>
            <a:pPr indent="0" marL="0">
              <a:buNone/>
            </a:pPr>
            <a:r>
              <a:rPr lang="en-US" sz="1450" dirty="0">
                <a:solidFill>
                  <a:srgbClr val="6B7280"/>
                </a:solidFill>
                <a:latin typeface="Calibri" pitchFamily="34" charset="0"/>
                <a:ea typeface="Calibri" pitchFamily="34" charset="-122"/>
                <a:cs typeface="Calibri" pitchFamily="34" charset="-120"/>
              </a:rPr>
              <a:t>⋮  one of the 41 sentences we wrote</a:t>
            </a:r>
            <a:endParaRPr lang="en-US" sz="1450" dirty="0"/>
          </a:p>
        </p:txBody>
      </p:sp>
      <p:sp>
        <p:nvSpPr>
          <p:cNvPr id="21" name="Text 19"/>
          <p:cNvSpPr txBox="1"/>
          <p:nvPr/>
        </p:nvSpPr>
        <p:spPr>
          <a:xfrm>
            <a:off x="548640" y="3611880"/>
            <a:ext cx="3657600" cy="621792"/>
          </a:xfrm>
          <a:prstGeom prst="rect">
            <a:avLst/>
          </a:prstGeom>
          <a:noFill/>
          <a:ln/>
        </p:spPr>
        <p:txBody>
          <a:bodyPr wrap="square" lIns="0" tIns="0" rIns="0" bIns="0" rtlCol="0" anchor="ctr"/>
          <a:lstStyle/>
          <a:p>
            <a:pPr algn="ctr" indent="0" marL="0">
              <a:buNone/>
            </a:pPr>
            <a:r>
              <a:rPr lang="en-US" sz="3850" b="1" dirty="0">
                <a:solidFill>
                  <a:srgbClr val="1E2761"/>
                </a:solidFill>
                <a:latin typeface="Cambria" pitchFamily="34" charset="0"/>
                <a:ea typeface="Cambria" pitchFamily="34" charset="-122"/>
                <a:cs typeface="Cambria" pitchFamily="34" charset="-120"/>
              </a:rPr>
              <a:t>0.764</a:t>
            </a:r>
            <a:endParaRPr lang="en-US" sz="3850" dirty="0"/>
          </a:p>
        </p:txBody>
      </p:sp>
      <p:sp>
        <p:nvSpPr>
          <p:cNvPr id="22" name="Text 20"/>
          <p:cNvSpPr txBox="1"/>
          <p:nvPr/>
        </p:nvSpPr>
        <p:spPr>
          <a:xfrm>
            <a:off x="548640" y="4215384"/>
            <a:ext cx="3657600" cy="512064"/>
          </a:xfrm>
          <a:prstGeom prst="rect">
            <a:avLst/>
          </a:prstGeom>
          <a:noFill/>
          <a:ln/>
        </p:spPr>
        <p:txBody>
          <a:bodyPr wrap="square" lIns="0" tIns="0" rIns="0" bIns="0" rtlCol="0" anchor="ctr"/>
          <a:lstStyle/>
          <a:p>
            <a:pPr algn="ctr" indent="0" marL="0">
              <a:buNone/>
            </a:pPr>
            <a:r>
              <a:rPr lang="en-US" sz="1550" dirty="0">
                <a:solidFill>
                  <a:srgbClr val="6B7280"/>
                </a:solidFill>
                <a:latin typeface="Calibri" pitchFamily="34" charset="0"/>
                <a:ea typeface="Calibri" pitchFamily="34" charset="-122"/>
                <a:cs typeface="Calibri" pitchFamily="34" charset="-120"/>
              </a:rPr>
              <a:t>word overlap with the real clause</a:t>
            </a:r>
            <a:endParaRPr lang="en-US" sz="1550" dirty="0"/>
          </a:p>
          <a:p>
            <a:pPr algn="ctr" indent="0" marL="0">
              <a:buNone/>
            </a:pPr>
            <a:r>
              <a:rPr lang="en-US" sz="1550" dirty="0">
                <a:solidFill>
                  <a:srgbClr val="6B7280"/>
                </a:solidFill>
                <a:latin typeface="Calibri" pitchFamily="34" charset="0"/>
                <a:ea typeface="Calibri" pitchFamily="34" charset="-122"/>
                <a:cs typeface="Calibri" pitchFamily="34" charset="-120"/>
              </a:rPr>
              <a:t>95% range 0.743 to 0.782</a:t>
            </a:r>
            <a:endParaRPr lang="en-US" sz="1550" dirty="0"/>
          </a:p>
        </p:txBody>
      </p:sp>
      <p:sp>
        <p:nvSpPr>
          <p:cNvPr id="23" name="Text 21"/>
          <p:cNvSpPr txBox="1"/>
          <p:nvPr/>
        </p:nvSpPr>
        <p:spPr>
          <a:xfrm>
            <a:off x="4389120" y="3611880"/>
            <a:ext cx="3657600" cy="621792"/>
          </a:xfrm>
          <a:prstGeom prst="rect">
            <a:avLst/>
          </a:prstGeom>
          <a:noFill/>
          <a:ln/>
        </p:spPr>
        <p:txBody>
          <a:bodyPr wrap="square" lIns="0" tIns="0" rIns="0" bIns="0" rtlCol="0" anchor="ctr"/>
          <a:lstStyle/>
          <a:p>
            <a:pPr algn="ctr" indent="0" marL="0">
              <a:buNone/>
            </a:pPr>
            <a:r>
              <a:rPr lang="en-US" sz="3850" b="1" dirty="0">
                <a:solidFill>
                  <a:srgbClr val="1E2761"/>
                </a:solidFill>
                <a:latin typeface="Cambria" pitchFamily="34" charset="0"/>
                <a:ea typeface="Cambria" pitchFamily="34" charset="-122"/>
                <a:cs typeface="Cambria" pitchFamily="34" charset="-120"/>
              </a:rPr>
              <a:t>82.8%</a:t>
            </a:r>
            <a:endParaRPr lang="en-US" sz="3850" dirty="0"/>
          </a:p>
        </p:txBody>
      </p:sp>
      <p:sp>
        <p:nvSpPr>
          <p:cNvPr id="24" name="Text 22"/>
          <p:cNvSpPr txBox="1"/>
          <p:nvPr/>
        </p:nvSpPr>
        <p:spPr>
          <a:xfrm>
            <a:off x="4389120" y="4215384"/>
            <a:ext cx="3657600" cy="512064"/>
          </a:xfrm>
          <a:prstGeom prst="rect">
            <a:avLst/>
          </a:prstGeom>
          <a:noFill/>
          <a:ln/>
        </p:spPr>
        <p:txBody>
          <a:bodyPr wrap="square" lIns="0" tIns="0" rIns="0" bIns="0" rtlCol="0" anchor="ctr"/>
          <a:lstStyle/>
          <a:p>
            <a:pPr algn="ctr" indent="0" marL="0">
              <a:buNone/>
            </a:pPr>
            <a:r>
              <a:rPr lang="en-US" sz="1550" dirty="0">
                <a:solidFill>
                  <a:srgbClr val="6B7280"/>
                </a:solidFill>
                <a:latin typeface="Calibri" pitchFamily="34" charset="0"/>
                <a:ea typeface="Calibri" pitchFamily="34" charset="-122"/>
                <a:cs typeface="Calibri" pitchFamily="34" charset="-120"/>
              </a:rPr>
              <a:t>of answers match the real clause</a:t>
            </a:r>
            <a:endParaRPr lang="en-US" sz="1550" dirty="0"/>
          </a:p>
          <a:p>
            <a:pPr algn="ctr" indent="0" marL="0">
              <a:buNone/>
            </a:pPr>
            <a:r>
              <a:rPr lang="en-US" sz="1550" dirty="0">
                <a:solidFill>
                  <a:srgbClr val="6B7280"/>
                </a:solidFill>
                <a:latin typeface="Calibri" pitchFamily="34" charset="0"/>
                <a:ea typeface="Calibri" pitchFamily="34" charset="-122"/>
                <a:cs typeface="Calibri" pitchFamily="34" charset="-120"/>
              </a:rPr>
              <a:t>well (overlap of 0.5 or more)</a:t>
            </a:r>
            <a:endParaRPr lang="en-US" sz="1550" dirty="0"/>
          </a:p>
        </p:txBody>
      </p:sp>
      <p:sp>
        <p:nvSpPr>
          <p:cNvPr id="25" name="Text 23"/>
          <p:cNvSpPr txBox="1"/>
          <p:nvPr/>
        </p:nvSpPr>
        <p:spPr>
          <a:xfrm>
            <a:off x="8229600" y="3611880"/>
            <a:ext cx="3474720" cy="621792"/>
          </a:xfrm>
          <a:prstGeom prst="rect">
            <a:avLst/>
          </a:prstGeom>
          <a:noFill/>
          <a:ln/>
        </p:spPr>
        <p:txBody>
          <a:bodyPr wrap="square" lIns="0" tIns="0" rIns="0" bIns="0" rtlCol="0" anchor="ctr"/>
          <a:lstStyle/>
          <a:p>
            <a:pPr algn="ctr" indent="0" marL="0">
              <a:buNone/>
            </a:pPr>
            <a:r>
              <a:rPr lang="en-US" sz="3850" b="1" dirty="0">
                <a:solidFill>
                  <a:srgbClr val="1E2761"/>
                </a:solidFill>
                <a:latin typeface="Cambria" pitchFamily="34" charset="0"/>
                <a:ea typeface="Cambria" pitchFamily="34" charset="-122"/>
                <a:cs typeface="Cambria" pitchFamily="34" charset="-120"/>
              </a:rPr>
              <a:t>0.775</a:t>
            </a:r>
            <a:endParaRPr lang="en-US" sz="3850" dirty="0"/>
          </a:p>
        </p:txBody>
      </p:sp>
      <p:sp>
        <p:nvSpPr>
          <p:cNvPr id="26" name="Text 24"/>
          <p:cNvSpPr txBox="1"/>
          <p:nvPr/>
        </p:nvSpPr>
        <p:spPr>
          <a:xfrm>
            <a:off x="8229600" y="4215384"/>
            <a:ext cx="3474720" cy="512064"/>
          </a:xfrm>
          <a:prstGeom prst="rect">
            <a:avLst/>
          </a:prstGeom>
          <a:noFill/>
          <a:ln/>
        </p:spPr>
        <p:txBody>
          <a:bodyPr wrap="square" lIns="0" tIns="0" rIns="0" bIns="0" rtlCol="0" anchor="ctr"/>
          <a:lstStyle/>
          <a:p>
            <a:pPr algn="ctr" indent="0" marL="0">
              <a:buNone/>
            </a:pPr>
            <a:r>
              <a:rPr lang="en-US" sz="1550" dirty="0">
                <a:solidFill>
                  <a:srgbClr val="6B7280"/>
                </a:solidFill>
                <a:latin typeface="Calibri" pitchFamily="34" charset="0"/>
                <a:ea typeface="Calibri" pitchFamily="34" charset="-122"/>
                <a:cs typeface="Calibri" pitchFamily="34" charset="-120"/>
              </a:rPr>
              <a:t>ROUGE-L word-match score</a:t>
            </a:r>
            <a:endParaRPr lang="en-US" sz="1550" dirty="0"/>
          </a:p>
          <a:p>
            <a:pPr algn="ctr" indent="0" marL="0">
              <a:buNone/>
            </a:pPr>
            <a:r>
              <a:rPr lang="en-US" sz="1550" dirty="0">
                <a:solidFill>
                  <a:srgbClr val="6B7280"/>
                </a:solidFill>
                <a:latin typeface="Calibri" pitchFamily="34" charset="0"/>
                <a:ea typeface="Calibri" pitchFamily="34" charset="-122"/>
                <a:cs typeface="Calibri" pitchFamily="34" charset="-120"/>
              </a:rPr>
              <a:t>against our 41 sentences</a:t>
            </a:r>
            <a:endParaRPr lang="en-US" sz="1550" dirty="0"/>
          </a:p>
        </p:txBody>
      </p:sp>
      <p:sp>
        <p:nvSpPr>
          <p:cNvPr id="27" name="Shape 25"/>
          <p:cNvSpPr/>
          <p:nvPr/>
        </p:nvSpPr>
        <p:spPr>
          <a:xfrm>
            <a:off x="548640" y="4937760"/>
            <a:ext cx="11155680" cy="1325880"/>
          </a:xfrm>
          <a:prstGeom prst="roundRect">
            <a:avLst>
              <a:gd name="adj" fmla="val 4828"/>
            </a:avLst>
          </a:prstGeom>
          <a:solidFill>
            <a:srgbClr val="F6F7FB"/>
          </a:solidFill>
          <a:ln w="12700">
            <a:solidFill>
              <a:srgbClr val="E4E7F2"/>
            </a:solidFill>
            <a:prstDash val="solid"/>
          </a:ln>
        </p:spPr>
      </p:sp>
      <p:sp>
        <p:nvSpPr>
          <p:cNvPr id="28" name="Shape 26"/>
          <p:cNvSpPr/>
          <p:nvPr/>
        </p:nvSpPr>
        <p:spPr>
          <a:xfrm>
            <a:off x="731520" y="5111496"/>
            <a:ext cx="256032" cy="256032"/>
          </a:xfrm>
          <a:prstGeom prst="ellipse">
            <a:avLst/>
          </a:prstGeom>
          <a:solidFill>
            <a:srgbClr val="1E2761"/>
          </a:solidFill>
          <a:ln w="12700">
            <a:solidFill>
              <a:srgbClr val="1E2761"/>
            </a:solidFill>
            <a:prstDash val="solid"/>
          </a:ln>
        </p:spPr>
      </p:sp>
      <p:sp>
        <p:nvSpPr>
          <p:cNvPr id="29" name="Text 27"/>
          <p:cNvSpPr txBox="1"/>
          <p:nvPr/>
        </p:nvSpPr>
        <p:spPr>
          <a:xfrm>
            <a:off x="1078992" y="5047488"/>
            <a:ext cx="10469880" cy="310896"/>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How to read these numbers</a:t>
            </a:r>
            <a:endParaRPr lang="en-US" sz="1650" dirty="0"/>
          </a:p>
        </p:txBody>
      </p:sp>
      <p:sp>
        <p:nvSpPr>
          <p:cNvPr id="30" name="Text 28"/>
          <p:cNvSpPr txBox="1"/>
          <p:nvPr/>
        </p:nvSpPr>
        <p:spPr>
          <a:xfrm>
            <a:off x="749808" y="5449824"/>
            <a:ext cx="10753344" cy="667512"/>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The text score is measured when the model is given the right part of the contract, and our model is about ten times smaller than the best published one. The explanation describes the clause type, not each clause's details, so it scores only 0.116 against clause-specific references.</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548640" y="109728"/>
            <a:ext cx="2286000" cy="301752"/>
          </a:xfrm>
          <a:prstGeom prst="roundRect">
            <a:avLst>
              <a:gd name="adj" fmla="val 45455"/>
            </a:avLst>
          </a:prstGeom>
          <a:solidFill>
            <a:srgbClr val="CADCFC"/>
          </a:solidFill>
          <a:ln w="12700">
            <a:solidFill>
              <a:srgbClr val="CADCFC"/>
            </a:solidFill>
            <a:prstDash val="solid"/>
          </a:ln>
        </p:spPr>
      </p:sp>
      <p:sp>
        <p:nvSpPr>
          <p:cNvPr id="3" name="Text 1"/>
          <p:cNvSpPr txBox="1"/>
          <p:nvPr/>
        </p:nvSpPr>
        <p:spPr>
          <a:xfrm>
            <a:off x="548640" y="109728"/>
            <a:ext cx="2286000" cy="301752"/>
          </a:xfrm>
          <a:prstGeom prst="rect">
            <a:avLst/>
          </a:prstGeom>
          <a:noFill/>
          <a:ln/>
        </p:spPr>
        <p:txBody>
          <a:bodyPr wrap="square" lIns="0" tIns="0" rIns="0" bIns="0" rtlCol="0" anchor="ctr"/>
          <a:lstStyle/>
          <a:p>
            <a:pPr algn="ctr" indent="0" marL="0">
              <a:buNone/>
            </a:pPr>
            <a:r>
              <a:rPr lang="en-US" sz="1450" b="1" dirty="0">
                <a:solidFill>
                  <a:srgbClr val="1E2761"/>
                </a:solidFill>
                <a:latin typeface="Calibri" pitchFamily="34" charset="0"/>
                <a:ea typeface="Calibri" pitchFamily="34" charset="-122"/>
                <a:cs typeface="Calibri" pitchFamily="34" charset="-120"/>
              </a:rPr>
              <a:t>RESULTS</a:t>
            </a:r>
            <a:endParaRPr lang="en-US" sz="1450" dirty="0"/>
          </a:p>
        </p:txBody>
      </p:sp>
      <p:sp>
        <p:nvSpPr>
          <p:cNvPr id="4" name="Text 2"/>
          <p:cNvSpPr txBox="1"/>
          <p:nvPr/>
        </p:nvSpPr>
        <p:spPr>
          <a:xfrm>
            <a:off x="563728" y="329184"/>
            <a:ext cx="11064240" cy="676656"/>
          </a:xfrm>
          <a:prstGeom prst="rect">
            <a:avLst/>
          </a:prstGeom>
          <a:noFill/>
          <a:ln/>
        </p:spPr>
        <p:txBody>
          <a:bodyPr wrap="square" rtlCol="0" anchor="ctr"/>
          <a:lstStyle/>
          <a:p>
            <a:pPr algn="ctr" indent="0" marL="0">
              <a:buNone/>
            </a:pPr>
            <a:r>
              <a:rPr lang="en-US" sz="3500" b="1" dirty="0">
                <a:solidFill>
                  <a:srgbClr val="141B3D"/>
                </a:solidFill>
                <a:latin typeface="Cambria" pitchFamily="34" charset="0"/>
                <a:ea typeface="Cambria" pitchFamily="34" charset="-122"/>
                <a:cs typeface="Cambria" pitchFamily="34" charset="-120"/>
              </a:rPr>
              <a:t>Result 3: Clausify, the working app</a:t>
            </a:r>
            <a:endParaRPr lang="en-US" sz="3500" dirty="0"/>
          </a:p>
        </p:txBody>
      </p:sp>
      <p:sp>
        <p:nvSpPr>
          <p:cNvPr id="5" name="Text 3"/>
          <p:cNvSpPr txBox="1"/>
          <p:nvPr/>
        </p:nvSpPr>
        <p:spPr>
          <a:xfrm>
            <a:off x="563728" y="1024128"/>
            <a:ext cx="11064240" cy="347472"/>
          </a:xfrm>
          <a:prstGeom prst="rect">
            <a:avLst/>
          </a:prstGeom>
          <a:noFill/>
          <a:ln/>
        </p:spPr>
        <p:txBody>
          <a:bodyPr wrap="square" rtlCol="0" anchor="ctr"/>
          <a:lstStyle/>
          <a:p>
            <a:pPr algn="ctr" indent="0" marL="0">
              <a:buNone/>
            </a:pPr>
            <a:r>
              <a:rPr lang="en-US" sz="1700" i="1" dirty="0">
                <a:solidFill>
                  <a:srgbClr val="6B7280"/>
                </a:solidFill>
                <a:latin typeface="Calibri" pitchFamily="34" charset="0"/>
                <a:ea typeface="Calibri" pitchFamily="34" charset="-122"/>
                <a:cs typeface="Calibri" pitchFamily="34" charset="-120"/>
              </a:rPr>
              <a:t>All the trained models running on any contract, risky clauses first</a:t>
            </a:r>
            <a:endParaRPr lang="en-US" sz="1700" dirty="0"/>
          </a:p>
        </p:txBody>
      </p:sp>
      <p:sp>
        <p:nvSpPr>
          <p:cNvPr id="7" name="Text 4"/>
          <p:cNvSpPr txBox="1"/>
          <p:nvPr/>
        </p:nvSpPr>
        <p:spPr>
          <a:xfrm>
            <a:off x="548640" y="3675888"/>
            <a:ext cx="3657600" cy="274320"/>
          </a:xfrm>
          <a:prstGeom prst="rect">
            <a:avLst/>
          </a:prstGeom>
          <a:noFill/>
          <a:ln/>
        </p:spPr>
        <p:txBody>
          <a:bodyPr wrap="square" lIns="0" tIns="0" rIns="0" bIns="0" rtlCol="0" anchor="ctr"/>
          <a:lstStyle/>
          <a:p>
            <a:pPr algn="ctr" indent="0" marL="0">
              <a:buNone/>
            </a:pPr>
            <a:r>
              <a:rPr lang="en-US" sz="1400" i="1" dirty="0">
                <a:solidFill>
                  <a:srgbClr val="6B7280"/>
                </a:solidFill>
                <a:latin typeface="Calibri" pitchFamily="34" charset="0"/>
                <a:ea typeface="Calibri" pitchFamily="34" charset="-122"/>
                <a:cs typeface="Calibri" pitchFamily="34" charset="-120"/>
              </a:rPr>
              <a:t>The report, sorted by risk (Fig. 4.15)</a:t>
            </a:r>
            <a:endParaRPr lang="en-US" sz="1400" dirty="0"/>
          </a:p>
        </p:txBody>
      </p:sp>
      <p:sp>
        <p:nvSpPr>
          <p:cNvPr id="8" name="Shape 5"/>
          <p:cNvSpPr/>
          <p:nvPr/>
        </p:nvSpPr>
        <p:spPr>
          <a:xfrm>
            <a:off x="4434840" y="1371600"/>
            <a:ext cx="3566160" cy="1097280"/>
          </a:xfrm>
          <a:prstGeom prst="roundRect">
            <a:avLst>
              <a:gd name="adj" fmla="val 5833"/>
            </a:avLst>
          </a:prstGeom>
          <a:solidFill>
            <a:srgbClr val="F6F7FB"/>
          </a:solidFill>
          <a:ln w="12700">
            <a:solidFill>
              <a:srgbClr val="E4E7F2"/>
            </a:solidFill>
            <a:prstDash val="solid"/>
          </a:ln>
        </p:spPr>
      </p:sp>
      <p:sp>
        <p:nvSpPr>
          <p:cNvPr id="9" name="Shape 6"/>
          <p:cNvSpPr/>
          <p:nvPr/>
        </p:nvSpPr>
        <p:spPr>
          <a:xfrm>
            <a:off x="4617720" y="1545336"/>
            <a:ext cx="256032" cy="256032"/>
          </a:xfrm>
          <a:prstGeom prst="ellipse">
            <a:avLst/>
          </a:prstGeom>
          <a:solidFill>
            <a:srgbClr val="1E2761"/>
          </a:solidFill>
          <a:ln w="12700">
            <a:solidFill>
              <a:srgbClr val="1E2761"/>
            </a:solidFill>
            <a:prstDash val="solid"/>
          </a:ln>
        </p:spPr>
      </p:sp>
      <p:sp>
        <p:nvSpPr>
          <p:cNvPr id="10" name="Text 7"/>
          <p:cNvSpPr txBox="1"/>
          <p:nvPr/>
        </p:nvSpPr>
        <p:spPr>
          <a:xfrm>
            <a:off x="4965192" y="1481328"/>
            <a:ext cx="2880360" cy="310896"/>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Speed</a:t>
            </a:r>
            <a:endParaRPr lang="en-US" sz="1650" dirty="0"/>
          </a:p>
        </p:txBody>
      </p:sp>
      <p:sp>
        <p:nvSpPr>
          <p:cNvPr id="11" name="Text 8"/>
          <p:cNvSpPr txBox="1"/>
          <p:nvPr/>
        </p:nvSpPr>
        <p:spPr>
          <a:xfrm>
            <a:off x="4636008" y="1883664"/>
            <a:ext cx="3163824" cy="438912"/>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About a minute for a normal contract; 103 s at most.</a:t>
            </a:r>
            <a:endParaRPr lang="en-US" sz="1550" dirty="0"/>
          </a:p>
        </p:txBody>
      </p:sp>
      <p:sp>
        <p:nvSpPr>
          <p:cNvPr id="12" name="Shape 9"/>
          <p:cNvSpPr/>
          <p:nvPr/>
        </p:nvSpPr>
        <p:spPr>
          <a:xfrm>
            <a:off x="8138160" y="1371600"/>
            <a:ext cx="3566160" cy="1097280"/>
          </a:xfrm>
          <a:prstGeom prst="roundRect">
            <a:avLst>
              <a:gd name="adj" fmla="val 5833"/>
            </a:avLst>
          </a:prstGeom>
          <a:solidFill>
            <a:srgbClr val="F6F7FB"/>
          </a:solidFill>
          <a:ln w="12700">
            <a:solidFill>
              <a:srgbClr val="E4E7F2"/>
            </a:solidFill>
            <a:prstDash val="solid"/>
          </a:ln>
        </p:spPr>
      </p:sp>
      <p:sp>
        <p:nvSpPr>
          <p:cNvPr id="13" name="Shape 10"/>
          <p:cNvSpPr/>
          <p:nvPr/>
        </p:nvSpPr>
        <p:spPr>
          <a:xfrm>
            <a:off x="8321040" y="1545336"/>
            <a:ext cx="256032" cy="256032"/>
          </a:xfrm>
          <a:prstGeom prst="ellipse">
            <a:avLst/>
          </a:prstGeom>
          <a:solidFill>
            <a:srgbClr val="4CAF82"/>
          </a:solidFill>
          <a:ln w="12700">
            <a:solidFill>
              <a:srgbClr val="4CAF82"/>
            </a:solidFill>
            <a:prstDash val="solid"/>
          </a:ln>
        </p:spPr>
      </p:sp>
      <p:sp>
        <p:nvSpPr>
          <p:cNvPr id="14" name="Text 11"/>
          <p:cNvSpPr txBox="1"/>
          <p:nvPr/>
        </p:nvSpPr>
        <p:spPr>
          <a:xfrm>
            <a:off x="8668512" y="1481328"/>
            <a:ext cx="2880360" cy="310896"/>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Finds risky clauses</a:t>
            </a:r>
            <a:endParaRPr lang="en-US" sz="1650" dirty="0"/>
          </a:p>
        </p:txBody>
      </p:sp>
      <p:sp>
        <p:nvSpPr>
          <p:cNvPr id="15" name="Text 12"/>
          <p:cNvSpPr txBox="1"/>
          <p:nvPr/>
        </p:nvSpPr>
        <p:spPr>
          <a:xfrm>
            <a:off x="8339328" y="1883664"/>
            <a:ext cx="3163824" cy="438912"/>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By default it finds 90% of High-risk clauses.</a:t>
            </a:r>
            <a:endParaRPr lang="en-US" sz="1550" dirty="0"/>
          </a:p>
        </p:txBody>
      </p:sp>
      <p:sp>
        <p:nvSpPr>
          <p:cNvPr id="16" name="Shape 13"/>
          <p:cNvSpPr/>
          <p:nvPr/>
        </p:nvSpPr>
        <p:spPr>
          <a:xfrm>
            <a:off x="4434840" y="2606040"/>
            <a:ext cx="3566160" cy="1051560"/>
          </a:xfrm>
          <a:prstGeom prst="roundRect">
            <a:avLst>
              <a:gd name="adj" fmla="val 6087"/>
            </a:avLst>
          </a:prstGeom>
          <a:solidFill>
            <a:srgbClr val="F6F7FB"/>
          </a:solidFill>
          <a:ln w="12700">
            <a:solidFill>
              <a:srgbClr val="E4E7F2"/>
            </a:solidFill>
            <a:prstDash val="solid"/>
          </a:ln>
        </p:spPr>
      </p:sp>
      <p:sp>
        <p:nvSpPr>
          <p:cNvPr id="17" name="Shape 14"/>
          <p:cNvSpPr/>
          <p:nvPr/>
        </p:nvSpPr>
        <p:spPr>
          <a:xfrm>
            <a:off x="4617720" y="2779776"/>
            <a:ext cx="256032" cy="256032"/>
          </a:xfrm>
          <a:prstGeom prst="ellipse">
            <a:avLst/>
          </a:prstGeom>
          <a:solidFill>
            <a:srgbClr val="E8A13A"/>
          </a:solidFill>
          <a:ln w="12700">
            <a:solidFill>
              <a:srgbClr val="E8A13A"/>
            </a:solidFill>
            <a:prstDash val="solid"/>
          </a:ln>
        </p:spPr>
      </p:sp>
      <p:sp>
        <p:nvSpPr>
          <p:cNvPr id="18" name="Text 15"/>
          <p:cNvSpPr txBox="1"/>
          <p:nvPr/>
        </p:nvSpPr>
        <p:spPr>
          <a:xfrm>
            <a:off x="4965192" y="2715768"/>
            <a:ext cx="2880360" cy="310896"/>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Clause mode</a:t>
            </a:r>
            <a:endParaRPr lang="en-US" sz="1650" dirty="0"/>
          </a:p>
        </p:txBody>
      </p:sp>
      <p:sp>
        <p:nvSpPr>
          <p:cNvPr id="19" name="Text 16"/>
          <p:cNvSpPr txBox="1"/>
          <p:nvPr/>
        </p:nvSpPr>
        <p:spPr>
          <a:xfrm>
            <a:off x="4636008" y="3118104"/>
            <a:ext cx="3163824" cy="393192"/>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One card per clause: 18 clauses give 18 cards.</a:t>
            </a:r>
            <a:endParaRPr lang="en-US" sz="1550" dirty="0"/>
          </a:p>
        </p:txBody>
      </p:sp>
      <p:sp>
        <p:nvSpPr>
          <p:cNvPr id="20" name="Shape 17"/>
          <p:cNvSpPr/>
          <p:nvPr/>
        </p:nvSpPr>
        <p:spPr>
          <a:xfrm>
            <a:off x="8138160" y="2606040"/>
            <a:ext cx="3566160" cy="1051560"/>
          </a:xfrm>
          <a:prstGeom prst="roundRect">
            <a:avLst>
              <a:gd name="adj" fmla="val 6087"/>
            </a:avLst>
          </a:prstGeom>
          <a:solidFill>
            <a:srgbClr val="F6F7FB"/>
          </a:solidFill>
          <a:ln w="12700">
            <a:solidFill>
              <a:srgbClr val="E4E7F2"/>
            </a:solidFill>
            <a:prstDash val="solid"/>
          </a:ln>
        </p:spPr>
      </p:sp>
      <p:sp>
        <p:nvSpPr>
          <p:cNvPr id="21" name="Shape 18"/>
          <p:cNvSpPr/>
          <p:nvPr/>
        </p:nvSpPr>
        <p:spPr>
          <a:xfrm>
            <a:off x="8321040" y="2779776"/>
            <a:ext cx="256032" cy="256032"/>
          </a:xfrm>
          <a:prstGeom prst="ellipse">
            <a:avLst/>
          </a:prstGeom>
          <a:solidFill>
            <a:srgbClr val="4CAF82"/>
          </a:solidFill>
          <a:ln w="12700">
            <a:solidFill>
              <a:srgbClr val="4CAF82"/>
            </a:solidFill>
            <a:prstDash val="solid"/>
          </a:ln>
        </p:spPr>
      </p:sp>
      <p:sp>
        <p:nvSpPr>
          <p:cNvPr id="22" name="Text 19"/>
          <p:cNvSpPr txBox="1"/>
          <p:nvPr/>
        </p:nvSpPr>
        <p:spPr>
          <a:xfrm>
            <a:off x="8668512" y="2715768"/>
            <a:ext cx="2880360" cy="310896"/>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Private</a:t>
            </a:r>
            <a:endParaRPr lang="en-US" sz="1650" dirty="0"/>
          </a:p>
        </p:txBody>
      </p:sp>
      <p:sp>
        <p:nvSpPr>
          <p:cNvPr id="23" name="Text 20"/>
          <p:cNvSpPr txBox="1"/>
          <p:nvPr/>
        </p:nvSpPr>
        <p:spPr>
          <a:xfrm>
            <a:off x="8339328" y="3118104"/>
            <a:ext cx="3163824" cy="393192"/>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Runs on your own computer; nothing is saved or sent.</a:t>
            </a:r>
            <a:endParaRPr lang="en-US" sz="1550" dirty="0"/>
          </a:p>
        </p:txBody>
      </p:sp>
      <p:sp>
        <p:nvSpPr>
          <p:cNvPr id="24" name="Text 21"/>
          <p:cNvSpPr txBox="1"/>
          <p:nvPr/>
        </p:nvSpPr>
        <p:spPr>
          <a:xfrm>
            <a:off x="548640" y="3977640"/>
            <a:ext cx="11155680" cy="310896"/>
          </a:xfrm>
          <a:prstGeom prst="rect">
            <a:avLst/>
          </a:prstGeom>
          <a:noFill/>
          <a:ln/>
        </p:spPr>
        <p:txBody>
          <a:bodyPr wrap="square" lIns="0" tIns="0" rIns="0" bIns="0" rtlCol="0" anchor="ctr"/>
          <a:lstStyle/>
          <a:p>
            <a:pPr indent="0" marL="0">
              <a:buNone/>
            </a:pPr>
            <a:r>
              <a:rPr lang="en-US" sz="1800" b="1" dirty="0">
                <a:solidFill>
                  <a:srgbClr val="141B3D"/>
                </a:solidFill>
                <a:latin typeface="Cambria" pitchFamily="34" charset="0"/>
                <a:ea typeface="Cambria" pitchFamily="34" charset="-122"/>
                <a:cs typeface="Cambria" pitchFamily="34" charset="-120"/>
              </a:rPr>
              <a:t>What the app does</a:t>
            </a:r>
            <a:endParaRPr lang="en-US" sz="1800" dirty="0"/>
          </a:p>
        </p:txBody>
      </p:sp>
      <p:sp>
        <p:nvSpPr>
          <p:cNvPr id="25" name="Shape 22"/>
          <p:cNvSpPr/>
          <p:nvPr/>
        </p:nvSpPr>
        <p:spPr>
          <a:xfrm>
            <a:off x="548640" y="4370832"/>
            <a:ext cx="5486400" cy="868680"/>
          </a:xfrm>
          <a:prstGeom prst="roundRect">
            <a:avLst>
              <a:gd name="adj" fmla="val 6316"/>
            </a:avLst>
          </a:prstGeom>
          <a:solidFill>
            <a:srgbClr val="F6F7FB"/>
          </a:solidFill>
          <a:ln w="12700">
            <a:solidFill>
              <a:srgbClr val="E4E7F2"/>
            </a:solidFill>
            <a:prstDash val="solid"/>
          </a:ln>
        </p:spPr>
      </p:sp>
      <p:sp>
        <p:nvSpPr>
          <p:cNvPr id="26" name="Shape 23"/>
          <p:cNvSpPr/>
          <p:nvPr/>
        </p:nvSpPr>
        <p:spPr>
          <a:xfrm>
            <a:off x="731520" y="4663440"/>
            <a:ext cx="256032" cy="256032"/>
          </a:xfrm>
          <a:prstGeom prst="ellipse">
            <a:avLst/>
          </a:prstGeom>
          <a:solidFill>
            <a:srgbClr val="4CAF82"/>
          </a:solidFill>
          <a:ln w="12700">
            <a:solidFill>
              <a:srgbClr val="4CAF82"/>
            </a:solidFill>
            <a:prstDash val="solid"/>
          </a:ln>
        </p:spPr>
      </p:sp>
      <p:sp>
        <p:nvSpPr>
          <p:cNvPr id="27" name="Text 24"/>
          <p:cNvSpPr txBox="1"/>
          <p:nvPr/>
        </p:nvSpPr>
        <p:spPr>
          <a:xfrm>
            <a:off x="1078992" y="4425696"/>
            <a:ext cx="4754880" cy="329184"/>
          </a:xfrm>
          <a:prstGeom prst="rect">
            <a:avLst/>
          </a:prstGeom>
          <a:noFill/>
          <a:ln/>
        </p:spPr>
        <p:txBody>
          <a:bodyPr wrap="square" lIns="0" tIns="0" rIns="0" bIns="0" rtlCol="0" anchor="ctr"/>
          <a:lstStyle/>
          <a:p>
            <a:pPr indent="0" marL="0">
              <a:buNone/>
            </a:pPr>
            <a:r>
              <a:rPr lang="en-US" sz="1600" b="1" dirty="0">
                <a:solidFill>
                  <a:srgbClr val="141B3D"/>
                </a:solidFill>
                <a:latin typeface="Calibri" pitchFamily="34" charset="0"/>
                <a:ea typeface="Calibri" pitchFamily="34" charset="-122"/>
                <a:cs typeface="Calibri" pitchFamily="34" charset="-120"/>
              </a:rPr>
              <a:t>Upload or paste</a:t>
            </a:r>
            <a:endParaRPr lang="en-US" sz="1600" dirty="0"/>
          </a:p>
        </p:txBody>
      </p:sp>
      <p:sp>
        <p:nvSpPr>
          <p:cNvPr id="28" name="Text 25"/>
          <p:cNvSpPr txBox="1"/>
          <p:nvPr/>
        </p:nvSpPr>
        <p:spPr>
          <a:xfrm>
            <a:off x="1078992" y="4754880"/>
            <a:ext cx="4800600" cy="438912"/>
          </a:xfrm>
          <a:prstGeom prst="rect">
            <a:avLst/>
          </a:prstGeom>
          <a:noFill/>
          <a:ln/>
        </p:spPr>
        <p:txBody>
          <a:bodyPr wrap="square" lIns="0" tIns="0" rIns="0" bIns="0" rtlCol="0" anchor="ctr"/>
          <a:lstStyle/>
          <a:p>
            <a:pPr indent="0" marL="0">
              <a:buNone/>
            </a:pPr>
            <a:r>
              <a:rPr lang="en-US" sz="1450" dirty="0">
                <a:solidFill>
                  <a:srgbClr val="374151"/>
                </a:solidFill>
                <a:latin typeface="Calibri" pitchFamily="34" charset="0"/>
                <a:ea typeface="Calibri" pitchFamily="34" charset="-122"/>
                <a:cs typeface="Calibri" pitchFamily="34" charset="-120"/>
              </a:rPr>
              <a:t>PDF, Word or text; a whole contract or a list of clauses</a:t>
            </a:r>
            <a:endParaRPr lang="en-US" sz="1450" dirty="0"/>
          </a:p>
        </p:txBody>
      </p:sp>
      <p:sp>
        <p:nvSpPr>
          <p:cNvPr id="29" name="Shape 26"/>
          <p:cNvSpPr/>
          <p:nvPr/>
        </p:nvSpPr>
        <p:spPr>
          <a:xfrm>
            <a:off x="6263640" y="4370832"/>
            <a:ext cx="5486400" cy="868680"/>
          </a:xfrm>
          <a:prstGeom prst="roundRect">
            <a:avLst>
              <a:gd name="adj" fmla="val 6316"/>
            </a:avLst>
          </a:prstGeom>
          <a:solidFill>
            <a:srgbClr val="F6F7FB"/>
          </a:solidFill>
          <a:ln w="12700">
            <a:solidFill>
              <a:srgbClr val="E4E7F2"/>
            </a:solidFill>
            <a:prstDash val="solid"/>
          </a:ln>
        </p:spPr>
      </p:sp>
      <p:sp>
        <p:nvSpPr>
          <p:cNvPr id="30" name="Shape 27"/>
          <p:cNvSpPr/>
          <p:nvPr/>
        </p:nvSpPr>
        <p:spPr>
          <a:xfrm>
            <a:off x="6446520" y="4663440"/>
            <a:ext cx="256032" cy="256032"/>
          </a:xfrm>
          <a:prstGeom prst="ellipse">
            <a:avLst/>
          </a:prstGeom>
          <a:solidFill>
            <a:srgbClr val="4CAF82"/>
          </a:solidFill>
          <a:ln w="12700">
            <a:solidFill>
              <a:srgbClr val="4CAF82"/>
            </a:solidFill>
            <a:prstDash val="solid"/>
          </a:ln>
        </p:spPr>
      </p:sp>
      <p:sp>
        <p:nvSpPr>
          <p:cNvPr id="31" name="Text 28"/>
          <p:cNvSpPr txBox="1"/>
          <p:nvPr/>
        </p:nvSpPr>
        <p:spPr>
          <a:xfrm>
            <a:off x="6793992" y="4425696"/>
            <a:ext cx="4754880" cy="329184"/>
          </a:xfrm>
          <a:prstGeom prst="rect">
            <a:avLst/>
          </a:prstGeom>
          <a:noFill/>
          <a:ln/>
        </p:spPr>
        <p:txBody>
          <a:bodyPr wrap="square" lIns="0" tIns="0" rIns="0" bIns="0" rtlCol="0" anchor="ctr"/>
          <a:lstStyle/>
          <a:p>
            <a:pPr indent="0" marL="0">
              <a:buNone/>
            </a:pPr>
            <a:r>
              <a:rPr lang="en-US" sz="1600" b="1" dirty="0">
                <a:solidFill>
                  <a:srgbClr val="141B3D"/>
                </a:solidFill>
                <a:latin typeface="Calibri" pitchFamily="34" charset="0"/>
                <a:ea typeface="Calibri" pitchFamily="34" charset="-122"/>
                <a:cs typeface="Calibri" pitchFamily="34" charset="-120"/>
              </a:rPr>
              <a:t>Cards sorted by risk</a:t>
            </a:r>
            <a:endParaRPr lang="en-US" sz="1600" dirty="0"/>
          </a:p>
        </p:txBody>
      </p:sp>
      <p:sp>
        <p:nvSpPr>
          <p:cNvPr id="32" name="Text 29"/>
          <p:cNvSpPr txBox="1"/>
          <p:nvPr/>
        </p:nvSpPr>
        <p:spPr>
          <a:xfrm>
            <a:off x="6793992" y="4754880"/>
            <a:ext cx="4800600" cy="438912"/>
          </a:xfrm>
          <a:prstGeom prst="rect">
            <a:avLst/>
          </a:prstGeom>
          <a:noFill/>
          <a:ln/>
        </p:spPr>
        <p:txBody>
          <a:bodyPr wrap="square" lIns="0" tIns="0" rIns="0" bIns="0" rtlCol="0" anchor="ctr"/>
          <a:lstStyle/>
          <a:p>
            <a:pPr indent="0" marL="0">
              <a:buNone/>
            </a:pPr>
            <a:r>
              <a:rPr lang="en-US" sz="1450" dirty="0">
                <a:solidFill>
                  <a:srgbClr val="374151"/>
                </a:solidFill>
                <a:latin typeface="Calibri" pitchFamily="34" charset="0"/>
                <a:ea typeface="Calibri" pitchFamily="34" charset="-122"/>
                <a:cs typeface="Calibri" pitchFamily="34" charset="-120"/>
              </a:rPr>
              <a:t>clause type, risk level and reason, a simple-English line and the quoted text</a:t>
            </a:r>
            <a:endParaRPr lang="en-US" sz="1450" dirty="0"/>
          </a:p>
        </p:txBody>
      </p:sp>
      <p:sp>
        <p:nvSpPr>
          <p:cNvPr id="33" name="Shape 30"/>
          <p:cNvSpPr/>
          <p:nvPr/>
        </p:nvSpPr>
        <p:spPr>
          <a:xfrm>
            <a:off x="548640" y="5330952"/>
            <a:ext cx="5486400" cy="868680"/>
          </a:xfrm>
          <a:prstGeom prst="roundRect">
            <a:avLst>
              <a:gd name="adj" fmla="val 6316"/>
            </a:avLst>
          </a:prstGeom>
          <a:solidFill>
            <a:srgbClr val="F6F7FB"/>
          </a:solidFill>
          <a:ln w="12700">
            <a:solidFill>
              <a:srgbClr val="E4E7F2"/>
            </a:solidFill>
            <a:prstDash val="solid"/>
          </a:ln>
        </p:spPr>
      </p:sp>
      <p:sp>
        <p:nvSpPr>
          <p:cNvPr id="34" name="Shape 31"/>
          <p:cNvSpPr/>
          <p:nvPr/>
        </p:nvSpPr>
        <p:spPr>
          <a:xfrm>
            <a:off x="731520" y="5623560"/>
            <a:ext cx="256032" cy="256032"/>
          </a:xfrm>
          <a:prstGeom prst="ellipse">
            <a:avLst/>
          </a:prstGeom>
          <a:solidFill>
            <a:srgbClr val="4CAF82"/>
          </a:solidFill>
          <a:ln w="12700">
            <a:solidFill>
              <a:srgbClr val="4CAF82"/>
            </a:solidFill>
            <a:prstDash val="solid"/>
          </a:ln>
        </p:spPr>
      </p:sp>
      <p:sp>
        <p:nvSpPr>
          <p:cNvPr id="35" name="Text 32"/>
          <p:cNvSpPr txBox="1"/>
          <p:nvPr/>
        </p:nvSpPr>
        <p:spPr>
          <a:xfrm>
            <a:off x="1078992" y="5385816"/>
            <a:ext cx="4754880" cy="329184"/>
          </a:xfrm>
          <a:prstGeom prst="rect">
            <a:avLst/>
          </a:prstGeom>
          <a:noFill/>
          <a:ln/>
        </p:spPr>
        <p:txBody>
          <a:bodyPr wrap="square" lIns="0" tIns="0" rIns="0" bIns="0" rtlCol="0" anchor="ctr"/>
          <a:lstStyle/>
          <a:p>
            <a:pPr indent="0" marL="0">
              <a:buNone/>
            </a:pPr>
            <a:r>
              <a:rPr lang="en-US" sz="1600" b="1" dirty="0">
                <a:solidFill>
                  <a:srgbClr val="141B3D"/>
                </a:solidFill>
                <a:latin typeface="Calibri" pitchFamily="34" charset="0"/>
                <a:ea typeface="Calibri" pitchFamily="34" charset="-122"/>
                <a:cs typeface="Calibri" pitchFamily="34" charset="-120"/>
              </a:rPr>
              <a:t>Highlighted contract</a:t>
            </a:r>
            <a:endParaRPr lang="en-US" sz="1600" dirty="0"/>
          </a:p>
        </p:txBody>
      </p:sp>
      <p:sp>
        <p:nvSpPr>
          <p:cNvPr id="36" name="Text 33"/>
          <p:cNvSpPr txBox="1"/>
          <p:nvPr/>
        </p:nvSpPr>
        <p:spPr>
          <a:xfrm>
            <a:off x="1078992" y="5715000"/>
            <a:ext cx="4800600" cy="438912"/>
          </a:xfrm>
          <a:prstGeom prst="rect">
            <a:avLst/>
          </a:prstGeom>
          <a:noFill/>
          <a:ln/>
        </p:spPr>
        <p:txBody>
          <a:bodyPr wrap="square" lIns="0" tIns="0" rIns="0" bIns="0" rtlCol="0" anchor="ctr"/>
          <a:lstStyle/>
          <a:p>
            <a:pPr indent="0" marL="0">
              <a:buNone/>
            </a:pPr>
            <a:r>
              <a:rPr lang="en-US" sz="1450" dirty="0">
                <a:solidFill>
                  <a:srgbClr val="374151"/>
                </a:solidFill>
                <a:latin typeface="Calibri" pitchFamily="34" charset="0"/>
                <a:ea typeface="Calibri" pitchFamily="34" charset="-122"/>
                <a:cs typeface="Calibri" pitchFamily="34" charset="-120"/>
              </a:rPr>
              <a:t>every clause marked in its risk colour, plus a checklist of missing protections</a:t>
            </a:r>
            <a:endParaRPr lang="en-US" sz="1450" dirty="0"/>
          </a:p>
        </p:txBody>
      </p:sp>
      <p:sp>
        <p:nvSpPr>
          <p:cNvPr id="37" name="Shape 34"/>
          <p:cNvSpPr/>
          <p:nvPr/>
        </p:nvSpPr>
        <p:spPr>
          <a:xfrm>
            <a:off x="6263640" y="5330952"/>
            <a:ext cx="5486400" cy="868680"/>
          </a:xfrm>
          <a:prstGeom prst="roundRect">
            <a:avLst>
              <a:gd name="adj" fmla="val 6316"/>
            </a:avLst>
          </a:prstGeom>
          <a:solidFill>
            <a:srgbClr val="F6F7FB"/>
          </a:solidFill>
          <a:ln w="12700">
            <a:solidFill>
              <a:srgbClr val="E4E7F2"/>
            </a:solidFill>
            <a:prstDash val="solid"/>
          </a:ln>
        </p:spPr>
      </p:sp>
      <p:sp>
        <p:nvSpPr>
          <p:cNvPr id="38" name="Shape 35"/>
          <p:cNvSpPr/>
          <p:nvPr/>
        </p:nvSpPr>
        <p:spPr>
          <a:xfrm>
            <a:off x="6446520" y="5623560"/>
            <a:ext cx="256032" cy="256032"/>
          </a:xfrm>
          <a:prstGeom prst="ellipse">
            <a:avLst/>
          </a:prstGeom>
          <a:solidFill>
            <a:srgbClr val="4CAF82"/>
          </a:solidFill>
          <a:ln w="12700">
            <a:solidFill>
              <a:srgbClr val="4CAF82"/>
            </a:solidFill>
            <a:prstDash val="solid"/>
          </a:ln>
        </p:spPr>
      </p:sp>
      <p:sp>
        <p:nvSpPr>
          <p:cNvPr id="39" name="Text 36"/>
          <p:cNvSpPr txBox="1"/>
          <p:nvPr/>
        </p:nvSpPr>
        <p:spPr>
          <a:xfrm>
            <a:off x="6793992" y="5385816"/>
            <a:ext cx="4754880" cy="329184"/>
          </a:xfrm>
          <a:prstGeom prst="rect">
            <a:avLst/>
          </a:prstGeom>
          <a:noFill/>
          <a:ln/>
        </p:spPr>
        <p:txBody>
          <a:bodyPr wrap="square" lIns="0" tIns="0" rIns="0" bIns="0" rtlCol="0" anchor="ctr"/>
          <a:lstStyle/>
          <a:p>
            <a:pPr indent="0" marL="0">
              <a:buNone/>
            </a:pPr>
            <a:r>
              <a:rPr lang="en-US" sz="1600" b="1" dirty="0">
                <a:solidFill>
                  <a:srgbClr val="141B3D"/>
                </a:solidFill>
                <a:latin typeface="Calibri" pitchFamily="34" charset="0"/>
                <a:ea typeface="Calibri" pitchFamily="34" charset="-122"/>
                <a:cs typeface="Calibri" pitchFamily="34" charset="-120"/>
              </a:rPr>
              <a:t>Download a report</a:t>
            </a:r>
            <a:endParaRPr lang="en-US" sz="1600" dirty="0"/>
          </a:p>
        </p:txBody>
      </p:sp>
      <p:sp>
        <p:nvSpPr>
          <p:cNvPr id="40" name="Text 37"/>
          <p:cNvSpPr txBox="1"/>
          <p:nvPr/>
        </p:nvSpPr>
        <p:spPr>
          <a:xfrm>
            <a:off x="6793992" y="5715000"/>
            <a:ext cx="4800600" cy="438912"/>
          </a:xfrm>
          <a:prstGeom prst="rect">
            <a:avLst/>
          </a:prstGeom>
          <a:noFill/>
          <a:ln/>
        </p:spPr>
        <p:txBody>
          <a:bodyPr wrap="square" lIns="0" tIns="0" rIns="0" bIns="0" rtlCol="0" anchor="ctr"/>
          <a:lstStyle/>
          <a:p>
            <a:pPr indent="0" marL="0">
              <a:buNone/>
            </a:pPr>
            <a:r>
              <a:rPr lang="en-US" sz="1450" dirty="0">
                <a:solidFill>
                  <a:srgbClr val="374151"/>
                </a:solidFill>
                <a:latin typeface="Calibri" pitchFamily="34" charset="0"/>
                <a:ea typeface="Calibri" pitchFamily="34" charset="-122"/>
                <a:cs typeface="Calibri" pitchFamily="34" charset="-120"/>
              </a:rPr>
              <a:t>PDF and CSV files; all 42 app tests pass</a:t>
            </a:r>
            <a:endParaRPr lang="en-US" sz="1450" dirty="0"/>
          </a:p>
        </p:txBody>
      </p:sp>
      <p:pic>
        <p:nvPicPr>
          <p:cNvPr id="41" name="Picture 40" descr="app_results.png"/>
          <p:cNvPicPr>
            <a:picLocks noChangeAspect="1"/>
          </p:cNvPicPr>
          <p:nvPr/>
        </p:nvPicPr>
        <p:blipFill>
          <a:blip r:embed="rId4"/>
          <a:stretch>
            <a:fillRect/>
          </a:stretch>
        </p:blipFill>
        <p:spPr>
          <a:xfrm>
            <a:off x="776039" y="1371600"/>
            <a:ext cx="3202802" cy="22860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548640" y="109728"/>
            <a:ext cx="2286000" cy="301752"/>
          </a:xfrm>
          <a:prstGeom prst="roundRect">
            <a:avLst>
              <a:gd name="adj" fmla="val 45455"/>
            </a:avLst>
          </a:prstGeom>
          <a:solidFill>
            <a:srgbClr val="1E2761"/>
          </a:solidFill>
          <a:ln w="12700">
            <a:solidFill>
              <a:srgbClr val="1E2761"/>
            </a:solidFill>
            <a:prstDash val="solid"/>
          </a:ln>
        </p:spPr>
      </p:sp>
      <p:sp>
        <p:nvSpPr>
          <p:cNvPr id="3" name="Text 1"/>
          <p:cNvSpPr txBox="1"/>
          <p:nvPr/>
        </p:nvSpPr>
        <p:spPr>
          <a:xfrm>
            <a:off x="548640" y="109728"/>
            <a:ext cx="2286000" cy="301752"/>
          </a:xfrm>
          <a:prstGeom prst="rect">
            <a:avLst/>
          </a:prstGeom>
          <a:noFill/>
          <a:ln/>
        </p:spPr>
        <p:txBody>
          <a:bodyPr wrap="square" lIns="0" tIns="0" rIns="0" bIns="0" rtlCol="0" anchor="ctr"/>
          <a:lstStyle/>
          <a:p>
            <a:pPr algn="ctr" indent="0" marL="0">
              <a:buNone/>
            </a:pPr>
            <a:r>
              <a:rPr lang="en-US" sz="1450" b="1" dirty="0">
                <a:solidFill>
                  <a:srgbClr val="FFFFFF"/>
                </a:solidFill>
                <a:latin typeface="Calibri" pitchFamily="34" charset="0"/>
                <a:ea typeface="Calibri" pitchFamily="34" charset="-122"/>
                <a:cs typeface="Calibri" pitchFamily="34" charset="-120"/>
              </a:rPr>
              <a:t>DISCUSSION</a:t>
            </a:r>
            <a:endParaRPr lang="en-US" sz="1450" dirty="0"/>
          </a:p>
        </p:txBody>
      </p:sp>
      <p:sp>
        <p:nvSpPr>
          <p:cNvPr id="4" name="Text 2"/>
          <p:cNvSpPr txBox="1"/>
          <p:nvPr/>
        </p:nvSpPr>
        <p:spPr>
          <a:xfrm>
            <a:off x="563728" y="329184"/>
            <a:ext cx="11064240" cy="676656"/>
          </a:xfrm>
          <a:prstGeom prst="rect">
            <a:avLst/>
          </a:prstGeom>
          <a:noFill/>
          <a:ln/>
        </p:spPr>
        <p:txBody>
          <a:bodyPr wrap="square" rtlCol="0" anchor="ctr"/>
          <a:lstStyle/>
          <a:p>
            <a:pPr algn="ctr" indent="0" marL="0">
              <a:buNone/>
            </a:pPr>
            <a:r>
              <a:rPr lang="en-US" sz="3500" b="1" dirty="0">
                <a:solidFill>
                  <a:srgbClr val="141B3D"/>
                </a:solidFill>
                <a:latin typeface="Cambria" pitchFamily="34" charset="0"/>
                <a:ea typeface="Cambria" pitchFamily="34" charset="-122"/>
                <a:cs typeface="Cambria" pitchFamily="34" charset="-120"/>
              </a:rPr>
              <a:t>Conclusion and next steps</a:t>
            </a:r>
            <a:endParaRPr lang="en-US" sz="3500" dirty="0"/>
          </a:p>
        </p:txBody>
      </p:sp>
      <p:sp>
        <p:nvSpPr>
          <p:cNvPr id="5" name="Text 3"/>
          <p:cNvSpPr txBox="1"/>
          <p:nvPr/>
        </p:nvSpPr>
        <p:spPr>
          <a:xfrm>
            <a:off x="563728" y="1024128"/>
            <a:ext cx="11064240" cy="347472"/>
          </a:xfrm>
          <a:prstGeom prst="rect">
            <a:avLst/>
          </a:prstGeom>
          <a:noFill/>
          <a:ln/>
        </p:spPr>
        <p:txBody>
          <a:bodyPr wrap="square" rtlCol="0" anchor="ctr"/>
          <a:lstStyle/>
          <a:p>
            <a:pPr algn="ctr" indent="0" marL="0">
              <a:buNone/>
            </a:pPr>
            <a:r>
              <a:rPr lang="en-US" sz="1700" i="1" dirty="0">
                <a:solidFill>
                  <a:srgbClr val="6B7280"/>
                </a:solidFill>
                <a:latin typeface="Calibri" pitchFamily="34" charset="0"/>
                <a:ea typeface="Calibri" pitchFamily="34" charset="-122"/>
                <a:cs typeface="Calibri" pitchFamily="34" charset="-120"/>
              </a:rPr>
              <a:t>What we built, and what we would do next</a:t>
            </a:r>
            <a:endParaRPr lang="en-US" sz="1700" dirty="0"/>
          </a:p>
        </p:txBody>
      </p:sp>
      <p:sp>
        <p:nvSpPr>
          <p:cNvPr id="6" name="Text 4"/>
          <p:cNvSpPr txBox="1"/>
          <p:nvPr/>
        </p:nvSpPr>
        <p:spPr>
          <a:xfrm>
            <a:off x="548640" y="1325880"/>
            <a:ext cx="5486400" cy="310896"/>
          </a:xfrm>
          <a:prstGeom prst="rect">
            <a:avLst/>
          </a:prstGeom>
          <a:noFill/>
          <a:ln/>
        </p:spPr>
        <p:txBody>
          <a:bodyPr wrap="square" lIns="0" tIns="0" rIns="0" bIns="0" rtlCol="0" anchor="ctr"/>
          <a:lstStyle/>
          <a:p>
            <a:pPr indent="0" marL="0">
              <a:buNone/>
            </a:pPr>
            <a:r>
              <a:rPr lang="en-US" sz="1800" b="1" dirty="0">
                <a:solidFill>
                  <a:srgbClr val="4CAF82"/>
                </a:solidFill>
                <a:latin typeface="Cambria" pitchFamily="34" charset="0"/>
                <a:ea typeface="Cambria" pitchFamily="34" charset="-122"/>
                <a:cs typeface="Cambria" pitchFamily="34" charset="-120"/>
              </a:rPr>
              <a:t>What we achieved</a:t>
            </a:r>
            <a:endParaRPr lang="en-US" sz="1800" dirty="0"/>
          </a:p>
        </p:txBody>
      </p:sp>
      <p:sp>
        <p:nvSpPr>
          <p:cNvPr id="7" name="Shape 5"/>
          <p:cNvSpPr/>
          <p:nvPr/>
        </p:nvSpPr>
        <p:spPr>
          <a:xfrm>
            <a:off x="548640" y="1709928"/>
            <a:ext cx="5486400" cy="1060704"/>
          </a:xfrm>
          <a:prstGeom prst="roundRect">
            <a:avLst>
              <a:gd name="adj" fmla="val 5172"/>
            </a:avLst>
          </a:prstGeom>
          <a:solidFill>
            <a:srgbClr val="EEF8F3"/>
          </a:solidFill>
          <a:ln w="12700">
            <a:solidFill>
              <a:srgbClr val="CDEBDF"/>
            </a:solidFill>
            <a:prstDash val="solid"/>
          </a:ln>
        </p:spPr>
      </p:sp>
      <p:sp>
        <p:nvSpPr>
          <p:cNvPr id="8" name="Text 6"/>
          <p:cNvSpPr txBox="1"/>
          <p:nvPr/>
        </p:nvSpPr>
        <p:spPr>
          <a:xfrm>
            <a:off x="713232" y="1801368"/>
            <a:ext cx="5157216" cy="493776"/>
          </a:xfrm>
          <a:prstGeom prst="rect">
            <a:avLst/>
          </a:prstGeom>
          <a:noFill/>
          <a:ln/>
        </p:spPr>
        <p:txBody>
          <a:bodyPr wrap="square" lIns="0" tIns="0" rIns="0" bIns="0" rtlCol="0" anchor="ctr"/>
          <a:lstStyle/>
          <a:p>
            <a:pPr indent="0" marL="0">
              <a:buNone/>
            </a:pPr>
            <a:r>
              <a:rPr lang="en-US" sz="1600" b="1" dirty="0">
                <a:solidFill>
                  <a:srgbClr val="141B3D"/>
                </a:solidFill>
                <a:latin typeface="Calibri" pitchFamily="34" charset="0"/>
                <a:ea typeface="Calibri" pitchFamily="34" charset="-122"/>
                <a:cs typeface="Calibri" pitchFamily="34" charset="-120"/>
              </a:rPr>
              <a:t>A complete system, tested fairly</a:t>
            </a:r>
            <a:endParaRPr lang="en-US" sz="1600" dirty="0"/>
          </a:p>
        </p:txBody>
      </p:sp>
      <p:sp>
        <p:nvSpPr>
          <p:cNvPr id="9" name="Text 7"/>
          <p:cNvSpPr txBox="1"/>
          <p:nvPr/>
        </p:nvSpPr>
        <p:spPr>
          <a:xfrm>
            <a:off x="713232" y="2295144"/>
            <a:ext cx="5157216" cy="420624"/>
          </a:xfrm>
          <a:prstGeom prst="rect">
            <a:avLst/>
          </a:prstGeom>
          <a:noFill/>
          <a:ln/>
        </p:spPr>
        <p:txBody>
          <a:bodyPr wrap="square" lIns="0" tIns="0" rIns="0" bIns="0" rtlCol="0" anchor="ctr"/>
          <a:lstStyle/>
          <a:p>
            <a:pPr indent="0" marL="0">
              <a:buNone/>
            </a:pPr>
            <a:r>
              <a:rPr lang="en-US" sz="1500" dirty="0">
                <a:solidFill>
                  <a:srgbClr val="374151"/>
                </a:solidFill>
                <a:latin typeface="Calibri" pitchFamily="34" charset="0"/>
                <a:ea typeface="Calibri" pitchFamily="34" charset="-122"/>
                <a:cs typeface="Calibri" pitchFamily="34" charset="-120"/>
              </a:rPr>
              <a:t>finds clauses, shows the text, gives a risk level and a simple explanation</a:t>
            </a:r>
            <a:endParaRPr lang="en-US" sz="1500" dirty="0"/>
          </a:p>
        </p:txBody>
      </p:sp>
      <p:sp>
        <p:nvSpPr>
          <p:cNvPr id="10" name="Shape 8"/>
          <p:cNvSpPr/>
          <p:nvPr/>
        </p:nvSpPr>
        <p:spPr>
          <a:xfrm>
            <a:off x="548640" y="2880360"/>
            <a:ext cx="5486400" cy="1060704"/>
          </a:xfrm>
          <a:prstGeom prst="roundRect">
            <a:avLst>
              <a:gd name="adj" fmla="val 5172"/>
            </a:avLst>
          </a:prstGeom>
          <a:solidFill>
            <a:srgbClr val="EEF8F3"/>
          </a:solidFill>
          <a:ln w="12700">
            <a:solidFill>
              <a:srgbClr val="CDEBDF"/>
            </a:solidFill>
            <a:prstDash val="solid"/>
          </a:ln>
        </p:spPr>
      </p:sp>
      <p:sp>
        <p:nvSpPr>
          <p:cNvPr id="11" name="Text 9"/>
          <p:cNvSpPr txBox="1"/>
          <p:nvPr/>
        </p:nvSpPr>
        <p:spPr>
          <a:xfrm>
            <a:off x="713232" y="2971800"/>
            <a:ext cx="5157216" cy="493776"/>
          </a:xfrm>
          <a:prstGeom prst="rect">
            <a:avLst/>
          </a:prstGeom>
          <a:noFill/>
          <a:ln/>
        </p:spPr>
        <p:txBody>
          <a:bodyPr wrap="square" lIns="0" tIns="0" rIns="0" bIns="0" rtlCol="0" anchor="ctr"/>
          <a:lstStyle/>
          <a:p>
            <a:pPr indent="0" marL="0">
              <a:buNone/>
            </a:pPr>
            <a:r>
              <a:rPr lang="en-US" sz="1600" b="1" dirty="0">
                <a:solidFill>
                  <a:srgbClr val="141B3D"/>
                </a:solidFill>
                <a:latin typeface="Calibri" pitchFamily="34" charset="0"/>
                <a:ea typeface="Calibri" pitchFamily="34" charset="-122"/>
                <a:cs typeface="Calibri" pitchFamily="34" charset="-120"/>
              </a:rPr>
              <a:t>Good at finding clauses</a:t>
            </a:r>
            <a:endParaRPr lang="en-US" sz="1600" dirty="0"/>
          </a:p>
        </p:txBody>
      </p:sp>
      <p:sp>
        <p:nvSpPr>
          <p:cNvPr id="12" name="Text 10"/>
          <p:cNvSpPr txBox="1"/>
          <p:nvPr/>
        </p:nvSpPr>
        <p:spPr>
          <a:xfrm>
            <a:off x="713232" y="3465576"/>
            <a:ext cx="5157216" cy="420624"/>
          </a:xfrm>
          <a:prstGeom prst="rect">
            <a:avLst/>
          </a:prstGeom>
          <a:noFill/>
          <a:ln/>
        </p:spPr>
        <p:txBody>
          <a:bodyPr wrap="square" lIns="0" tIns="0" rIns="0" bIns="0" rtlCol="0" anchor="ctr"/>
          <a:lstStyle/>
          <a:p>
            <a:pPr indent="0" marL="0">
              <a:buNone/>
            </a:pPr>
            <a:r>
              <a:rPr lang="en-US" sz="1500" dirty="0">
                <a:solidFill>
                  <a:srgbClr val="374151"/>
                </a:solidFill>
                <a:latin typeface="Calibri" pitchFamily="34" charset="0"/>
                <a:ea typeface="Calibri" pitchFamily="34" charset="-122"/>
                <a:cs typeface="Calibri" pitchFamily="34" charset="-120"/>
              </a:rPr>
              <a:t>F1 0.809 and accuracy 88.43%; finds 90% of High-risk clauses</a:t>
            </a:r>
            <a:endParaRPr lang="en-US" sz="1500" dirty="0"/>
          </a:p>
        </p:txBody>
      </p:sp>
      <p:sp>
        <p:nvSpPr>
          <p:cNvPr id="13" name="Shape 11"/>
          <p:cNvSpPr/>
          <p:nvPr/>
        </p:nvSpPr>
        <p:spPr>
          <a:xfrm>
            <a:off x="548640" y="4050792"/>
            <a:ext cx="5486400" cy="1060704"/>
          </a:xfrm>
          <a:prstGeom prst="roundRect">
            <a:avLst>
              <a:gd name="adj" fmla="val 5172"/>
            </a:avLst>
          </a:prstGeom>
          <a:solidFill>
            <a:srgbClr val="EEF8F3"/>
          </a:solidFill>
          <a:ln w="12700">
            <a:solidFill>
              <a:srgbClr val="CDEBDF"/>
            </a:solidFill>
            <a:prstDash val="solid"/>
          </a:ln>
        </p:spPr>
      </p:sp>
      <p:sp>
        <p:nvSpPr>
          <p:cNvPr id="14" name="Text 12"/>
          <p:cNvSpPr txBox="1"/>
          <p:nvPr/>
        </p:nvSpPr>
        <p:spPr>
          <a:xfrm>
            <a:off x="713232" y="4142232"/>
            <a:ext cx="5157216" cy="493776"/>
          </a:xfrm>
          <a:prstGeom prst="rect">
            <a:avLst/>
          </a:prstGeom>
          <a:noFill/>
          <a:ln/>
        </p:spPr>
        <p:txBody>
          <a:bodyPr wrap="square" lIns="0" tIns="0" rIns="0" bIns="0" rtlCol="0" anchor="ctr"/>
          <a:lstStyle/>
          <a:p>
            <a:pPr indent="0" marL="0">
              <a:buNone/>
            </a:pPr>
            <a:r>
              <a:rPr lang="en-US" sz="1600" b="1" dirty="0">
                <a:solidFill>
                  <a:srgbClr val="141B3D"/>
                </a:solidFill>
                <a:latin typeface="Calibri" pitchFamily="34" charset="0"/>
                <a:ea typeface="Calibri" pitchFamily="34" charset="-122"/>
                <a:cs typeface="Calibri" pitchFamily="34" charset="-120"/>
              </a:rPr>
              <a:t>Finds the clause words well</a:t>
            </a:r>
            <a:endParaRPr lang="en-US" sz="1600" dirty="0"/>
          </a:p>
        </p:txBody>
      </p:sp>
      <p:sp>
        <p:nvSpPr>
          <p:cNvPr id="15" name="Text 13"/>
          <p:cNvSpPr txBox="1"/>
          <p:nvPr/>
        </p:nvSpPr>
        <p:spPr>
          <a:xfrm>
            <a:off x="713232" y="4636008"/>
            <a:ext cx="5157216" cy="420624"/>
          </a:xfrm>
          <a:prstGeom prst="rect">
            <a:avLst/>
          </a:prstGeom>
          <a:noFill/>
          <a:ln/>
        </p:spPr>
        <p:txBody>
          <a:bodyPr wrap="square" lIns="0" tIns="0" rIns="0" bIns="0" rtlCol="0" anchor="ctr"/>
          <a:lstStyle/>
          <a:p>
            <a:pPr indent="0" marL="0">
              <a:buNone/>
            </a:pPr>
            <a:r>
              <a:rPr lang="en-US" sz="1500" dirty="0">
                <a:solidFill>
                  <a:srgbClr val="374151"/>
                </a:solidFill>
                <a:latin typeface="Calibri" pitchFamily="34" charset="0"/>
                <a:ea typeface="Calibri" pitchFamily="34" charset="-122"/>
                <a:cs typeface="Calibri" pitchFamily="34" charset="-120"/>
              </a:rPr>
              <a:t>word overlap 0.764; 82.8% of answers match well</a:t>
            </a:r>
            <a:endParaRPr lang="en-US" sz="1500" dirty="0"/>
          </a:p>
        </p:txBody>
      </p:sp>
      <p:sp>
        <p:nvSpPr>
          <p:cNvPr id="16" name="Shape 14"/>
          <p:cNvSpPr/>
          <p:nvPr/>
        </p:nvSpPr>
        <p:spPr>
          <a:xfrm>
            <a:off x="548640" y="5221224"/>
            <a:ext cx="5486400" cy="1060704"/>
          </a:xfrm>
          <a:prstGeom prst="roundRect">
            <a:avLst>
              <a:gd name="adj" fmla="val 5172"/>
            </a:avLst>
          </a:prstGeom>
          <a:solidFill>
            <a:srgbClr val="EEF8F3"/>
          </a:solidFill>
          <a:ln w="12700">
            <a:solidFill>
              <a:srgbClr val="CDEBDF"/>
            </a:solidFill>
            <a:prstDash val="solid"/>
          </a:ln>
        </p:spPr>
      </p:sp>
      <p:sp>
        <p:nvSpPr>
          <p:cNvPr id="17" name="Text 15"/>
          <p:cNvSpPr txBox="1"/>
          <p:nvPr/>
        </p:nvSpPr>
        <p:spPr>
          <a:xfrm>
            <a:off x="713232" y="5312664"/>
            <a:ext cx="5157216" cy="493776"/>
          </a:xfrm>
          <a:prstGeom prst="rect">
            <a:avLst/>
          </a:prstGeom>
          <a:noFill/>
          <a:ln/>
        </p:spPr>
        <p:txBody>
          <a:bodyPr wrap="square" lIns="0" tIns="0" rIns="0" bIns="0" rtlCol="0" anchor="ctr"/>
          <a:lstStyle/>
          <a:p>
            <a:pPr indent="0" marL="0">
              <a:buNone/>
            </a:pPr>
            <a:r>
              <a:rPr lang="en-US" sz="1600" b="1" dirty="0">
                <a:solidFill>
                  <a:srgbClr val="141B3D"/>
                </a:solidFill>
                <a:latin typeface="Calibri" pitchFamily="34" charset="0"/>
                <a:ea typeface="Calibri" pitchFamily="34" charset="-122"/>
                <a:cs typeface="Calibri" pitchFamily="34" charset="-120"/>
              </a:rPr>
              <a:t>A working app</a:t>
            </a:r>
            <a:endParaRPr lang="en-US" sz="1600" dirty="0"/>
          </a:p>
        </p:txBody>
      </p:sp>
      <p:sp>
        <p:nvSpPr>
          <p:cNvPr id="18" name="Text 16"/>
          <p:cNvSpPr txBox="1"/>
          <p:nvPr/>
        </p:nvSpPr>
        <p:spPr>
          <a:xfrm>
            <a:off x="713232" y="5806440"/>
            <a:ext cx="5157216" cy="420624"/>
          </a:xfrm>
          <a:prstGeom prst="rect">
            <a:avLst/>
          </a:prstGeom>
          <a:noFill/>
          <a:ln/>
        </p:spPr>
        <p:txBody>
          <a:bodyPr wrap="square" lIns="0" tIns="0" rIns="0" bIns="0" rtlCol="0" anchor="ctr"/>
          <a:lstStyle/>
          <a:p>
            <a:pPr indent="0" marL="0">
              <a:buNone/>
            </a:pPr>
            <a:r>
              <a:rPr lang="en-US" sz="1500" dirty="0">
                <a:solidFill>
                  <a:srgbClr val="374151"/>
                </a:solidFill>
                <a:latin typeface="Calibri" pitchFamily="34" charset="0"/>
                <a:ea typeface="Calibri" pitchFamily="34" charset="-122"/>
                <a:cs typeface="Calibri" pitchFamily="34" charset="-120"/>
              </a:rPr>
              <a:t>Clausify takes about a minute per contract; all 42 tests pass</a:t>
            </a:r>
            <a:endParaRPr lang="en-US" sz="1500" dirty="0"/>
          </a:p>
        </p:txBody>
      </p:sp>
      <p:sp>
        <p:nvSpPr>
          <p:cNvPr id="19" name="Text 17"/>
          <p:cNvSpPr txBox="1"/>
          <p:nvPr/>
        </p:nvSpPr>
        <p:spPr>
          <a:xfrm>
            <a:off x="6263640" y="1325880"/>
            <a:ext cx="5440680" cy="310896"/>
          </a:xfrm>
          <a:prstGeom prst="rect">
            <a:avLst/>
          </a:prstGeom>
          <a:noFill/>
          <a:ln/>
        </p:spPr>
        <p:txBody>
          <a:bodyPr wrap="square" lIns="0" tIns="0" rIns="0" bIns="0" rtlCol="0" anchor="ctr"/>
          <a:lstStyle/>
          <a:p>
            <a:pPr indent="0" marL="0">
              <a:buNone/>
            </a:pPr>
            <a:r>
              <a:rPr lang="en-US" sz="1800" b="1" dirty="0">
                <a:solidFill>
                  <a:srgbClr val="1E2761"/>
                </a:solidFill>
                <a:latin typeface="Cambria" pitchFamily="34" charset="0"/>
                <a:ea typeface="Cambria" pitchFamily="34" charset="-122"/>
                <a:cs typeface="Cambria" pitchFamily="34" charset="-120"/>
              </a:rPr>
              <a:t>Next steps</a:t>
            </a:r>
            <a:endParaRPr lang="en-US" sz="1800" dirty="0"/>
          </a:p>
        </p:txBody>
      </p:sp>
      <p:sp>
        <p:nvSpPr>
          <p:cNvPr id="20" name="Shape 18"/>
          <p:cNvSpPr/>
          <p:nvPr/>
        </p:nvSpPr>
        <p:spPr>
          <a:xfrm>
            <a:off x="6263640" y="1709928"/>
            <a:ext cx="5440680" cy="841248"/>
          </a:xfrm>
          <a:prstGeom prst="roundRect">
            <a:avLst>
              <a:gd name="adj" fmla="val 6522"/>
            </a:avLst>
          </a:prstGeom>
          <a:solidFill>
            <a:srgbClr val="E8ECF7"/>
          </a:solidFill>
          <a:ln w="12700">
            <a:solidFill>
              <a:srgbClr val="CFD8EE"/>
            </a:solidFill>
            <a:prstDash val="solid"/>
          </a:ln>
        </p:spPr>
      </p:sp>
      <p:sp>
        <p:nvSpPr>
          <p:cNvPr id="21" name="Text 19"/>
          <p:cNvSpPr txBox="1"/>
          <p:nvPr/>
        </p:nvSpPr>
        <p:spPr>
          <a:xfrm>
            <a:off x="6428232" y="1755648"/>
            <a:ext cx="5120640" cy="384048"/>
          </a:xfrm>
          <a:prstGeom prst="rect">
            <a:avLst/>
          </a:prstGeom>
          <a:noFill/>
          <a:ln/>
        </p:spPr>
        <p:txBody>
          <a:bodyPr wrap="square" lIns="0" tIns="0" rIns="0" bIns="0" rtlCol="0" anchor="ctr"/>
          <a:lstStyle/>
          <a:p>
            <a:pPr indent="0" marL="0">
              <a:buNone/>
            </a:pPr>
            <a:r>
              <a:rPr lang="en-US" sz="1600" b="1" dirty="0">
                <a:solidFill>
                  <a:srgbClr val="141B3D"/>
                </a:solidFill>
                <a:latin typeface="Calibri" pitchFamily="34" charset="0"/>
                <a:ea typeface="Calibri" pitchFamily="34" charset="-122"/>
                <a:cs typeface="Calibri" pitchFamily="34" charset="-120"/>
              </a:rPr>
              <a:t>A lawyer checks the risk table</a:t>
            </a:r>
            <a:endParaRPr lang="en-US" sz="1600" dirty="0"/>
          </a:p>
        </p:txBody>
      </p:sp>
      <p:sp>
        <p:nvSpPr>
          <p:cNvPr id="22" name="Text 20"/>
          <p:cNvSpPr txBox="1"/>
          <p:nvPr/>
        </p:nvSpPr>
        <p:spPr>
          <a:xfrm>
            <a:off x="6428232" y="2130552"/>
            <a:ext cx="5120640" cy="384048"/>
          </a:xfrm>
          <a:prstGeom prst="rect">
            <a:avLst/>
          </a:prstGeom>
          <a:noFill/>
          <a:ln/>
        </p:spPr>
        <p:txBody>
          <a:bodyPr wrap="square" lIns="0" tIns="0" rIns="0" bIns="0" rtlCol="0" anchor="ctr"/>
          <a:lstStyle/>
          <a:p>
            <a:pPr indent="0" marL="0">
              <a:buNone/>
            </a:pPr>
            <a:r>
              <a:rPr lang="en-US" sz="1500" dirty="0">
                <a:solidFill>
                  <a:srgbClr val="374151"/>
                </a:solidFill>
                <a:latin typeface="Calibri" pitchFamily="34" charset="0"/>
                <a:ea typeface="Calibri" pitchFamily="34" charset="-122"/>
                <a:cs typeface="Calibri" pitchFamily="34" charset="-120"/>
              </a:rPr>
              <a:t>two or three lawyers, and we measure how much they agree</a:t>
            </a:r>
            <a:endParaRPr lang="en-US" sz="1500" dirty="0"/>
          </a:p>
        </p:txBody>
      </p:sp>
      <p:sp>
        <p:nvSpPr>
          <p:cNvPr id="23" name="Shape 21"/>
          <p:cNvSpPr/>
          <p:nvPr/>
        </p:nvSpPr>
        <p:spPr>
          <a:xfrm>
            <a:off x="6263640" y="2642616"/>
            <a:ext cx="5440680" cy="841248"/>
          </a:xfrm>
          <a:prstGeom prst="roundRect">
            <a:avLst>
              <a:gd name="adj" fmla="val 6522"/>
            </a:avLst>
          </a:prstGeom>
          <a:solidFill>
            <a:srgbClr val="E8ECF7"/>
          </a:solidFill>
          <a:ln w="12700">
            <a:solidFill>
              <a:srgbClr val="CFD8EE"/>
            </a:solidFill>
            <a:prstDash val="solid"/>
          </a:ln>
        </p:spPr>
      </p:sp>
      <p:sp>
        <p:nvSpPr>
          <p:cNvPr id="24" name="Text 22"/>
          <p:cNvSpPr txBox="1"/>
          <p:nvPr/>
        </p:nvSpPr>
        <p:spPr>
          <a:xfrm>
            <a:off x="6428232" y="2688336"/>
            <a:ext cx="5120640" cy="384048"/>
          </a:xfrm>
          <a:prstGeom prst="rect">
            <a:avLst/>
          </a:prstGeom>
          <a:noFill/>
          <a:ln/>
        </p:spPr>
        <p:txBody>
          <a:bodyPr wrap="square" lIns="0" tIns="0" rIns="0" bIns="0" rtlCol="0" anchor="ctr"/>
          <a:lstStyle/>
          <a:p>
            <a:pPr indent="0" marL="0">
              <a:buNone/>
            </a:pPr>
            <a:r>
              <a:rPr lang="en-US" sz="1600" b="1" dirty="0">
                <a:solidFill>
                  <a:srgbClr val="141B3D"/>
                </a:solidFill>
                <a:latin typeface="Calibri" pitchFamily="34" charset="0"/>
                <a:ea typeface="Calibri" pitchFamily="34" charset="-122"/>
                <a:cs typeface="Calibri" pitchFamily="34" charset="-120"/>
              </a:rPr>
              <a:t>Make the confidence bar honest</a:t>
            </a:r>
            <a:endParaRPr lang="en-US" sz="1600" dirty="0"/>
          </a:p>
        </p:txBody>
      </p:sp>
      <p:sp>
        <p:nvSpPr>
          <p:cNvPr id="25" name="Text 23"/>
          <p:cNvSpPr txBox="1"/>
          <p:nvPr/>
        </p:nvSpPr>
        <p:spPr>
          <a:xfrm>
            <a:off x="6428232" y="3063240"/>
            <a:ext cx="5120640" cy="384048"/>
          </a:xfrm>
          <a:prstGeom prst="rect">
            <a:avLst/>
          </a:prstGeom>
          <a:noFill/>
          <a:ln/>
        </p:spPr>
        <p:txBody>
          <a:bodyPr wrap="square" lIns="0" tIns="0" rIns="0" bIns="0" rtlCol="0" anchor="ctr"/>
          <a:lstStyle/>
          <a:p>
            <a:pPr indent="0" marL="0">
              <a:buNone/>
            </a:pPr>
            <a:r>
              <a:rPr lang="en-US" sz="1500" dirty="0">
                <a:solidFill>
                  <a:srgbClr val="374151"/>
                </a:solidFill>
                <a:latin typeface="Calibri" pitchFamily="34" charset="0"/>
                <a:ea typeface="Calibri" pitchFamily="34" charset="-122"/>
                <a:cs typeface="Calibri" pitchFamily="34" charset="-120"/>
              </a:rPr>
              <a:t>so a score of 0.9 really means a 90% chance</a:t>
            </a:r>
            <a:endParaRPr lang="en-US" sz="1500" dirty="0"/>
          </a:p>
        </p:txBody>
      </p:sp>
      <p:sp>
        <p:nvSpPr>
          <p:cNvPr id="26" name="Shape 24"/>
          <p:cNvSpPr/>
          <p:nvPr/>
        </p:nvSpPr>
        <p:spPr>
          <a:xfrm>
            <a:off x="6263640" y="3575304"/>
            <a:ext cx="5440680" cy="841248"/>
          </a:xfrm>
          <a:prstGeom prst="roundRect">
            <a:avLst>
              <a:gd name="adj" fmla="val 6522"/>
            </a:avLst>
          </a:prstGeom>
          <a:solidFill>
            <a:srgbClr val="E8ECF7"/>
          </a:solidFill>
          <a:ln w="12700">
            <a:solidFill>
              <a:srgbClr val="CFD8EE"/>
            </a:solidFill>
            <a:prstDash val="solid"/>
          </a:ln>
        </p:spPr>
      </p:sp>
      <p:sp>
        <p:nvSpPr>
          <p:cNvPr id="27" name="Text 25"/>
          <p:cNvSpPr txBox="1"/>
          <p:nvPr/>
        </p:nvSpPr>
        <p:spPr>
          <a:xfrm>
            <a:off x="6428232" y="3621024"/>
            <a:ext cx="5120640" cy="384048"/>
          </a:xfrm>
          <a:prstGeom prst="rect">
            <a:avLst/>
          </a:prstGeom>
          <a:noFill/>
          <a:ln/>
        </p:spPr>
        <p:txBody>
          <a:bodyPr wrap="square" lIns="0" tIns="0" rIns="0" bIns="0" rtlCol="0" anchor="ctr"/>
          <a:lstStyle/>
          <a:p>
            <a:pPr indent="0" marL="0">
              <a:buNone/>
            </a:pPr>
            <a:r>
              <a:rPr lang="en-US" sz="1600" b="1" dirty="0">
                <a:solidFill>
                  <a:srgbClr val="141B3D"/>
                </a:solidFill>
                <a:latin typeface="Calibri" pitchFamily="34" charset="0"/>
                <a:ea typeface="Calibri" pitchFamily="34" charset="-122"/>
                <a:cs typeface="Calibri" pitchFamily="34" charset="-120"/>
              </a:rPr>
              <a:t>Test with real users</a:t>
            </a:r>
            <a:endParaRPr lang="en-US" sz="1600" dirty="0"/>
          </a:p>
        </p:txBody>
      </p:sp>
      <p:sp>
        <p:nvSpPr>
          <p:cNvPr id="28" name="Text 26"/>
          <p:cNvSpPr txBox="1"/>
          <p:nvPr/>
        </p:nvSpPr>
        <p:spPr>
          <a:xfrm>
            <a:off x="6428232" y="3995928"/>
            <a:ext cx="5120640" cy="384048"/>
          </a:xfrm>
          <a:prstGeom prst="rect">
            <a:avLst/>
          </a:prstGeom>
          <a:noFill/>
          <a:ln/>
        </p:spPr>
        <p:txBody>
          <a:bodyPr wrap="square" lIns="0" tIns="0" rIns="0" bIns="0" rtlCol="0" anchor="ctr"/>
          <a:lstStyle/>
          <a:p>
            <a:pPr indent="0" marL="0">
              <a:buNone/>
            </a:pPr>
            <a:r>
              <a:rPr lang="en-US" sz="1500" dirty="0">
                <a:solidFill>
                  <a:srgbClr val="374151"/>
                </a:solidFill>
                <a:latin typeface="Calibri" pitchFamily="34" charset="0"/>
                <a:ea typeface="Calibri" pitchFamily="34" charset="-122"/>
                <a:cs typeface="Calibri" pitchFamily="34" charset="-120"/>
              </a:rPr>
              <a:t>5 to 10 non-lawyers, timing how fast they find clauses</a:t>
            </a:r>
            <a:endParaRPr lang="en-US" sz="1500" dirty="0"/>
          </a:p>
        </p:txBody>
      </p:sp>
      <p:sp>
        <p:nvSpPr>
          <p:cNvPr id="29" name="Shape 27"/>
          <p:cNvSpPr/>
          <p:nvPr/>
        </p:nvSpPr>
        <p:spPr>
          <a:xfrm>
            <a:off x="6263640" y="4507992"/>
            <a:ext cx="5440680" cy="841248"/>
          </a:xfrm>
          <a:prstGeom prst="roundRect">
            <a:avLst>
              <a:gd name="adj" fmla="val 6522"/>
            </a:avLst>
          </a:prstGeom>
          <a:solidFill>
            <a:srgbClr val="E8ECF7"/>
          </a:solidFill>
          <a:ln w="12700">
            <a:solidFill>
              <a:srgbClr val="CFD8EE"/>
            </a:solidFill>
            <a:prstDash val="solid"/>
          </a:ln>
        </p:spPr>
      </p:sp>
      <p:sp>
        <p:nvSpPr>
          <p:cNvPr id="30" name="Text 28"/>
          <p:cNvSpPr txBox="1"/>
          <p:nvPr/>
        </p:nvSpPr>
        <p:spPr>
          <a:xfrm>
            <a:off x="6428232" y="4553712"/>
            <a:ext cx="5120640" cy="384048"/>
          </a:xfrm>
          <a:prstGeom prst="rect">
            <a:avLst/>
          </a:prstGeom>
          <a:noFill/>
          <a:ln/>
        </p:spPr>
        <p:txBody>
          <a:bodyPr wrap="square" lIns="0" tIns="0" rIns="0" bIns="0" rtlCol="0" anchor="ctr"/>
          <a:lstStyle/>
          <a:p>
            <a:pPr indent="0" marL="0">
              <a:buNone/>
            </a:pPr>
            <a:r>
              <a:rPr lang="en-US" sz="1600" b="1" dirty="0">
                <a:solidFill>
                  <a:srgbClr val="141B3D"/>
                </a:solidFill>
                <a:latin typeface="Calibri" pitchFamily="34" charset="0"/>
                <a:ea typeface="Calibri" pitchFamily="34" charset="-122"/>
                <a:cs typeface="Calibri" pitchFamily="34" charset="-120"/>
              </a:rPr>
              <a:t>Explain each clause, not just its type</a:t>
            </a:r>
            <a:endParaRPr lang="en-US" sz="1600" dirty="0"/>
          </a:p>
        </p:txBody>
      </p:sp>
      <p:sp>
        <p:nvSpPr>
          <p:cNvPr id="31" name="Text 29"/>
          <p:cNvSpPr txBox="1"/>
          <p:nvPr/>
        </p:nvSpPr>
        <p:spPr>
          <a:xfrm>
            <a:off x="6428232" y="4928616"/>
            <a:ext cx="5120640" cy="384048"/>
          </a:xfrm>
          <a:prstGeom prst="rect">
            <a:avLst/>
          </a:prstGeom>
          <a:noFill/>
          <a:ln/>
        </p:spPr>
        <p:txBody>
          <a:bodyPr wrap="square" lIns="0" tIns="0" rIns="0" bIns="0" rtlCol="0" anchor="ctr"/>
          <a:lstStyle/>
          <a:p>
            <a:pPr indent="0" marL="0">
              <a:buNone/>
            </a:pPr>
            <a:r>
              <a:rPr lang="en-US" sz="1500" dirty="0">
                <a:solidFill>
                  <a:srgbClr val="374151"/>
                </a:solidFill>
                <a:latin typeface="Calibri" pitchFamily="34" charset="0"/>
                <a:ea typeface="Calibri" pitchFamily="34" charset="-122"/>
                <a:cs typeface="Calibri" pitchFamily="34" charset="-120"/>
              </a:rPr>
              <a:t>write a few thousand clause-specific explanations</a:t>
            </a:r>
            <a:endParaRPr lang="en-US" sz="1500" dirty="0"/>
          </a:p>
        </p:txBody>
      </p:sp>
      <p:sp>
        <p:nvSpPr>
          <p:cNvPr id="32" name="Shape 30"/>
          <p:cNvSpPr/>
          <p:nvPr/>
        </p:nvSpPr>
        <p:spPr>
          <a:xfrm>
            <a:off x="6263640" y="5440680"/>
            <a:ext cx="5440680" cy="841248"/>
          </a:xfrm>
          <a:prstGeom prst="roundRect">
            <a:avLst>
              <a:gd name="adj" fmla="val 6522"/>
            </a:avLst>
          </a:prstGeom>
          <a:solidFill>
            <a:srgbClr val="E8ECF7"/>
          </a:solidFill>
          <a:ln w="12700">
            <a:solidFill>
              <a:srgbClr val="CFD8EE"/>
            </a:solidFill>
            <a:prstDash val="solid"/>
          </a:ln>
        </p:spPr>
      </p:sp>
      <p:sp>
        <p:nvSpPr>
          <p:cNvPr id="33" name="Text 31"/>
          <p:cNvSpPr txBox="1"/>
          <p:nvPr/>
        </p:nvSpPr>
        <p:spPr>
          <a:xfrm>
            <a:off x="6428232" y="5486400"/>
            <a:ext cx="5120640" cy="384048"/>
          </a:xfrm>
          <a:prstGeom prst="rect">
            <a:avLst/>
          </a:prstGeom>
          <a:noFill/>
          <a:ln/>
        </p:spPr>
        <p:txBody>
          <a:bodyPr wrap="square" lIns="0" tIns="0" rIns="0" bIns="0" rtlCol="0" anchor="ctr"/>
          <a:lstStyle/>
          <a:p>
            <a:pPr indent="0" marL="0">
              <a:buNone/>
            </a:pPr>
            <a:r>
              <a:rPr lang="en-US" sz="1600" b="1" dirty="0">
                <a:solidFill>
                  <a:srgbClr val="141B3D"/>
                </a:solidFill>
                <a:latin typeface="Calibri" pitchFamily="34" charset="0"/>
                <a:ea typeface="Calibri" pitchFamily="34" charset="-122"/>
                <a:cs typeface="Calibri" pitchFamily="34" charset="-120"/>
              </a:rPr>
              <a:t>Go beyond CUAD</a:t>
            </a:r>
            <a:endParaRPr lang="en-US" sz="1600" dirty="0"/>
          </a:p>
        </p:txBody>
      </p:sp>
      <p:sp>
        <p:nvSpPr>
          <p:cNvPr id="34" name="Text 32"/>
          <p:cNvSpPr txBox="1"/>
          <p:nvPr/>
        </p:nvSpPr>
        <p:spPr>
          <a:xfrm>
            <a:off x="6428232" y="5861304"/>
            <a:ext cx="5120640" cy="384048"/>
          </a:xfrm>
          <a:prstGeom prst="rect">
            <a:avLst/>
          </a:prstGeom>
          <a:noFill/>
          <a:ln/>
        </p:spPr>
        <p:txBody>
          <a:bodyPr wrap="square" lIns="0" tIns="0" rIns="0" bIns="0" rtlCol="0" anchor="ctr"/>
          <a:lstStyle/>
          <a:p>
            <a:pPr indent="0" marL="0">
              <a:buNone/>
            </a:pPr>
            <a:r>
              <a:rPr lang="en-US" sz="1500" dirty="0">
                <a:solidFill>
                  <a:srgbClr val="374151"/>
                </a:solidFill>
                <a:latin typeface="Calibri" pitchFamily="34" charset="0"/>
                <a:ea typeface="Calibri" pitchFamily="34" charset="-122"/>
                <a:cs typeface="Calibri" pitchFamily="34" charset="-120"/>
              </a:rPr>
              <a:t>bigger models on a GPU, and contracts from Bangladesh</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Clause Detection, Category-Level Risk Prioritization and Plain-Language Explanation on CUAD</dc:title>
  <dc:subject>PptxGenJS Presentation</dc:subject>
  <dc:creator>Jerin Aktar, Afnan Mazumdar, Shoyeb Hasan Sayem</dc:creator>
  <cp:lastModifiedBy>Jerin Aktar, Afnan Mazumdar, Shoyeb Hasan Sayem</cp:lastModifiedBy>
  <cp:revision>1</cp:revision>
  <dcterms:created xsi:type="dcterms:W3CDTF">2026-09-28T17:24:00Z</dcterms:created>
  <dcterms:modified xsi:type="dcterms:W3CDTF">2026-09-28T17:24:00Z</dcterms:modified>
</cp:coreProperties>
</file>
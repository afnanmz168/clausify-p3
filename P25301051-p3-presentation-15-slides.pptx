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7.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68" r:id="rId14"/>
    <p:sldId id="271" r:id="rId17"/>
    <p:sldId id="257" r:id="rId3"/>
    <p:sldId id="272" r:id="rId18"/>
    <p:sldId id="258" r:id="rId4"/>
    <p:sldId id="262" r:id="rId8"/>
    <p:sldId id="259" r:id="rId5"/>
    <p:sldId id="269" r:id="rId15"/>
    <p:sldId id="273" r:id="rId24"/>
    <p:sldId id="266" r:id="rId12"/>
    <p:sldId id="260" r:id="rId6"/>
    <p:sldId id="265" r:id="rId11"/>
    <p:sldId id="270" r:id="rId16"/>
    <p:sldId id="267" r:id="rId13"/>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4.xml"/><Relationship Id="rId4" Type="http://schemas.openxmlformats.org/officeDocument/2006/relationships/slide" Target="slides/slide6.xml"/><Relationship Id="rId5" Type="http://schemas.openxmlformats.org/officeDocument/2006/relationships/slide" Target="slides/slide8.xml"/><Relationship Id="rId6" Type="http://schemas.openxmlformats.org/officeDocument/2006/relationships/slide" Target="slides/slide12.xml"/><Relationship Id="rId8" Type="http://schemas.openxmlformats.org/officeDocument/2006/relationships/slide" Target="slides/slide7.xml"/><Relationship Id="rId11" Type="http://schemas.openxmlformats.org/officeDocument/2006/relationships/slide" Target="slides/slide13.xml"/><Relationship Id="rId12" Type="http://schemas.openxmlformats.org/officeDocument/2006/relationships/slide" Target="slides/slide11.xml"/><Relationship Id="rId13" Type="http://schemas.openxmlformats.org/officeDocument/2006/relationships/slide" Target="slides/slide15.xml"/><Relationship Id="rId14" Type="http://schemas.openxmlformats.org/officeDocument/2006/relationships/slide" Target="slides/slide2.xml"/><Relationship Id="rId15" Type="http://schemas.openxmlformats.org/officeDocument/2006/relationships/slide" Target="slides/slide9.xml"/><Relationship Id="rId16" Type="http://schemas.openxmlformats.org/officeDocument/2006/relationships/slide" Target="slides/slide14.xml"/><Relationship Id="rId17" Type="http://schemas.openxmlformats.org/officeDocument/2006/relationships/slide" Target="slides/slide3.xml"/><Relationship Id="rId18" Type="http://schemas.openxmlformats.org/officeDocument/2006/relationships/slide" Target="slides/slide5.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openxmlformats.org/officeDocument/2006/relationships/slide" Target="slides/slide1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stacked"/>
        <c:ser>
          <c:idx val="0"/>
          <c:order val="0"/>
          <c:tx>
            <c:strRef>
              <c:f>Sheet1!$B$1</c:f>
              <c:strCache>
                <c:ptCount val="1"/>
                <c:pt idx="0">
                  <c:v>High</c:v>
                </c:pt>
              </c:strCache>
            </c:strRef>
          </c:tx>
          <c:spPr>
            <a:solidFill>
              <a:srgbClr val="D94F5C"/>
            </a:solidFill>
            <a:ln>
              <a:noFill/>
            </a:ln>
          </c:spPr>
          <c:cat>
            <c:strRef>
              <c:f>Sheet1!$A$2:$A$4</c:f>
              <c:strCache>
                <c:ptCount val="3"/>
                <c:pt idx="0">
                  <c:v>High</c:v>
                </c:pt>
                <c:pt idx="1">
                  <c:v>Medium</c:v>
                </c:pt>
                <c:pt idx="2">
                  <c:v>Low</c:v>
                </c:pt>
              </c:strCache>
            </c:strRef>
          </c:cat>
          <c:val>
            <c:numRef>
              <c:f>Sheet1!$B$2:$B$4</c:f>
              <c:numCache>
                <c:formatCode>General</c:formatCode>
                <c:ptCount val="3"/>
                <c:pt idx="0">
                  <c:v>8</c:v>
                </c:pt>
                <c:pt idx="1">
                  <c:v>0</c:v>
                </c:pt>
                <c:pt idx="2">
                  <c:v>0</c:v>
                </c:pt>
              </c:numCache>
            </c:numRef>
          </c:val>
        </c:ser>
        <c:ser>
          <c:idx val="1"/>
          <c:order val="1"/>
          <c:tx>
            <c:strRef>
              <c:f>Sheet1!$C$1</c:f>
              <c:strCache>
                <c:ptCount val="1"/>
                <c:pt idx="0">
                  <c:v>Medium</c:v>
                </c:pt>
              </c:strCache>
            </c:strRef>
          </c:tx>
          <c:spPr>
            <a:solidFill>
              <a:srgbClr val="E8A13A"/>
            </a:solidFill>
            <a:ln>
              <a:noFill/>
            </a:ln>
          </c:spPr>
          <c:cat>
            <c:strRef>
              <c:f>Sheet1!$A$2:$A$4</c:f>
              <c:strCache>
                <c:ptCount val="3"/>
                <c:pt idx="0">
                  <c:v>High</c:v>
                </c:pt>
                <c:pt idx="1">
                  <c:v>Medium</c:v>
                </c:pt>
                <c:pt idx="2">
                  <c:v>Low</c:v>
                </c:pt>
              </c:strCache>
            </c:strRef>
          </c:cat>
          <c:val>
            <c:numRef>
              <c:f>Sheet1!$C$2:$C$4</c:f>
              <c:numCache>
                <c:formatCode>General</c:formatCode>
                <c:ptCount val="3"/>
                <c:pt idx="0">
                  <c:v>0</c:v>
                </c:pt>
                <c:pt idx="1">
                  <c:v>22</c:v>
                </c:pt>
                <c:pt idx="2">
                  <c:v>0</c:v>
                </c:pt>
              </c:numCache>
            </c:numRef>
          </c:val>
        </c:ser>
        <c:ser>
          <c:idx val="2"/>
          <c:order val="2"/>
          <c:tx>
            <c:strRef>
              <c:f>Sheet1!$D$1</c:f>
              <c:strCache>
                <c:ptCount val="1"/>
                <c:pt idx="0">
                  <c:v>Low</c:v>
                </c:pt>
              </c:strCache>
            </c:strRef>
          </c:tx>
          <c:spPr>
            <a:solidFill>
              <a:srgbClr val="4CAF82"/>
            </a:solidFill>
            <a:ln>
              <a:noFill/>
            </a:ln>
          </c:spPr>
          <c:cat>
            <c:strRef>
              <c:f>Sheet1!$A$2:$A$4</c:f>
              <c:strCache>
                <c:ptCount val="3"/>
                <c:pt idx="0">
                  <c:v>High</c:v>
                </c:pt>
                <c:pt idx="1">
                  <c:v>Medium</c:v>
                </c:pt>
                <c:pt idx="2">
                  <c:v>Low</c:v>
                </c:pt>
              </c:strCache>
            </c:strRef>
          </c:cat>
          <c:val>
            <c:numRef>
              <c:f>Sheet1!$D$2:$D$4</c:f>
              <c:numCache>
                <c:formatCode>General</c:formatCode>
                <c:ptCount val="3"/>
                <c:pt idx="0">
                  <c:v>0</c:v>
                </c:pt>
                <c:pt idx="1">
                  <c:v>0</c:v>
                </c:pt>
                <c:pt idx="2">
                  <c:v>11</c:v>
                </c:pt>
              </c:numCache>
            </c:numRef>
          </c:val>
        </c:ser>
        <c:dLbls>
          <c:numFmt formatCode="0;;;" sourceLinked="0"/>
          <c:txPr>
            <a:bodyPr/>
            <a:lstStyle/>
            <a:p>
              <a:pPr>
                <a:defRPr sz="1400" b="1">
                  <a:solidFill>
                    <a:srgbClr val="FFFFFF"/>
                  </a:solidFill>
                </a:defRPr>
              </a:pPr>
            </a:p>
          </c:txPr>
          <c:dLblPos val="inEnd"/>
          <c:showLegendKey val="0"/>
          <c:showVal val="1"/>
          <c:showCatName val="0"/>
          <c:showSerName val="0"/>
          <c:showPercent val="0"/>
          <c:showBubbleSize val="0"/>
          <c:showLeaderLines val="1"/>
        </c:dLbls>
        <c:gapWidth val="70"/>
        <c:overlap val="100"/>
        <c:axId val="-2068027336"/>
        <c:axId val="-2113994440"/>
      </c:barChart>
      <c:catAx>
        <c:axId val="-2068027336"/>
        <c:scaling>
          <c:orientation val="minMax"/>
        </c:scaling>
        <c:delete val="0"/>
        <c:axPos val="b"/>
        <c:majorTickMark val="out"/>
        <c:minorTickMark val="none"/>
        <c:tickLblPos val="nextTo"/>
        <c:spPr>
          <a:ln>
            <a:solidFill>
              <a:srgbClr val="D9DEEC"/>
            </a:solidFill>
          </a:ln>
        </c:spPr>
        <c:txPr>
          <a:bodyPr/>
          <a:lstStyle/>
          <a:p>
            <a:pPr>
              <a:defRPr sz="1300">
                <a:solidFill>
                  <a:srgbClr val="374151"/>
                </a:solidFill>
              </a:defRPr>
            </a:pPr>
          </a:p>
        </c:txPr>
        <c:crossAx val="-2113994440"/>
        <c:crosses val="autoZero"/>
        <c:auto val="1"/>
        <c:lblAlgn val="ctr"/>
        <c:lblOffset val="100"/>
        <c:noMultiLvlLbl val="0"/>
      </c:catAx>
      <c:valAx>
        <c:axId val="-2113994440"/>
        <c:scaling>
          <c:max val="24.0"/>
          <c:min val="0.0"/>
        </c:scaling>
        <c:delete val="0"/>
        <c:axPos val="l"/>
        <c:majorTickMark val="out"/>
        <c:minorTickMark val="none"/>
        <c:tickLblPos val="nextTo"/>
        <c:spPr>
          <a:ln>
            <a:noFill/>
          </a:ln>
        </c:spPr>
        <c:txPr>
          <a:bodyPr/>
          <a:lstStyle/>
          <a:p>
            <a:pPr>
              <a:defRPr sz="1100">
                <a:solidFill>
                  <a:srgbClr val="6B7280"/>
                </a:solidFill>
              </a:defRPr>
            </a:pPr>
          </a:p>
        </c:txPr>
        <c:crossAx val="-2068027336"/>
        <c:crosses val="autoZero"/>
      </c:valAx>
    </c:plotArea>
    <c:dispBlanksAs val="gap"/>
  </c:chart>
  <c:spPr>
    <a:noFill/>
    <a:ln>
      <a:noFill/>
    </a:ln>
  </c:spPr>
  <c:txPr>
    <a:bodyPr/>
    <a:lstStyle/>
    <a:p>
      <a:pPr>
        <a:defRPr sz="1200">
          <a:solidFill>
            <a:srgbClr val="374151"/>
          </a:solidFill>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stacked"/>
        <c:ser>
          <c:idx val="0"/>
          <c:order val="0"/>
          <c:tx>
            <c:strRef>
              <c:f>Sheet1!$B$1</c:f>
              <c:strCache>
                <c:ptCount val="1"/>
                <c:pt idx="0">
                  <c:v>navy</c:v>
                </c:pt>
              </c:strCache>
            </c:strRef>
          </c:tx>
          <c:spPr>
            <a:solidFill>
              <a:srgbClr val="1E2761"/>
            </a:solidFill>
            <a:ln>
              <a:noFill/>
            </a:ln>
          </c:spPr>
          <c:cat>
            <c:strRef>
              <c:f>Sheet1!$A$2:$A$6</c:f>
              <c:strCache>
                <c:ptCount val="5"/>
                <c:pt idx="0">
                  <c:v>Ensemble OR</c:v>
                </c:pt>
                <c:pt idx="1">
                  <c:v>Transformer alone</c:v>
                </c:pt>
                <c:pt idx="2">
                  <c:v>Ensemble AVG</c:v>
                </c:pt>
                <c:pt idx="3">
                  <c:v>TF-IDF baseline</c:v>
                </c:pt>
                <c:pt idx="4">
                  <c:v>AND ensemble</c:v>
                </c:pt>
              </c:strCache>
            </c:strRef>
          </c:cat>
          <c:val>
            <c:numRef>
              <c:f>Sheet1!$B$2:$B$6</c:f>
              <c:numCache>
                <c:formatCode>General</c:formatCode>
                <c:ptCount val="5"/>
                <c:pt idx="0">
                  <c:v>0</c:v>
                </c:pt>
                <c:pt idx="1">
                  <c:v>0</c:v>
                </c:pt>
                <c:pt idx="2">
                  <c:v>0.718</c:v>
                </c:pt>
                <c:pt idx="3">
                  <c:v>0</c:v>
                </c:pt>
                <c:pt idx="4">
                  <c:v>0.779</c:v>
                </c:pt>
              </c:numCache>
            </c:numRef>
          </c:val>
        </c:ser>
        <c:ser>
          <c:idx val="1"/>
          <c:order val="1"/>
          <c:tx>
            <c:strRef>
              <c:f>Sheet1!$C$1</c:f>
              <c:strCache>
                <c:ptCount val="1"/>
                <c:pt idx="0">
                  <c:v>green</c:v>
                </c:pt>
              </c:strCache>
            </c:strRef>
          </c:tx>
          <c:spPr>
            <a:solidFill>
              <a:srgbClr val="4CAF82"/>
            </a:solidFill>
            <a:ln>
              <a:noFill/>
            </a:ln>
          </c:spPr>
          <c:cat>
            <c:strRef>
              <c:f>Sheet1!$A$2:$A$6</c:f>
              <c:strCache>
                <c:ptCount val="5"/>
                <c:pt idx="0">
                  <c:v>Ensemble OR</c:v>
                </c:pt>
                <c:pt idx="1">
                  <c:v>Transformer alone</c:v>
                </c:pt>
                <c:pt idx="2">
                  <c:v>Ensemble AVG</c:v>
                </c:pt>
                <c:pt idx="3">
                  <c:v>TF-IDF baseline</c:v>
                </c:pt>
                <c:pt idx="4">
                  <c:v>AND ensemble</c:v>
                </c:pt>
              </c:strCache>
            </c:strRef>
          </c:cat>
          <c:val>
            <c:numRef>
              <c:f>Sheet1!$C$2:$C$6</c:f>
              <c:numCache>
                <c:formatCode>General</c:formatCode>
                <c:ptCount val="5"/>
                <c:pt idx="0">
                  <c:v>0</c:v>
                </c:pt>
                <c:pt idx="1">
                  <c:v>0</c:v>
                </c:pt>
                <c:pt idx="2">
                  <c:v>0</c:v>
                </c:pt>
                <c:pt idx="3">
                  <c:v>0.775</c:v>
                </c:pt>
                <c:pt idx="4">
                  <c:v>0</c:v>
                </c:pt>
              </c:numCache>
            </c:numRef>
          </c:val>
        </c:ser>
        <c:ser>
          <c:idx val="2"/>
          <c:order val="2"/>
          <c:tx>
            <c:strRef>
              <c:f>Sheet1!$D$1</c:f>
              <c:strCache>
                <c:ptCount val="1"/>
                <c:pt idx="0">
                  <c:v>orange</c:v>
                </c:pt>
              </c:strCache>
            </c:strRef>
          </c:tx>
          <c:spPr>
            <a:solidFill>
              <a:srgbClr val="E8A13A"/>
            </a:solidFill>
            <a:ln>
              <a:noFill/>
            </a:ln>
          </c:spPr>
          <c:cat>
            <c:strRef>
              <c:f>Sheet1!$A$2:$A$6</c:f>
              <c:strCache>
                <c:ptCount val="5"/>
                <c:pt idx="0">
                  <c:v>Ensemble OR</c:v>
                </c:pt>
                <c:pt idx="1">
                  <c:v>Transformer alone</c:v>
                </c:pt>
                <c:pt idx="2">
                  <c:v>Ensemble AVG</c:v>
                </c:pt>
                <c:pt idx="3">
                  <c:v>TF-IDF baseline</c:v>
                </c:pt>
                <c:pt idx="4">
                  <c:v>AND ensemble</c:v>
                </c:pt>
              </c:strCache>
            </c:strRef>
          </c:cat>
          <c:val>
            <c:numRef>
              <c:f>Sheet1!$D$2:$D$6</c:f>
              <c:numCache>
                <c:formatCode>General</c:formatCode>
                <c:ptCount val="5"/>
                <c:pt idx="0">
                  <c:v>0.692</c:v>
                </c:pt>
                <c:pt idx="1">
                  <c:v>0.692</c:v>
                </c:pt>
                <c:pt idx="2">
                  <c:v>0</c:v>
                </c:pt>
                <c:pt idx="3">
                  <c:v>0</c:v>
                </c:pt>
                <c:pt idx="4">
                  <c:v>0</c:v>
                </c:pt>
              </c:numCache>
            </c:numRef>
          </c:val>
        </c:ser>
        <c:dLbls>
          <c:numFmt formatCode="0.000;;;" sourceLinked="0"/>
          <c:txPr>
            <a:bodyPr/>
            <a:lstStyle/>
            <a:p>
              <a:pPr>
                <a:defRPr sz="1400" b="1">
                  <a:solidFill>
                    <a:srgbClr val="FFFFFF"/>
                  </a:solidFill>
                </a:defRPr>
              </a:pPr>
            </a:p>
          </c:txPr>
          <c:dLblPos val="inEnd"/>
          <c:showLegendKey val="0"/>
          <c:showVal val="1"/>
          <c:showCatName val="0"/>
          <c:showSerName val="0"/>
          <c:showPercent val="0"/>
          <c:showBubbleSize val="0"/>
          <c:showLeaderLines val="1"/>
        </c:dLbls>
        <c:gapWidth val="45"/>
        <c:overlap val="100"/>
        <c:axId val="-2068027336"/>
        <c:axId val="-2113994440"/>
      </c:barChart>
      <c:catAx>
        <c:axId val="-2068027336"/>
        <c:scaling>
          <c:orientation val="minMax"/>
        </c:scaling>
        <c:delete val="0"/>
        <c:axPos val="l"/>
        <c:majorTickMark val="out"/>
        <c:minorTickMark val="none"/>
        <c:tickLblPos val="nextTo"/>
        <c:spPr>
          <a:ln>
            <a:solidFill>
              <a:srgbClr val="D9DEEC"/>
            </a:solidFill>
          </a:ln>
        </c:spPr>
        <c:txPr>
          <a:bodyPr/>
          <a:lstStyle/>
          <a:p>
            <a:pPr>
              <a:defRPr sz="1300">
                <a:solidFill>
                  <a:srgbClr val="374151"/>
                </a:solidFill>
              </a:defRPr>
            </a:pPr>
          </a:p>
        </c:txPr>
        <c:crossAx val="-2113994440"/>
        <c:crosses val="autoZero"/>
        <c:auto val="1"/>
        <c:lblAlgn val="ctr"/>
        <c:lblOffset val="100"/>
        <c:noMultiLvlLbl val="0"/>
      </c:catAx>
      <c:valAx>
        <c:axId val="-2113994440"/>
        <c:scaling>
          <c:max val="1.0"/>
          <c:min val="0.0"/>
        </c:scaling>
        <c:delete val="0"/>
        <c:axPos val="b"/>
        <c:numFmt formatCode="0.0" sourceLinked="0"/>
        <c:majorTickMark val="out"/>
        <c:minorTickMark val="none"/>
        <c:tickLblPos val="nextTo"/>
        <c:spPr>
          <a:ln>
            <a:noFill/>
          </a:ln>
        </c:spPr>
        <c:txPr>
          <a:bodyPr/>
          <a:lstStyle/>
          <a:p>
            <a:pPr>
              <a:defRPr sz="1100">
                <a:solidFill>
                  <a:srgbClr val="6B7280"/>
                </a:solidFill>
              </a:defRPr>
            </a:pPr>
          </a:p>
        </c:txPr>
        <c:crossAx val="-2068027336"/>
        <c:crosses val="autoZero"/>
        <c:majorUnit val="0.2"/>
      </c:valAx>
    </c:plotArea>
    <c:dispBlanksAs val="gap"/>
  </c:chart>
  <c:spPr>
    <a:noFill/>
    <a:ln>
      <a:noFill/>
    </a:ln>
  </c:spPr>
  <c:txPr>
    <a:bodyPr/>
    <a:lstStyle/>
    <a:p>
      <a:pPr>
        <a:defRPr sz="1200">
          <a:solidFill>
            <a:srgbClr val="374151"/>
          </a:solidFill>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Our project builds a system that reads a contract for the person signing it: it finds which of CUAD's 41 clause types are present, shows the clause text, gives each one a High, Medium or Low risk level with a plain-English line, and runs in an app called Clausify. We cover the data, the pipeline, training, the problems we solved, how we tested, and the results.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CUAD has 510 contracts and 41 categories. We split by whole contract, 408 for training and 102 for testing, so no clause from a training contract can leak into the test. The chart shows train and test have almost the same share of each category (32.0% vs 32.2% positive overall).</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presence step reads every window and takes the highest window score for the whole contract; this is multiple-instance learning. A word-based TF-IDF model reads the whole contract, and the AND rule needs both to agree. Then the span model finds the text, the risk table adds the level, and FLAN-T5 adds a plain sentence.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All three models were trained only on the 408 training contracts, with standard fine-tuning settings. We trained the simple TF-IDF baseline first so every neural model had a fair score to beat.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AND-ensemble has the highest micro-F1, 0.779, with balanced precision and recall. Statistically it ties with the TF-IDF baseline (bootstrap interval -0.0037 to +0.0115). The clear result is that the simple whole-document model beats the window transformer by 0.082, and that gap survived every check.</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Risk is set per category with five written questions, so anyone can check or challenge a level. Eight categories are High, 22 Medium and 11 Low. A lawyer has not reviewed the table yet; that is our first next step.</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app problem was found by testing with real inputs. The clause-mode numbers come from 721 test-split clauses; the app shows them under every clause-mode result. 38 automated checks now cover these cases.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Example: for an anti-assignment clause the app shows 'You cannot transfer this contract to someone else without permission.' Exact match is 35.5%, lower than overlap, because the exact start and end of a legal clause are often debatable.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We resample whole contracts, not single decisions, because the 41 decisions from one contract move together. Nothing was tuned on the test set, and the test notebook only loads saved models.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We delivered a complete, tested system and a working app. The next steps make it more trustworthy: a lawyer review of the risk table, a calibrated confidence score, a user study, explanations written for each clause, and contracts from outside CUAD.</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CUAD contracts are long: about 33,000 characters for a typical one. The parts that matter, such as unlimited liability, IP assignment or a non-compete, are short and easy to miss. Lawyers are expensive, so many people sign without help. CUAD only finds clause text; we add a risk level, a plain-English line and an app.</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These were practical problems with clear fixes. The window design came from a measurement, not a guess: a search-first design could never reach more than 64% of clauses, below what the simple baseline already finds.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Clausify runs all the trained models on a pasted or uploaded contract. By default it uses DistilBERT alone, which finds 84% of High-risk clauses (recall 0.841); the AND-ensemble is available as a setting. The notice on screen says it is not legal advice and that scores are model scores.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Our four objectives map onto the four steps of the system: presence, clause text, risk with plain English, and a fair test followed by the app.</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Cleaning was about format, not wrong values: empty cells, lists stored as text, and one column name with an extra space. We then built one row per contract and category, and cut each contract into overlapping windows for the transformer.</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4.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 Id="rId4" Type="http://schemas.openxmlformats.org/officeDocument/2006/relationships/chart" Target="../charts/chart1.xml"/></Relationships>
</file>

<file path=ppt/slides/_rels/slide8.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 Id="rId5" Type="http://schemas.openxmlformats.org/officeDocument/2006/relationships/chart" Target="../charts/chart2.xml"/><Relationship Id="rId6"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fig/bracu_logo.png">    </p:cNvPr>
          <p:cNvPicPr>
            <a:picLocks noChangeAspect="1"/>
          </p:cNvPicPr>
          <p:nvPr/>
        </p:nvPicPr>
        <p:blipFill>
          <a:blip r:embed="rId1"/>
          <a:stretch>
            <a:fillRect/>
          </a:stretch>
        </p:blipFill>
        <p:spPr>
          <a:xfrm>
            <a:off x="5271516" y="292608"/>
            <a:ext cx="1645920" cy="1508760"/>
          </a:xfrm>
          <a:prstGeom prst="rect">
            <a:avLst/>
          </a:prstGeom>
        </p:spPr>
      </p:pic>
      <p:sp>
        <p:nvSpPr>
          <p:cNvPr id="3" name="Text 0"/>
          <p:cNvSpPr txBox="1"/>
          <p:nvPr/>
        </p:nvSpPr>
        <p:spPr>
          <a:xfrm>
            <a:off x="838048" y="1920240"/>
            <a:ext cx="10515600" cy="347472"/>
          </a:xfrm>
          <a:prstGeom prst="rect">
            <a:avLst/>
          </a:prstGeom>
          <a:noFill/>
          <a:ln/>
        </p:spPr>
        <p:txBody>
          <a:bodyPr wrap="square" lIns="0" tIns="0" rIns="0" bIns="0" rtlCol="0" anchor="ctr"/>
          <a:lstStyle/>
          <a:p>
            <a:pPr algn="ctr" indent="0" marL="0">
              <a:buNone/>
            </a:pPr>
            <a:r>
              <a:rPr lang="en-US" sz="1700" b="1" dirty="0">
                <a:solidFill>
                  <a:srgbClr val="141B3D"/>
                </a:solidFill>
                <a:latin typeface="Cambria" pitchFamily="34" charset="0"/>
                <a:ea typeface="Cambria" pitchFamily="34" charset="-122"/>
                <a:cs typeface="Cambria" pitchFamily="34" charset="-120"/>
              </a:rPr>
              <a:t>Department of Computer Science and Engineering</a:t>
            </a:r>
            <a:endParaRPr lang="en-US" sz="1700" dirty="0"/>
          </a:p>
        </p:txBody>
      </p:sp>
      <p:sp>
        <p:nvSpPr>
          <p:cNvPr id="4" name="Text 1"/>
          <p:cNvSpPr txBox="1"/>
          <p:nvPr/>
        </p:nvSpPr>
        <p:spPr>
          <a:xfrm>
            <a:off x="838048" y="2395728"/>
            <a:ext cx="10515600" cy="1280160"/>
          </a:xfrm>
          <a:prstGeom prst="rect">
            <a:avLst/>
          </a:prstGeom>
          <a:noFill/>
          <a:ln/>
        </p:spPr>
        <p:txBody>
          <a:bodyPr wrap="square" lIns="0" tIns="0" rIns="0" bIns="0" rtlCol="0" anchor="ctr"/>
          <a:lstStyle/>
          <a:p>
            <a:pPr algn="ctr" indent="0" marL="0">
              <a:lnSpc>
                <a:spcPts val="3000"/>
              </a:lnSpc>
              <a:buNone/>
            </a:pPr>
            <a:r>
              <a:rPr lang="en-US" sz="2300" b="1" dirty="0">
                <a:solidFill>
                  <a:srgbClr val="1E2761"/>
                </a:solidFill>
                <a:latin typeface="Cambria" pitchFamily="34" charset="0"/>
                <a:ea typeface="Cambria" pitchFamily="34" charset="-122"/>
                <a:cs typeface="Cambria" pitchFamily="34" charset="-120"/>
              </a:rPr>
              <a:t>AI-Powered Legal Document Analysis System:</a:t>
            </a:r>
            <a:endParaRPr lang="en-US" sz="2300" dirty="0"/>
          </a:p>
          <a:p>
            <a:pPr algn="ctr" indent="0" marL="0">
              <a:lnSpc>
                <a:spcPts val="3000"/>
              </a:lnSpc>
              <a:buNone/>
            </a:pPr>
            <a:r>
              <a:rPr lang="en-US" sz="2300" b="1" dirty="0">
                <a:solidFill>
                  <a:srgbClr val="1E2761"/>
                </a:solidFill>
                <a:latin typeface="Cambria" pitchFamily="34" charset="0"/>
                <a:ea typeface="Cambria" pitchFamily="34" charset="-122"/>
                <a:cs typeface="Cambria" pitchFamily="34" charset="-120"/>
              </a:rPr>
              <a:t>Clause Detection, Category-Level Risk Prioritization</a:t>
            </a:r>
            <a:endParaRPr lang="en-US" sz="2300" dirty="0"/>
          </a:p>
          <a:p>
            <a:pPr algn="ctr" indent="0" marL="0">
              <a:lnSpc>
                <a:spcPts val="3000"/>
              </a:lnSpc>
              <a:buNone/>
            </a:pPr>
            <a:r>
              <a:rPr lang="en-US" sz="2300" b="1" dirty="0">
                <a:solidFill>
                  <a:srgbClr val="1E2761"/>
                </a:solidFill>
                <a:latin typeface="Cambria" pitchFamily="34" charset="0"/>
                <a:ea typeface="Cambria" pitchFamily="34" charset="-122"/>
                <a:cs typeface="Cambria" pitchFamily="34" charset="-120"/>
              </a:rPr>
              <a:t>and Plain-Language Explanation on CUAD</a:t>
            </a:r>
            <a:endParaRPr lang="en-US" sz="2300" dirty="0"/>
          </a:p>
        </p:txBody>
      </p:sp>
      <p:sp>
        <p:nvSpPr>
          <p:cNvPr id="5" name="Text 2"/>
          <p:cNvSpPr txBox="1"/>
          <p:nvPr/>
        </p:nvSpPr>
        <p:spPr>
          <a:xfrm>
            <a:off x="838048" y="3749040"/>
            <a:ext cx="10515600" cy="256032"/>
          </a:xfrm>
          <a:prstGeom prst="rect">
            <a:avLst/>
          </a:prstGeom>
          <a:noFill/>
          <a:ln/>
        </p:spPr>
        <p:txBody>
          <a:bodyPr wrap="square" lIns="0" tIns="0" rIns="0" bIns="0" rtlCol="0" anchor="ctr"/>
          <a:lstStyle/>
          <a:p>
            <a:pPr algn="ctr" indent="0" marL="0">
              <a:buNone/>
            </a:pPr>
            <a:r>
              <a:rPr lang="en-US" sz="1400" i="1" dirty="0">
                <a:solidFill>
                  <a:srgbClr val="6B7280"/>
                </a:solidFill>
                <a:latin typeface="Calibri" pitchFamily="34" charset="0"/>
                <a:ea typeface="Calibri" pitchFamily="34" charset="-122"/>
                <a:cs typeface="Calibri" pitchFamily="34" charset="-120"/>
              </a:rPr>
              <a:t>Submitted by</a:t>
            </a:r>
            <a:endParaRPr lang="en-US" sz="1400" dirty="0"/>
          </a:p>
        </p:txBody>
      </p:sp>
      <p:sp>
        <p:nvSpPr>
          <p:cNvPr id="6" name="Text 3"/>
          <p:cNvSpPr txBox="1"/>
          <p:nvPr/>
        </p:nvSpPr>
        <p:spPr>
          <a:xfrm>
            <a:off x="838048" y="4023360"/>
            <a:ext cx="10515600" cy="292608"/>
          </a:xfrm>
          <a:prstGeom prst="rect">
            <a:avLst/>
          </a:prstGeom>
          <a:noFill/>
          <a:ln/>
        </p:spPr>
        <p:txBody>
          <a:bodyPr wrap="square" lIns="0" tIns="0" rIns="0" bIns="0" rtlCol="0" anchor="ctr"/>
          <a:lstStyle/>
          <a:p>
            <a:pPr algn="ctr" indent="0" marL="0">
              <a:buNone/>
            </a:pPr>
            <a:r>
              <a:rPr lang="en-US" sz="1550" b="1" dirty="0">
                <a:solidFill>
                  <a:srgbClr val="1E2761"/>
                </a:solidFill>
                <a:latin typeface="Calibri" pitchFamily="34" charset="0"/>
                <a:ea typeface="Calibri" pitchFamily="34" charset="-122"/>
                <a:cs typeface="Calibri" pitchFamily="34" charset="-120"/>
              </a:rPr>
              <a:t>Group ID: P25301051</a:t>
            </a:r>
            <a:endParaRPr lang="en-US" sz="1550" dirty="0"/>
          </a:p>
        </p:txBody>
      </p:sp>
      <p:sp>
        <p:nvSpPr>
          <p:cNvPr id="7" name="Text 4"/>
          <p:cNvSpPr txBox="1"/>
          <p:nvPr/>
        </p:nvSpPr>
        <p:spPr>
          <a:xfrm>
            <a:off x="838048" y="4352544"/>
            <a:ext cx="10515600" cy="868680"/>
          </a:xfrm>
          <a:prstGeom prst="rect">
            <a:avLst/>
          </a:prstGeom>
          <a:noFill/>
          <a:ln/>
        </p:spPr>
        <p:txBody>
          <a:bodyPr wrap="square" lIns="0" tIns="0" rIns="0" bIns="0" rtlCol="0" anchor="ctr"/>
          <a:lstStyle/>
          <a:p>
            <a:pPr algn="ctr" indent="0" marL="0">
              <a:lnSpc>
                <a:spcPts val="2200"/>
              </a:lnSpc>
              <a:buNone/>
            </a:pPr>
            <a:r>
              <a:rPr lang="en-US" sz="1600" b="1" dirty="0">
                <a:solidFill>
                  <a:srgbClr val="141B3D"/>
                </a:solidFill>
                <a:latin typeface="Calibri" pitchFamily="34" charset="0"/>
                <a:ea typeface="Calibri" pitchFamily="34" charset="-122"/>
                <a:cs typeface="Calibri" pitchFamily="34" charset="-120"/>
              </a:rPr>
              <a:t>Jerin Aktar, 22101279</a:t>
            </a:r>
            <a:endParaRPr lang="en-US" sz="1600" dirty="0"/>
          </a:p>
          <a:p>
            <a:pPr algn="ctr" indent="0" marL="0">
              <a:lnSpc>
                <a:spcPts val="2200"/>
              </a:lnSpc>
              <a:buNone/>
            </a:pPr>
            <a:r>
              <a:rPr lang="en-US" sz="1600" b="1" dirty="0">
                <a:solidFill>
                  <a:srgbClr val="141B3D"/>
                </a:solidFill>
                <a:latin typeface="Calibri" pitchFamily="34" charset="0"/>
                <a:ea typeface="Calibri" pitchFamily="34" charset="-122"/>
                <a:cs typeface="Calibri" pitchFamily="34" charset="-120"/>
              </a:rPr>
              <a:t>Afnan Mazumdar, 24141229</a:t>
            </a:r>
            <a:endParaRPr lang="en-US" sz="1600" dirty="0"/>
          </a:p>
          <a:p>
            <a:pPr algn="ctr" indent="0" marL="0">
              <a:lnSpc>
                <a:spcPts val="2200"/>
              </a:lnSpc>
              <a:buNone/>
            </a:pPr>
            <a:r>
              <a:rPr lang="en-US" sz="1600" b="1" dirty="0">
                <a:solidFill>
                  <a:srgbClr val="141B3D"/>
                </a:solidFill>
                <a:latin typeface="Calibri" pitchFamily="34" charset="0"/>
                <a:ea typeface="Calibri" pitchFamily="34" charset="-122"/>
                <a:cs typeface="Calibri" pitchFamily="34" charset="-120"/>
              </a:rPr>
              <a:t>Shoyeb Hasan Sayem, 22101386</a:t>
            </a:r>
            <a:endParaRPr lang="en-US" sz="1600" dirty="0"/>
          </a:p>
        </p:txBody>
      </p:sp>
      <p:sp>
        <p:nvSpPr>
          <p:cNvPr id="8" name="Text 5"/>
          <p:cNvSpPr txBox="1"/>
          <p:nvPr/>
        </p:nvSpPr>
        <p:spPr>
          <a:xfrm>
            <a:off x="838048" y="5321808"/>
            <a:ext cx="10515600" cy="256032"/>
          </a:xfrm>
          <a:prstGeom prst="rect">
            <a:avLst/>
          </a:prstGeom>
          <a:noFill/>
          <a:ln/>
        </p:spPr>
        <p:txBody>
          <a:bodyPr wrap="square" lIns="0" tIns="0" rIns="0" bIns="0" rtlCol="0" anchor="ctr"/>
          <a:lstStyle/>
          <a:p>
            <a:pPr algn="ctr" indent="0" marL="0">
              <a:buNone/>
            </a:pPr>
            <a:r>
              <a:rPr lang="en-US" sz="1350" i="1" dirty="0">
                <a:solidFill>
                  <a:srgbClr val="6B7280"/>
                </a:solidFill>
                <a:latin typeface="Calibri" pitchFamily="34" charset="0"/>
                <a:ea typeface="Calibri" pitchFamily="34" charset="-122"/>
                <a:cs typeface="Calibri" pitchFamily="34" charset="-120"/>
              </a:rPr>
              <a:t>Supervisor</a:t>
            </a:r>
            <a:endParaRPr lang="en-US" sz="1350" dirty="0"/>
          </a:p>
        </p:txBody>
      </p:sp>
      <p:sp>
        <p:nvSpPr>
          <p:cNvPr id="9" name="Text 6"/>
          <p:cNvSpPr txBox="1"/>
          <p:nvPr/>
        </p:nvSpPr>
        <p:spPr>
          <a:xfrm>
            <a:off x="838048" y="5596128"/>
            <a:ext cx="10515600" cy="566928"/>
          </a:xfrm>
          <a:prstGeom prst="rect">
            <a:avLst/>
          </a:prstGeom>
          <a:noFill/>
          <a:ln/>
        </p:spPr>
        <p:txBody>
          <a:bodyPr wrap="square" lIns="0" tIns="0" rIns="0" bIns="0" rtlCol="0" anchor="ctr"/>
          <a:lstStyle/>
          <a:p>
            <a:pPr algn="ctr" indent="0" marL="0">
              <a:lnSpc>
                <a:spcPts val="2000"/>
              </a:lnSpc>
              <a:buNone/>
            </a:pPr>
            <a:r>
              <a:rPr lang="en-US" sz="1450" b="1" dirty="0">
                <a:solidFill>
                  <a:srgbClr val="141B3D"/>
                </a:solidFill>
                <a:latin typeface="Calibri" pitchFamily="34" charset="0"/>
                <a:ea typeface="Calibri" pitchFamily="34" charset="-122"/>
                <a:cs typeface="Calibri" pitchFamily="34" charset="-120"/>
              </a:rPr>
              <a:t>Utsha Kumar Roy</a:t>
            </a:r>
            <a:endParaRPr lang="en-US" sz="1450" dirty="0"/>
          </a:p>
          <a:p>
            <a:pPr algn="ctr" indent="0" marL="0">
              <a:lnSpc>
                <a:spcPts val="2000"/>
              </a:lnSpc>
              <a:buNone/>
            </a:pPr>
            <a:r>
              <a:rPr lang="en-US" sz="1450" dirty="0">
                <a:solidFill>
                  <a:srgbClr val="141B3D"/>
                </a:solidFill>
                <a:latin typeface="Calibri" pitchFamily="34" charset="0"/>
                <a:ea typeface="Calibri" pitchFamily="34" charset="-122"/>
                <a:cs typeface="Calibri" pitchFamily="34" charset="-120"/>
              </a:rPr>
              <a:t>Department of Computer Science and Engineering</a:t>
            </a:r>
            <a:endParaRPr lang="en-US" sz="1450" dirty="0"/>
          </a:p>
        </p:txBody>
      </p:sp>
      <p:sp>
        <p:nvSpPr>
          <p:cNvPr id="10" name="Text 7"/>
          <p:cNvSpPr txBox="1"/>
          <p:nvPr/>
        </p:nvSpPr>
        <p:spPr>
          <a:xfrm>
            <a:off x="838048" y="6272784"/>
            <a:ext cx="10515600" cy="292608"/>
          </a:xfrm>
          <a:prstGeom prst="rect">
            <a:avLst/>
          </a:prstGeom>
          <a:noFill/>
          <a:ln/>
        </p:spPr>
        <p:txBody>
          <a:bodyPr wrap="square" lIns="0" tIns="0" rIns="0" bIns="0" rtlCol="0" anchor="ctr"/>
          <a:lstStyle/>
          <a:p>
            <a:pPr algn="ctr" indent="0" marL="0">
              <a:buNone/>
            </a:pPr>
            <a:r>
              <a:rPr lang="en-US" sz="1300" dirty="0">
                <a:solidFill>
                  <a:srgbClr val="6B7280"/>
                </a:solidFill>
                <a:latin typeface="Calibri" pitchFamily="34" charset="0"/>
                <a:ea typeface="Calibri" pitchFamily="34" charset="-122"/>
                <a:cs typeface="Calibri" pitchFamily="34" charset="-120"/>
              </a:rPr>
              <a:t>Brac University  .  September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548640" y="109728"/>
            <a:ext cx="2286000" cy="301752"/>
          </a:xfrm>
          <a:prstGeom prst="roundRect">
            <a:avLst>
              <a:gd name="adj" fmla="val 45455"/>
            </a:avLst>
          </a:prstGeom>
          <a:solidFill>
            <a:srgbClr val="CADCFC"/>
          </a:solidFill>
          <a:ln w="12700">
            <a:solidFill>
              <a:srgbClr val="CADCFC"/>
            </a:solidFill>
            <a:prstDash val="solid"/>
          </a:ln>
        </p:spPr>
      </p:sp>
      <p:sp>
        <p:nvSpPr>
          <p:cNvPr id="3" name="Text 1"/>
          <p:cNvSpPr txBox="1"/>
          <p:nvPr/>
        </p:nvSpPr>
        <p:spPr>
          <a:xfrm>
            <a:off x="548640" y="109728"/>
            <a:ext cx="2286000" cy="301752"/>
          </a:xfrm>
          <a:prstGeom prst="rect">
            <a:avLst/>
          </a:prstGeom>
          <a:noFill/>
          <a:ln/>
        </p:spPr>
        <p:txBody>
          <a:bodyPr wrap="square" lIns="0" tIns="0" rIns="0" bIns="0" rtlCol="0" anchor="ctr"/>
          <a:lstStyle/>
          <a:p>
            <a:pPr algn="ctr" indent="0" marL="0">
              <a:buNone/>
            </a:pPr>
            <a:r>
              <a:rPr lang="en-US" sz="1250" b="1" dirty="0">
                <a:solidFill>
                  <a:srgbClr val="1E2761"/>
                </a:solidFill>
                <a:latin typeface="Calibri" pitchFamily="34" charset="0"/>
                <a:ea typeface="Calibri" pitchFamily="34" charset="-122"/>
                <a:cs typeface="Calibri" pitchFamily="34" charset="-120"/>
              </a:rPr>
              <a:t>INTRODUCTION</a:t>
            </a:r>
            <a:endParaRPr lang="en-US" sz="1250" dirty="0"/>
          </a:p>
        </p:txBody>
      </p:sp>
      <p:sp>
        <p:nvSpPr>
          <p:cNvPr id="4" name="Text 2"/>
          <p:cNvSpPr txBox="1"/>
          <p:nvPr/>
        </p:nvSpPr>
        <p:spPr>
          <a:xfrm>
            <a:off x="563728" y="329184"/>
            <a:ext cx="11064240" cy="676656"/>
          </a:xfrm>
          <a:prstGeom prst="rect">
            <a:avLst/>
          </a:prstGeom>
          <a:noFill/>
          <a:ln/>
        </p:spPr>
        <p:txBody>
          <a:bodyPr wrap="square" rtlCol="0" anchor="ctr"/>
          <a:lstStyle/>
          <a:p>
            <a:pPr algn="ctr" indent="0" marL="0">
              <a:buNone/>
            </a:pPr>
            <a:r>
              <a:rPr lang="en-US" sz="3500" b="1" dirty="0">
                <a:solidFill>
                  <a:srgbClr val="141B3D"/>
                </a:solidFill>
                <a:latin typeface="Cambria" pitchFamily="34" charset="0"/>
                <a:ea typeface="Cambria" pitchFamily="34" charset="-122"/>
                <a:cs typeface="Cambria" pitchFamily="34" charset="-120"/>
              </a:rPr>
              <a:t>Contracts are long, and the risky parts are short</a:t>
            </a:r>
            <a:endParaRPr lang="en-US" sz="3500" dirty="0"/>
          </a:p>
        </p:txBody>
      </p:sp>
      <p:sp>
        <p:nvSpPr>
          <p:cNvPr id="5" name="Text 3"/>
          <p:cNvSpPr txBox="1"/>
          <p:nvPr/>
        </p:nvSpPr>
        <p:spPr>
          <a:xfrm>
            <a:off x="563728" y="1024128"/>
            <a:ext cx="11064240" cy="347472"/>
          </a:xfrm>
          <a:prstGeom prst="rect">
            <a:avLst/>
          </a:prstGeom>
          <a:noFill/>
          <a:ln/>
        </p:spPr>
        <p:txBody>
          <a:bodyPr wrap="square" rtlCol="0" anchor="ctr"/>
          <a:lstStyle/>
          <a:p>
            <a:pPr algn="ctr" indent="0" marL="0">
              <a:buNone/>
            </a:pPr>
            <a:r>
              <a:rPr lang="en-US" sz="1600" i="1" dirty="0">
                <a:solidFill>
                  <a:srgbClr val="6B7280"/>
                </a:solidFill>
                <a:latin typeface="Calibri" pitchFamily="34" charset="0"/>
                <a:ea typeface="Calibri" pitchFamily="34" charset="-122"/>
                <a:cs typeface="Calibri" pitchFamily="34" charset="-120"/>
              </a:rPr>
              <a:t>Why we built a system that reads a contract for the person signing it</a:t>
            </a:r>
            <a:endParaRPr lang="en-US" sz="1600" dirty="0"/>
          </a:p>
        </p:txBody>
      </p:sp>
      <p:sp>
        <p:nvSpPr>
          <p:cNvPr id="6" name="Shape 4"/>
          <p:cNvSpPr/>
          <p:nvPr/>
        </p:nvSpPr>
        <p:spPr>
          <a:xfrm>
            <a:off x="548640" y="1554480"/>
            <a:ext cx="11155680" cy="1197864"/>
          </a:xfrm>
          <a:prstGeom prst="roundRect">
            <a:avLst>
              <a:gd name="adj" fmla="val 4580"/>
            </a:avLst>
          </a:prstGeom>
          <a:solidFill>
            <a:srgbClr val="F6F7FB"/>
          </a:solidFill>
          <a:ln w="12700">
            <a:solidFill>
              <a:srgbClr val="E4E7F2"/>
            </a:solidFill>
            <a:prstDash val="solid"/>
          </a:ln>
        </p:spPr>
      </p:sp>
      <p:sp>
        <p:nvSpPr>
          <p:cNvPr id="7" name="Shape 5"/>
          <p:cNvSpPr/>
          <p:nvPr/>
        </p:nvSpPr>
        <p:spPr>
          <a:xfrm>
            <a:off x="777240" y="2002536"/>
            <a:ext cx="310896" cy="310896"/>
          </a:xfrm>
          <a:prstGeom prst="ellipse">
            <a:avLst/>
          </a:prstGeom>
          <a:solidFill>
            <a:srgbClr val="D94F5C"/>
          </a:solidFill>
          <a:ln w="12700">
            <a:solidFill>
              <a:srgbClr val="D94F5C"/>
            </a:solidFill>
            <a:prstDash val="solid"/>
          </a:ln>
        </p:spPr>
      </p:sp>
      <p:sp>
        <p:nvSpPr>
          <p:cNvPr id="8" name="Text 6"/>
          <p:cNvSpPr txBox="1"/>
          <p:nvPr/>
        </p:nvSpPr>
        <p:spPr>
          <a:xfrm>
            <a:off x="1234440" y="1673352"/>
            <a:ext cx="4480560" cy="960120"/>
          </a:xfrm>
          <a:prstGeom prst="rect">
            <a:avLst/>
          </a:prstGeom>
          <a:noFill/>
          <a:ln/>
        </p:spPr>
        <p:txBody>
          <a:bodyPr wrap="square" lIns="0" tIns="0" rIns="0" bIns="0" rtlCol="0" anchor="ctr"/>
          <a:lstStyle/>
          <a:p>
            <a:pPr indent="0" marL="0">
              <a:buNone/>
            </a:pPr>
            <a:r>
              <a:rPr lang="en-US" sz="1550" b="1" dirty="0">
                <a:solidFill>
                  <a:srgbClr val="141B3D"/>
                </a:solidFill>
                <a:latin typeface="Calibri" pitchFamily="34" charset="0"/>
                <a:ea typeface="Calibri" pitchFamily="34" charset="-122"/>
                <a:cs typeface="Calibri" pitchFamily="34" charset="-120"/>
              </a:rPr>
              <a:t>Contracts are long</a:t>
            </a:r>
            <a:endParaRPr lang="en-US" sz="1550" dirty="0"/>
          </a:p>
        </p:txBody>
      </p:sp>
      <p:sp>
        <p:nvSpPr>
          <p:cNvPr id="9" name="Text 7"/>
          <p:cNvSpPr txBox="1"/>
          <p:nvPr/>
        </p:nvSpPr>
        <p:spPr>
          <a:xfrm>
            <a:off x="5897880" y="1673352"/>
            <a:ext cx="5623560" cy="960120"/>
          </a:xfrm>
          <a:prstGeom prst="rect">
            <a:avLst/>
          </a:prstGeom>
          <a:noFill/>
          <a:ln/>
        </p:spPr>
        <p:txBody>
          <a:bodyPr wrap="square" lIns="0" tIns="0" rIns="0" bIns="0" rtlCol="0" anchor="ctr"/>
          <a:lstStyle/>
          <a:p>
            <a:pPr indent="0" marL="0">
              <a:buNone/>
            </a:pPr>
            <a:r>
              <a:rPr lang="en-US" sz="1350" dirty="0">
                <a:solidFill>
                  <a:srgbClr val="374151"/>
                </a:solidFill>
                <a:latin typeface="Calibri" pitchFamily="34" charset="0"/>
                <a:ea typeface="Calibri" pitchFamily="34" charset="-122"/>
                <a:cs typeface="Calibri" pitchFamily="34" charset="-120"/>
              </a:rPr>
              <a:t>A typical CUAD contract has about 33,000 characters (5,000 words); the longest has more than 338,000.</a:t>
            </a:r>
            <a:endParaRPr lang="en-US" sz="1350" dirty="0"/>
          </a:p>
        </p:txBody>
      </p:sp>
      <p:sp>
        <p:nvSpPr>
          <p:cNvPr id="10" name="Shape 8"/>
          <p:cNvSpPr/>
          <p:nvPr/>
        </p:nvSpPr>
        <p:spPr>
          <a:xfrm>
            <a:off x="548640" y="2852928"/>
            <a:ext cx="11155680" cy="1197864"/>
          </a:xfrm>
          <a:prstGeom prst="roundRect">
            <a:avLst>
              <a:gd name="adj" fmla="val 4580"/>
            </a:avLst>
          </a:prstGeom>
          <a:solidFill>
            <a:srgbClr val="F6F7FB"/>
          </a:solidFill>
          <a:ln w="12700">
            <a:solidFill>
              <a:srgbClr val="E4E7F2"/>
            </a:solidFill>
            <a:prstDash val="solid"/>
          </a:ln>
        </p:spPr>
      </p:sp>
      <p:sp>
        <p:nvSpPr>
          <p:cNvPr id="11" name="Shape 9"/>
          <p:cNvSpPr/>
          <p:nvPr/>
        </p:nvSpPr>
        <p:spPr>
          <a:xfrm>
            <a:off x="777240" y="3300984"/>
            <a:ext cx="310896" cy="310896"/>
          </a:xfrm>
          <a:prstGeom prst="ellipse">
            <a:avLst/>
          </a:prstGeom>
          <a:solidFill>
            <a:srgbClr val="D94F5C"/>
          </a:solidFill>
          <a:ln w="12700">
            <a:solidFill>
              <a:srgbClr val="D94F5C"/>
            </a:solidFill>
            <a:prstDash val="solid"/>
          </a:ln>
        </p:spPr>
      </p:sp>
      <p:sp>
        <p:nvSpPr>
          <p:cNvPr id="12" name="Text 10"/>
          <p:cNvSpPr txBox="1"/>
          <p:nvPr/>
        </p:nvSpPr>
        <p:spPr>
          <a:xfrm>
            <a:off x="1234440" y="2971800"/>
            <a:ext cx="4480560" cy="960120"/>
          </a:xfrm>
          <a:prstGeom prst="rect">
            <a:avLst/>
          </a:prstGeom>
          <a:noFill/>
          <a:ln/>
        </p:spPr>
        <p:txBody>
          <a:bodyPr wrap="square" lIns="0" tIns="0" rIns="0" bIns="0" rtlCol="0" anchor="ctr"/>
          <a:lstStyle/>
          <a:p>
            <a:pPr indent="0" marL="0">
              <a:buNone/>
            </a:pPr>
            <a:r>
              <a:rPr lang="en-US" sz="1550" b="1" dirty="0">
                <a:solidFill>
                  <a:srgbClr val="141B3D"/>
                </a:solidFill>
                <a:latin typeface="Calibri" pitchFamily="34" charset="0"/>
                <a:ea typeface="Calibri" pitchFamily="34" charset="-122"/>
                <a:cs typeface="Calibri" pitchFamily="34" charset="-120"/>
              </a:rPr>
              <a:t>Lawyers are expensive</a:t>
            </a:r>
            <a:endParaRPr lang="en-US" sz="1550" dirty="0"/>
          </a:p>
        </p:txBody>
      </p:sp>
      <p:sp>
        <p:nvSpPr>
          <p:cNvPr id="13" name="Text 11"/>
          <p:cNvSpPr txBox="1"/>
          <p:nvPr/>
        </p:nvSpPr>
        <p:spPr>
          <a:xfrm>
            <a:off x="5897880" y="2971800"/>
            <a:ext cx="5623560" cy="960120"/>
          </a:xfrm>
          <a:prstGeom prst="rect">
            <a:avLst/>
          </a:prstGeom>
          <a:noFill/>
          <a:ln/>
        </p:spPr>
        <p:txBody>
          <a:bodyPr wrap="square" lIns="0" tIns="0" rIns="0" bIns="0" rtlCol="0" anchor="ctr"/>
          <a:lstStyle/>
          <a:p>
            <a:pPr indent="0" marL="0">
              <a:buNone/>
            </a:pPr>
            <a:r>
              <a:rPr lang="en-US" sz="1350" dirty="0">
                <a:solidFill>
                  <a:srgbClr val="374151"/>
                </a:solidFill>
                <a:latin typeface="Calibri" pitchFamily="34" charset="0"/>
                <a:ea typeface="Calibri" pitchFamily="34" charset="-122"/>
                <a:cs typeface="Calibri" pitchFamily="34" charset="-120"/>
              </a:rPr>
              <a:t>A full review takes hours and costs money that freelancers and small businesses often cannot pay, so many people sign without understanding the risks.</a:t>
            </a:r>
            <a:endParaRPr lang="en-US" sz="1350" dirty="0"/>
          </a:p>
        </p:txBody>
      </p:sp>
      <p:sp>
        <p:nvSpPr>
          <p:cNvPr id="14" name="Shape 12"/>
          <p:cNvSpPr/>
          <p:nvPr/>
        </p:nvSpPr>
        <p:spPr>
          <a:xfrm>
            <a:off x="548640" y="4151376"/>
            <a:ext cx="11155680" cy="1197864"/>
          </a:xfrm>
          <a:prstGeom prst="roundRect">
            <a:avLst>
              <a:gd name="adj" fmla="val 4580"/>
            </a:avLst>
          </a:prstGeom>
          <a:solidFill>
            <a:srgbClr val="F6F7FB"/>
          </a:solidFill>
          <a:ln w="12700">
            <a:solidFill>
              <a:srgbClr val="E4E7F2"/>
            </a:solidFill>
            <a:prstDash val="solid"/>
          </a:ln>
        </p:spPr>
      </p:sp>
      <p:sp>
        <p:nvSpPr>
          <p:cNvPr id="15" name="Shape 13"/>
          <p:cNvSpPr/>
          <p:nvPr/>
        </p:nvSpPr>
        <p:spPr>
          <a:xfrm>
            <a:off x="777240" y="4599432"/>
            <a:ext cx="310896" cy="310896"/>
          </a:xfrm>
          <a:prstGeom prst="ellipse">
            <a:avLst/>
          </a:prstGeom>
          <a:solidFill>
            <a:srgbClr val="E8A13A"/>
          </a:solidFill>
          <a:ln w="12700">
            <a:solidFill>
              <a:srgbClr val="E8A13A"/>
            </a:solidFill>
            <a:prstDash val="solid"/>
          </a:ln>
        </p:spPr>
      </p:sp>
      <p:sp>
        <p:nvSpPr>
          <p:cNvPr id="16" name="Text 14"/>
          <p:cNvSpPr txBox="1"/>
          <p:nvPr/>
        </p:nvSpPr>
        <p:spPr>
          <a:xfrm>
            <a:off x="1234440" y="4270248"/>
            <a:ext cx="4480560" cy="960120"/>
          </a:xfrm>
          <a:prstGeom prst="rect">
            <a:avLst/>
          </a:prstGeom>
          <a:noFill/>
          <a:ln/>
        </p:spPr>
        <p:txBody>
          <a:bodyPr wrap="square" lIns="0" tIns="0" rIns="0" bIns="0" rtlCol="0" anchor="ctr"/>
          <a:lstStyle/>
          <a:p>
            <a:pPr indent="0" marL="0">
              <a:buNone/>
            </a:pPr>
            <a:r>
              <a:rPr lang="en-US" sz="1550" b="1" dirty="0">
                <a:solidFill>
                  <a:srgbClr val="141B3D"/>
                </a:solidFill>
                <a:latin typeface="Calibri" pitchFamily="34" charset="0"/>
                <a:ea typeface="Calibri" pitchFamily="34" charset="-122"/>
                <a:cs typeface="Calibri" pitchFamily="34" charset="-120"/>
              </a:rPr>
              <a:t>CUAD only finds the text</a:t>
            </a:r>
            <a:endParaRPr lang="en-US" sz="1550" dirty="0"/>
          </a:p>
        </p:txBody>
      </p:sp>
      <p:sp>
        <p:nvSpPr>
          <p:cNvPr id="17" name="Text 15"/>
          <p:cNvSpPr txBox="1"/>
          <p:nvPr/>
        </p:nvSpPr>
        <p:spPr>
          <a:xfrm>
            <a:off x="5897880" y="4270248"/>
            <a:ext cx="5623560" cy="960120"/>
          </a:xfrm>
          <a:prstGeom prst="rect">
            <a:avLst/>
          </a:prstGeom>
          <a:noFill/>
          <a:ln/>
        </p:spPr>
        <p:txBody>
          <a:bodyPr wrap="square" lIns="0" tIns="0" rIns="0" bIns="0" rtlCol="0" anchor="ctr"/>
          <a:lstStyle/>
          <a:p>
            <a:pPr indent="0" marL="0">
              <a:buNone/>
            </a:pPr>
            <a:r>
              <a:rPr lang="en-US" sz="1350" dirty="0">
                <a:solidFill>
                  <a:srgbClr val="374151"/>
                </a:solidFill>
                <a:latin typeface="Calibri" pitchFamily="34" charset="0"/>
                <a:ea typeface="Calibri" pitchFamily="34" charset="-122"/>
                <a:cs typeface="Calibri" pitchFamily="34" charset="-120"/>
              </a:rPr>
              <a:t>Given a category, the CUAD benchmark finds the clause. It does not say how risky the clause is or what it means in plain words.</a:t>
            </a:r>
            <a:endParaRPr lang="en-US" sz="1350" dirty="0"/>
          </a:p>
        </p:txBody>
      </p:sp>
      <p:sp>
        <p:nvSpPr>
          <p:cNvPr id="18" name="Shape 16"/>
          <p:cNvSpPr/>
          <p:nvPr/>
        </p:nvSpPr>
        <p:spPr>
          <a:xfrm>
            <a:off x="548640" y="5449824"/>
            <a:ext cx="11155680" cy="1197864"/>
          </a:xfrm>
          <a:prstGeom prst="roundRect">
            <a:avLst>
              <a:gd name="adj" fmla="val 4580"/>
            </a:avLst>
          </a:prstGeom>
          <a:solidFill>
            <a:srgbClr val="F6F7FB"/>
          </a:solidFill>
          <a:ln w="12700">
            <a:solidFill>
              <a:srgbClr val="E4E7F2"/>
            </a:solidFill>
            <a:prstDash val="solid"/>
          </a:ln>
        </p:spPr>
      </p:sp>
      <p:sp>
        <p:nvSpPr>
          <p:cNvPr id="19" name="Shape 17"/>
          <p:cNvSpPr/>
          <p:nvPr/>
        </p:nvSpPr>
        <p:spPr>
          <a:xfrm>
            <a:off x="777240" y="5897880"/>
            <a:ext cx="310896" cy="310896"/>
          </a:xfrm>
          <a:prstGeom prst="ellipse">
            <a:avLst/>
          </a:prstGeom>
          <a:solidFill>
            <a:srgbClr val="4CAF82"/>
          </a:solidFill>
          <a:ln w="12700">
            <a:solidFill>
              <a:srgbClr val="4CAF82"/>
            </a:solidFill>
            <a:prstDash val="solid"/>
          </a:ln>
        </p:spPr>
      </p:sp>
      <p:sp>
        <p:nvSpPr>
          <p:cNvPr id="20" name="Text 18"/>
          <p:cNvSpPr txBox="1"/>
          <p:nvPr/>
        </p:nvSpPr>
        <p:spPr>
          <a:xfrm>
            <a:off x="1234440" y="5568696"/>
            <a:ext cx="4480560" cy="960120"/>
          </a:xfrm>
          <a:prstGeom prst="rect">
            <a:avLst/>
          </a:prstGeom>
          <a:noFill/>
          <a:ln/>
        </p:spPr>
        <p:txBody>
          <a:bodyPr wrap="square" lIns="0" tIns="0" rIns="0" bIns="0" rtlCol="0" anchor="ctr"/>
          <a:lstStyle/>
          <a:p>
            <a:pPr indent="0" marL="0">
              <a:buNone/>
            </a:pPr>
            <a:r>
              <a:rPr lang="en-US" sz="1550" b="1" dirty="0">
                <a:solidFill>
                  <a:srgbClr val="141B3D"/>
                </a:solidFill>
                <a:latin typeface="Calibri" pitchFamily="34" charset="0"/>
                <a:ea typeface="Calibri" pitchFamily="34" charset="-122"/>
                <a:cs typeface="Calibri" pitchFamily="34" charset="-120"/>
              </a:rPr>
              <a:t>What we add</a:t>
            </a:r>
            <a:endParaRPr lang="en-US" sz="1550" dirty="0"/>
          </a:p>
        </p:txBody>
      </p:sp>
      <p:sp>
        <p:nvSpPr>
          <p:cNvPr id="21" name="Text 19"/>
          <p:cNvSpPr txBox="1"/>
          <p:nvPr/>
        </p:nvSpPr>
        <p:spPr>
          <a:xfrm>
            <a:off x="5897880" y="5568696"/>
            <a:ext cx="5623560" cy="960120"/>
          </a:xfrm>
          <a:prstGeom prst="rect">
            <a:avLst/>
          </a:prstGeom>
          <a:noFill/>
          <a:ln/>
        </p:spPr>
        <p:txBody>
          <a:bodyPr wrap="square" lIns="0" tIns="0" rIns="0" bIns="0" rtlCol="0" anchor="ctr"/>
          <a:lstStyle/>
          <a:p>
            <a:pPr indent="0" marL="0">
              <a:buNone/>
            </a:pPr>
            <a:r>
              <a:rPr lang="en-US" sz="1350" dirty="0">
                <a:solidFill>
                  <a:srgbClr val="374151"/>
                </a:solidFill>
                <a:latin typeface="Calibri" pitchFamily="34" charset="0"/>
                <a:ea typeface="Calibri" pitchFamily="34" charset="-122"/>
                <a:cs typeface="Calibri" pitchFamily="34" charset="-120"/>
              </a:rPr>
              <a:t>A risk level for every clause category, a one-sentence plain-English explanation, and Clausify, an app that shows the risky clauses first.</a:t>
            </a:r>
            <a:endParaRPr lang="en-US" sz="13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548640" y="109728"/>
            <a:ext cx="2286000" cy="301752"/>
          </a:xfrm>
          <a:prstGeom prst="roundRect">
            <a:avLst>
              <a:gd name="adj" fmla="val 45455"/>
            </a:avLst>
          </a:prstGeom>
          <a:solidFill>
            <a:srgbClr val="CADCFC"/>
          </a:solidFill>
          <a:ln w="12700">
            <a:solidFill>
              <a:srgbClr val="CADCFC"/>
            </a:solidFill>
            <a:prstDash val="solid"/>
          </a:ln>
        </p:spPr>
      </p:sp>
      <p:sp>
        <p:nvSpPr>
          <p:cNvPr id="3" name="Text 1"/>
          <p:cNvSpPr txBox="1"/>
          <p:nvPr/>
        </p:nvSpPr>
        <p:spPr>
          <a:xfrm>
            <a:off x="548640" y="109728"/>
            <a:ext cx="2286000" cy="301752"/>
          </a:xfrm>
          <a:prstGeom prst="rect">
            <a:avLst/>
          </a:prstGeom>
          <a:noFill/>
          <a:ln/>
        </p:spPr>
        <p:txBody>
          <a:bodyPr wrap="square" lIns="0" tIns="0" rIns="0" bIns="0" rtlCol="0" anchor="ctr"/>
          <a:lstStyle/>
          <a:p>
            <a:pPr algn="ctr" indent="0" marL="0">
              <a:buNone/>
            </a:pPr>
            <a:r>
              <a:rPr lang="en-US" sz="1250" b="1" dirty="0">
                <a:solidFill>
                  <a:srgbClr val="1E2761"/>
                </a:solidFill>
                <a:latin typeface="Calibri" pitchFamily="34" charset="0"/>
                <a:ea typeface="Calibri" pitchFamily="34" charset="-122"/>
                <a:cs typeface="Calibri" pitchFamily="34" charset="-120"/>
              </a:rPr>
              <a:t>INTRODUCTION</a:t>
            </a:r>
            <a:endParaRPr lang="en-US" sz="1250" dirty="0"/>
          </a:p>
        </p:txBody>
      </p:sp>
      <p:sp>
        <p:nvSpPr>
          <p:cNvPr id="4" name="Text 2"/>
          <p:cNvSpPr txBox="1"/>
          <p:nvPr/>
        </p:nvSpPr>
        <p:spPr>
          <a:xfrm>
            <a:off x="563728" y="329184"/>
            <a:ext cx="11064240" cy="676656"/>
          </a:xfrm>
          <a:prstGeom prst="rect">
            <a:avLst/>
          </a:prstGeom>
          <a:noFill/>
          <a:ln/>
        </p:spPr>
        <p:txBody>
          <a:bodyPr wrap="square" rtlCol="0" anchor="ctr"/>
          <a:lstStyle/>
          <a:p>
            <a:pPr algn="ctr" indent="0" marL="0">
              <a:buNone/>
            </a:pPr>
            <a:r>
              <a:rPr lang="en-US" sz="3500" b="1" dirty="0">
                <a:solidFill>
                  <a:srgbClr val="141B3D"/>
                </a:solidFill>
                <a:latin typeface="Cambria" pitchFamily="34" charset="0"/>
                <a:ea typeface="Cambria" pitchFamily="34" charset="-122"/>
                <a:cs typeface="Cambria" pitchFamily="34" charset="-120"/>
              </a:rPr>
              <a:t>Objectives</a:t>
            </a:r>
            <a:endParaRPr lang="en-US" sz="3500" dirty="0"/>
          </a:p>
        </p:txBody>
      </p:sp>
      <p:sp>
        <p:nvSpPr>
          <p:cNvPr id="5" name="Text 3"/>
          <p:cNvSpPr txBox="1"/>
          <p:nvPr/>
        </p:nvSpPr>
        <p:spPr>
          <a:xfrm>
            <a:off x="563728" y="1024128"/>
            <a:ext cx="11064240" cy="347472"/>
          </a:xfrm>
          <a:prstGeom prst="rect">
            <a:avLst/>
          </a:prstGeom>
          <a:noFill/>
          <a:ln/>
        </p:spPr>
        <p:txBody>
          <a:bodyPr wrap="square" rtlCol="0" anchor="ctr"/>
          <a:lstStyle/>
          <a:p>
            <a:pPr algn="ctr" indent="0" marL="0">
              <a:buNone/>
            </a:pPr>
            <a:r>
              <a:rPr lang="en-US" sz="1600" i="1" dirty="0">
                <a:solidFill>
                  <a:srgbClr val="6B7280"/>
                </a:solidFill>
                <a:latin typeface="Calibri" pitchFamily="34" charset="0"/>
                <a:ea typeface="Calibri" pitchFamily="34" charset="-122"/>
                <a:cs typeface="Calibri" pitchFamily="34" charset="-120"/>
              </a:rPr>
              <a:t>Four goals, which the rest of this talk follows</a:t>
            </a:r>
            <a:endParaRPr lang="en-US" sz="1600" dirty="0"/>
          </a:p>
        </p:txBody>
      </p:sp>
      <p:sp>
        <p:nvSpPr>
          <p:cNvPr id="6" name="Shape 4"/>
          <p:cNvSpPr/>
          <p:nvPr/>
        </p:nvSpPr>
        <p:spPr>
          <a:xfrm>
            <a:off x="548640" y="1554480"/>
            <a:ext cx="11155680" cy="1197864"/>
          </a:xfrm>
          <a:prstGeom prst="roundRect">
            <a:avLst>
              <a:gd name="adj" fmla="val 4580"/>
            </a:avLst>
          </a:prstGeom>
          <a:solidFill>
            <a:srgbClr val="F6F7FB"/>
          </a:solidFill>
          <a:ln w="12700">
            <a:solidFill>
              <a:srgbClr val="E4E7F2"/>
            </a:solidFill>
            <a:prstDash val="solid"/>
          </a:ln>
        </p:spPr>
      </p:sp>
      <p:sp>
        <p:nvSpPr>
          <p:cNvPr id="7" name="Shape 5"/>
          <p:cNvSpPr/>
          <p:nvPr/>
        </p:nvSpPr>
        <p:spPr>
          <a:xfrm>
            <a:off x="777240" y="1993392"/>
            <a:ext cx="329184" cy="329184"/>
          </a:xfrm>
          <a:prstGeom prst="ellipse">
            <a:avLst/>
          </a:prstGeom>
          <a:solidFill>
            <a:srgbClr val="1E2761"/>
          </a:solidFill>
          <a:ln w="12700">
            <a:solidFill>
              <a:srgbClr val="1E2761"/>
            </a:solidFill>
            <a:prstDash val="solid"/>
          </a:ln>
        </p:spPr>
      </p:sp>
      <p:sp>
        <p:nvSpPr>
          <p:cNvPr id="8" name="Text 6"/>
          <p:cNvSpPr txBox="1"/>
          <p:nvPr/>
        </p:nvSpPr>
        <p:spPr>
          <a:xfrm>
            <a:off x="777240" y="1993392"/>
            <a:ext cx="329184" cy="329184"/>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1</a:t>
            </a:r>
            <a:endParaRPr lang="en-US" sz="1350" dirty="0"/>
          </a:p>
        </p:txBody>
      </p:sp>
      <p:sp>
        <p:nvSpPr>
          <p:cNvPr id="9" name="Text 7"/>
          <p:cNvSpPr txBox="1"/>
          <p:nvPr/>
        </p:nvSpPr>
        <p:spPr>
          <a:xfrm>
            <a:off x="1261872" y="1673352"/>
            <a:ext cx="4480560" cy="960120"/>
          </a:xfrm>
          <a:prstGeom prst="rect">
            <a:avLst/>
          </a:prstGeom>
          <a:noFill/>
          <a:ln/>
        </p:spPr>
        <p:txBody>
          <a:bodyPr wrap="square" lIns="0" tIns="0" rIns="0" bIns="0" rtlCol="0" anchor="ctr"/>
          <a:lstStyle/>
          <a:p>
            <a:pPr indent="0" marL="0">
              <a:buNone/>
            </a:pPr>
            <a:r>
              <a:rPr lang="en-US" sz="1550" b="1" dirty="0">
                <a:solidFill>
                  <a:srgbClr val="141B3D"/>
                </a:solidFill>
                <a:latin typeface="Calibri" pitchFamily="34" charset="0"/>
                <a:ea typeface="Calibri" pitchFamily="34" charset="-122"/>
                <a:cs typeface="Calibri" pitchFamily="34" charset="-120"/>
              </a:rPr>
              <a:t>Find which clauses are present</a:t>
            </a:r>
            <a:endParaRPr lang="en-US" sz="1550" dirty="0"/>
          </a:p>
        </p:txBody>
      </p:sp>
      <p:sp>
        <p:nvSpPr>
          <p:cNvPr id="10" name="Text 8"/>
          <p:cNvSpPr txBox="1"/>
          <p:nvPr/>
        </p:nvSpPr>
        <p:spPr>
          <a:xfrm>
            <a:off x="5897880" y="1673352"/>
            <a:ext cx="5623560" cy="960120"/>
          </a:xfrm>
          <a:prstGeom prst="rect">
            <a:avLst/>
          </a:prstGeom>
          <a:noFill/>
          <a:ln/>
        </p:spPr>
        <p:txBody>
          <a:bodyPr wrap="square" lIns="0" tIns="0" rIns="0" bIns="0" rtlCol="0" anchor="ctr"/>
          <a:lstStyle/>
          <a:p>
            <a:pPr indent="0" marL="0">
              <a:buNone/>
            </a:pPr>
            <a:r>
              <a:rPr lang="en-US" sz="1350" dirty="0">
                <a:solidFill>
                  <a:srgbClr val="374151"/>
                </a:solidFill>
                <a:latin typeface="Calibri" pitchFamily="34" charset="0"/>
                <a:ea typeface="Calibri" pitchFamily="34" charset="-122"/>
                <a:cs typeface="Calibri" pitchFamily="34" charset="-120"/>
              </a:rPr>
              <a:t>For each of the 41 CUAD categories, decide whether a contract has a clause of that type, and compare a transformer with a strong word-based baseline.</a:t>
            </a:r>
            <a:endParaRPr lang="en-US" sz="1350" dirty="0"/>
          </a:p>
        </p:txBody>
      </p:sp>
      <p:sp>
        <p:nvSpPr>
          <p:cNvPr id="11" name="Shape 9"/>
          <p:cNvSpPr/>
          <p:nvPr/>
        </p:nvSpPr>
        <p:spPr>
          <a:xfrm>
            <a:off x="548640" y="2852928"/>
            <a:ext cx="11155680" cy="1197864"/>
          </a:xfrm>
          <a:prstGeom prst="roundRect">
            <a:avLst>
              <a:gd name="adj" fmla="val 4580"/>
            </a:avLst>
          </a:prstGeom>
          <a:solidFill>
            <a:srgbClr val="F6F7FB"/>
          </a:solidFill>
          <a:ln w="12700">
            <a:solidFill>
              <a:srgbClr val="E4E7F2"/>
            </a:solidFill>
            <a:prstDash val="solid"/>
          </a:ln>
        </p:spPr>
      </p:sp>
      <p:sp>
        <p:nvSpPr>
          <p:cNvPr id="12" name="Shape 10"/>
          <p:cNvSpPr/>
          <p:nvPr/>
        </p:nvSpPr>
        <p:spPr>
          <a:xfrm>
            <a:off x="777240" y="3291840"/>
            <a:ext cx="329184" cy="329184"/>
          </a:xfrm>
          <a:prstGeom prst="ellipse">
            <a:avLst/>
          </a:prstGeom>
          <a:solidFill>
            <a:srgbClr val="1E2761"/>
          </a:solidFill>
          <a:ln w="12700">
            <a:solidFill>
              <a:srgbClr val="1E2761"/>
            </a:solidFill>
            <a:prstDash val="solid"/>
          </a:ln>
        </p:spPr>
      </p:sp>
      <p:sp>
        <p:nvSpPr>
          <p:cNvPr id="13" name="Text 11"/>
          <p:cNvSpPr txBox="1"/>
          <p:nvPr/>
        </p:nvSpPr>
        <p:spPr>
          <a:xfrm>
            <a:off x="777240" y="3291840"/>
            <a:ext cx="329184" cy="329184"/>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2</a:t>
            </a:r>
            <a:endParaRPr lang="en-US" sz="1350" dirty="0"/>
          </a:p>
        </p:txBody>
      </p:sp>
      <p:sp>
        <p:nvSpPr>
          <p:cNvPr id="14" name="Text 12"/>
          <p:cNvSpPr txBox="1"/>
          <p:nvPr/>
        </p:nvSpPr>
        <p:spPr>
          <a:xfrm>
            <a:off x="1261872" y="2971800"/>
            <a:ext cx="4480560" cy="960120"/>
          </a:xfrm>
          <a:prstGeom prst="rect">
            <a:avLst/>
          </a:prstGeom>
          <a:noFill/>
          <a:ln/>
        </p:spPr>
        <p:txBody>
          <a:bodyPr wrap="square" lIns="0" tIns="0" rIns="0" bIns="0" rtlCol="0" anchor="ctr"/>
          <a:lstStyle/>
          <a:p>
            <a:pPr indent="0" marL="0">
              <a:buNone/>
            </a:pPr>
            <a:r>
              <a:rPr lang="en-US" sz="1550" b="1" dirty="0">
                <a:solidFill>
                  <a:srgbClr val="141B3D"/>
                </a:solidFill>
                <a:latin typeface="Calibri" pitchFamily="34" charset="0"/>
                <a:ea typeface="Calibri" pitchFamily="34" charset="-122"/>
                <a:cs typeface="Calibri" pitchFamily="34" charset="-120"/>
              </a:rPr>
              <a:t>Find the exact clause text</a:t>
            </a:r>
            <a:endParaRPr lang="en-US" sz="1550" dirty="0"/>
          </a:p>
        </p:txBody>
      </p:sp>
      <p:sp>
        <p:nvSpPr>
          <p:cNvPr id="15" name="Text 13"/>
          <p:cNvSpPr txBox="1"/>
          <p:nvPr/>
        </p:nvSpPr>
        <p:spPr>
          <a:xfrm>
            <a:off x="5897880" y="2971800"/>
            <a:ext cx="5623560" cy="960120"/>
          </a:xfrm>
          <a:prstGeom prst="rect">
            <a:avLst/>
          </a:prstGeom>
          <a:noFill/>
          <a:ln/>
        </p:spPr>
        <p:txBody>
          <a:bodyPr wrap="square" lIns="0" tIns="0" rIns="0" bIns="0" rtlCol="0" anchor="ctr"/>
          <a:lstStyle/>
          <a:p>
            <a:pPr indent="0" marL="0">
              <a:buNone/>
            </a:pPr>
            <a:r>
              <a:rPr lang="en-US" sz="1350" dirty="0">
                <a:solidFill>
                  <a:srgbClr val="374151"/>
                </a:solidFill>
                <a:latin typeface="Calibri" pitchFamily="34" charset="0"/>
                <a:ea typeface="Calibri" pitchFamily="34" charset="-122"/>
                <a:cs typeface="Calibri" pitchFamily="34" charset="-120"/>
              </a:rPr>
              <a:t>Extract the words of each clause found, treated as a question-answering task in the style of SQuAD.</a:t>
            </a:r>
            <a:endParaRPr lang="en-US" sz="1350" dirty="0"/>
          </a:p>
        </p:txBody>
      </p:sp>
      <p:sp>
        <p:nvSpPr>
          <p:cNvPr id="16" name="Shape 14"/>
          <p:cNvSpPr/>
          <p:nvPr/>
        </p:nvSpPr>
        <p:spPr>
          <a:xfrm>
            <a:off x="548640" y="4151376"/>
            <a:ext cx="11155680" cy="1197864"/>
          </a:xfrm>
          <a:prstGeom prst="roundRect">
            <a:avLst>
              <a:gd name="adj" fmla="val 4580"/>
            </a:avLst>
          </a:prstGeom>
          <a:solidFill>
            <a:srgbClr val="F6F7FB"/>
          </a:solidFill>
          <a:ln w="12700">
            <a:solidFill>
              <a:srgbClr val="E4E7F2"/>
            </a:solidFill>
            <a:prstDash val="solid"/>
          </a:ln>
        </p:spPr>
      </p:sp>
      <p:sp>
        <p:nvSpPr>
          <p:cNvPr id="17" name="Shape 15"/>
          <p:cNvSpPr/>
          <p:nvPr/>
        </p:nvSpPr>
        <p:spPr>
          <a:xfrm>
            <a:off x="777240" y="4590288"/>
            <a:ext cx="329184" cy="329184"/>
          </a:xfrm>
          <a:prstGeom prst="ellipse">
            <a:avLst/>
          </a:prstGeom>
          <a:solidFill>
            <a:srgbClr val="1E2761"/>
          </a:solidFill>
          <a:ln w="12700">
            <a:solidFill>
              <a:srgbClr val="1E2761"/>
            </a:solidFill>
            <a:prstDash val="solid"/>
          </a:ln>
        </p:spPr>
      </p:sp>
      <p:sp>
        <p:nvSpPr>
          <p:cNvPr id="18" name="Text 16"/>
          <p:cNvSpPr txBox="1"/>
          <p:nvPr/>
        </p:nvSpPr>
        <p:spPr>
          <a:xfrm>
            <a:off x="777240" y="4590288"/>
            <a:ext cx="329184" cy="329184"/>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3</a:t>
            </a:r>
            <a:endParaRPr lang="en-US" sz="1350" dirty="0"/>
          </a:p>
        </p:txBody>
      </p:sp>
      <p:sp>
        <p:nvSpPr>
          <p:cNvPr id="19" name="Text 17"/>
          <p:cNvSpPr txBox="1"/>
          <p:nvPr/>
        </p:nvSpPr>
        <p:spPr>
          <a:xfrm>
            <a:off x="1261872" y="4270248"/>
            <a:ext cx="4480560" cy="960120"/>
          </a:xfrm>
          <a:prstGeom prst="rect">
            <a:avLst/>
          </a:prstGeom>
          <a:noFill/>
          <a:ln/>
        </p:spPr>
        <p:txBody>
          <a:bodyPr wrap="square" lIns="0" tIns="0" rIns="0" bIns="0" rtlCol="0" anchor="ctr"/>
          <a:lstStyle/>
          <a:p>
            <a:pPr indent="0" marL="0">
              <a:buNone/>
            </a:pPr>
            <a:r>
              <a:rPr lang="en-US" sz="1550" b="1" dirty="0">
                <a:solidFill>
                  <a:srgbClr val="141B3D"/>
                </a:solidFill>
                <a:latin typeface="Calibri" pitchFamily="34" charset="0"/>
                <a:ea typeface="Calibri" pitchFamily="34" charset="-122"/>
                <a:cs typeface="Calibri" pitchFamily="34" charset="-120"/>
              </a:rPr>
              <a:t>Show the risk in plain English</a:t>
            </a:r>
            <a:endParaRPr lang="en-US" sz="1550" dirty="0"/>
          </a:p>
        </p:txBody>
      </p:sp>
      <p:sp>
        <p:nvSpPr>
          <p:cNvPr id="20" name="Text 18"/>
          <p:cNvSpPr txBox="1"/>
          <p:nvPr/>
        </p:nvSpPr>
        <p:spPr>
          <a:xfrm>
            <a:off x="5897880" y="4270248"/>
            <a:ext cx="5623560" cy="960120"/>
          </a:xfrm>
          <a:prstGeom prst="rect">
            <a:avLst/>
          </a:prstGeom>
          <a:noFill/>
          <a:ln/>
        </p:spPr>
        <p:txBody>
          <a:bodyPr wrap="square" lIns="0" tIns="0" rIns="0" bIns="0" rtlCol="0" anchor="ctr"/>
          <a:lstStyle/>
          <a:p>
            <a:pPr indent="0" marL="0">
              <a:buNone/>
            </a:pPr>
            <a:r>
              <a:rPr lang="en-US" sz="1350" dirty="0">
                <a:solidFill>
                  <a:srgbClr val="374151"/>
                </a:solidFill>
                <a:latin typeface="Calibri" pitchFamily="34" charset="0"/>
                <a:ea typeface="Calibri" pitchFamily="34" charset="-122"/>
                <a:cs typeface="Calibri" pitchFamily="34" charset="-120"/>
              </a:rPr>
              <a:t>Give each clause found a High, Medium or Low level with a reason, and a one-sentence explanation.</a:t>
            </a:r>
            <a:endParaRPr lang="en-US" sz="1350" dirty="0"/>
          </a:p>
        </p:txBody>
      </p:sp>
      <p:sp>
        <p:nvSpPr>
          <p:cNvPr id="21" name="Shape 19"/>
          <p:cNvSpPr/>
          <p:nvPr/>
        </p:nvSpPr>
        <p:spPr>
          <a:xfrm>
            <a:off x="548640" y="5449824"/>
            <a:ext cx="11155680" cy="1197864"/>
          </a:xfrm>
          <a:prstGeom prst="roundRect">
            <a:avLst>
              <a:gd name="adj" fmla="val 4580"/>
            </a:avLst>
          </a:prstGeom>
          <a:solidFill>
            <a:srgbClr val="F6F7FB"/>
          </a:solidFill>
          <a:ln w="12700">
            <a:solidFill>
              <a:srgbClr val="E4E7F2"/>
            </a:solidFill>
            <a:prstDash val="solid"/>
          </a:ln>
        </p:spPr>
      </p:sp>
      <p:sp>
        <p:nvSpPr>
          <p:cNvPr id="22" name="Shape 20"/>
          <p:cNvSpPr/>
          <p:nvPr/>
        </p:nvSpPr>
        <p:spPr>
          <a:xfrm>
            <a:off x="777240" y="5888736"/>
            <a:ext cx="329184" cy="329184"/>
          </a:xfrm>
          <a:prstGeom prst="ellipse">
            <a:avLst/>
          </a:prstGeom>
          <a:solidFill>
            <a:srgbClr val="1E2761"/>
          </a:solidFill>
          <a:ln w="12700">
            <a:solidFill>
              <a:srgbClr val="1E2761"/>
            </a:solidFill>
            <a:prstDash val="solid"/>
          </a:ln>
        </p:spPr>
      </p:sp>
      <p:sp>
        <p:nvSpPr>
          <p:cNvPr id="23" name="Text 21"/>
          <p:cNvSpPr txBox="1"/>
          <p:nvPr/>
        </p:nvSpPr>
        <p:spPr>
          <a:xfrm>
            <a:off x="777240" y="5888736"/>
            <a:ext cx="329184" cy="329184"/>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4</a:t>
            </a:r>
            <a:endParaRPr lang="en-US" sz="1350" dirty="0"/>
          </a:p>
        </p:txBody>
      </p:sp>
      <p:sp>
        <p:nvSpPr>
          <p:cNvPr id="24" name="Text 22"/>
          <p:cNvSpPr txBox="1"/>
          <p:nvPr/>
        </p:nvSpPr>
        <p:spPr>
          <a:xfrm>
            <a:off x="1261872" y="5568696"/>
            <a:ext cx="4480560" cy="960120"/>
          </a:xfrm>
          <a:prstGeom prst="rect">
            <a:avLst/>
          </a:prstGeom>
          <a:noFill/>
          <a:ln/>
        </p:spPr>
        <p:txBody>
          <a:bodyPr wrap="square" lIns="0" tIns="0" rIns="0" bIns="0" rtlCol="0" anchor="ctr"/>
          <a:lstStyle/>
          <a:p>
            <a:pPr indent="0" marL="0">
              <a:buNone/>
            </a:pPr>
            <a:r>
              <a:rPr lang="en-US" sz="1550" b="1" dirty="0">
                <a:solidFill>
                  <a:srgbClr val="141B3D"/>
                </a:solidFill>
                <a:latin typeface="Calibri" pitchFamily="34" charset="0"/>
                <a:ea typeface="Calibri" pitchFamily="34" charset="-122"/>
                <a:cs typeface="Calibri" pitchFamily="34" charset="-120"/>
              </a:rPr>
              <a:t>Test fairly, then build the app</a:t>
            </a:r>
            <a:endParaRPr lang="en-US" sz="1550" dirty="0"/>
          </a:p>
        </p:txBody>
      </p:sp>
      <p:sp>
        <p:nvSpPr>
          <p:cNvPr id="25" name="Text 23"/>
          <p:cNvSpPr txBox="1"/>
          <p:nvPr/>
        </p:nvSpPr>
        <p:spPr>
          <a:xfrm>
            <a:off x="5897880" y="5568696"/>
            <a:ext cx="5623560" cy="960120"/>
          </a:xfrm>
          <a:prstGeom prst="rect">
            <a:avLst/>
          </a:prstGeom>
          <a:noFill/>
          <a:ln/>
        </p:spPr>
        <p:txBody>
          <a:bodyPr wrap="square" lIns="0" tIns="0" rIns="0" bIns="0" rtlCol="0" anchor="ctr"/>
          <a:lstStyle/>
          <a:p>
            <a:pPr indent="0" marL="0">
              <a:buNone/>
            </a:pPr>
            <a:r>
              <a:rPr lang="en-US" sz="1350" dirty="0">
                <a:solidFill>
                  <a:srgbClr val="374151"/>
                </a:solidFill>
                <a:latin typeface="Calibri" pitchFamily="34" charset="0"/>
                <a:ea typeface="Calibri" pitchFamily="34" charset="-122"/>
                <a:cs typeface="Calibri" pitchFamily="34" charset="-120"/>
              </a:rPr>
              <a:t>Test every model on 102 contracts never seen in training, then put all the models into the Clausify web app.</a:t>
            </a:r>
            <a:endParaRPr lang="en-US" sz="13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548640" y="109728"/>
            <a:ext cx="2286000" cy="301752"/>
          </a:xfrm>
          <a:prstGeom prst="roundRect">
            <a:avLst>
              <a:gd name="adj" fmla="val 45455"/>
            </a:avLst>
          </a:prstGeom>
          <a:solidFill>
            <a:srgbClr val="CADCFC"/>
          </a:solidFill>
          <a:ln w="12700">
            <a:solidFill>
              <a:srgbClr val="CADCFC"/>
            </a:solidFill>
            <a:prstDash val="solid"/>
          </a:ln>
        </p:spPr>
      </p:sp>
      <p:sp>
        <p:nvSpPr>
          <p:cNvPr id="3" name="Text 1"/>
          <p:cNvSpPr txBox="1"/>
          <p:nvPr/>
        </p:nvSpPr>
        <p:spPr>
          <a:xfrm>
            <a:off x="548640" y="109728"/>
            <a:ext cx="2286000" cy="301752"/>
          </a:xfrm>
          <a:prstGeom prst="rect">
            <a:avLst/>
          </a:prstGeom>
          <a:noFill/>
          <a:ln/>
        </p:spPr>
        <p:txBody>
          <a:bodyPr wrap="square" lIns="0" tIns="0" rIns="0" bIns="0" rtlCol="0" anchor="ctr"/>
          <a:lstStyle/>
          <a:p>
            <a:pPr algn="ctr" indent="0" marL="0">
              <a:buNone/>
            </a:pPr>
            <a:r>
              <a:rPr lang="en-US" sz="1250" b="1" dirty="0">
                <a:solidFill>
                  <a:srgbClr val="1E2761"/>
                </a:solidFill>
                <a:latin typeface="Calibri" pitchFamily="34" charset="0"/>
                <a:ea typeface="Calibri" pitchFamily="34" charset="-122"/>
                <a:cs typeface="Calibri" pitchFamily="34" charset="-120"/>
              </a:rPr>
              <a:t>DATA</a:t>
            </a:r>
            <a:endParaRPr lang="en-US" sz="1250" dirty="0"/>
          </a:p>
        </p:txBody>
      </p:sp>
      <p:sp>
        <p:nvSpPr>
          <p:cNvPr id="4" name="Text 2"/>
          <p:cNvSpPr txBox="1"/>
          <p:nvPr/>
        </p:nvSpPr>
        <p:spPr>
          <a:xfrm>
            <a:off x="563728" y="329184"/>
            <a:ext cx="11064240" cy="676656"/>
          </a:xfrm>
          <a:prstGeom prst="rect">
            <a:avLst/>
          </a:prstGeom>
          <a:noFill/>
          <a:ln/>
        </p:spPr>
        <p:txBody>
          <a:bodyPr wrap="square" rtlCol="0" anchor="ctr"/>
          <a:lstStyle/>
          <a:p>
            <a:pPr algn="ctr" indent="0" marL="0">
              <a:buNone/>
            </a:pPr>
            <a:r>
              <a:rPr lang="en-US" sz="3500" b="1" dirty="0">
                <a:solidFill>
                  <a:srgbClr val="141B3D"/>
                </a:solidFill>
                <a:latin typeface="Cambria" pitchFamily="34" charset="0"/>
                <a:ea typeface="Cambria" pitchFamily="34" charset="-122"/>
                <a:cs typeface="Cambria" pitchFamily="34" charset="-120"/>
              </a:rPr>
              <a:t>The CUAD dataset</a:t>
            </a:r>
            <a:endParaRPr lang="en-US" sz="3500" dirty="0"/>
          </a:p>
        </p:txBody>
      </p:sp>
      <p:sp>
        <p:nvSpPr>
          <p:cNvPr id="5" name="Text 3"/>
          <p:cNvSpPr txBox="1"/>
          <p:nvPr/>
        </p:nvSpPr>
        <p:spPr>
          <a:xfrm>
            <a:off x="563728" y="1024128"/>
            <a:ext cx="11064240" cy="347472"/>
          </a:xfrm>
          <a:prstGeom prst="rect">
            <a:avLst/>
          </a:prstGeom>
          <a:noFill/>
          <a:ln/>
        </p:spPr>
        <p:txBody>
          <a:bodyPr wrap="square" rtlCol="0" anchor="ctr"/>
          <a:lstStyle/>
          <a:p>
            <a:pPr algn="ctr" indent="0" marL="0">
              <a:buNone/>
            </a:pPr>
            <a:r>
              <a:rPr lang="en-US" sz="1600" i="1" dirty="0">
                <a:solidFill>
                  <a:srgbClr val="6B7280"/>
                </a:solidFill>
                <a:latin typeface="Calibri" pitchFamily="34" charset="0"/>
                <a:ea typeface="Calibri" pitchFamily="34" charset="-122"/>
                <a:cs typeface="Calibri" pitchFamily="34" charset="-120"/>
              </a:rPr>
              <a:t>510 real business contracts, marked by legal experts for 41 clause categories</a:t>
            </a:r>
            <a:endParaRPr lang="en-US" sz="1600" dirty="0"/>
          </a:p>
        </p:txBody>
      </p:sp>
      <p:sp>
        <p:nvSpPr>
          <p:cNvPr id="6" name="Text 4"/>
          <p:cNvSpPr txBox="1"/>
          <p:nvPr/>
        </p:nvSpPr>
        <p:spPr>
          <a:xfrm>
            <a:off x="548640" y="1463040"/>
            <a:ext cx="1600200" cy="621792"/>
          </a:xfrm>
          <a:prstGeom prst="rect">
            <a:avLst/>
          </a:prstGeom>
          <a:noFill/>
          <a:ln/>
        </p:spPr>
        <p:txBody>
          <a:bodyPr wrap="square" lIns="0" tIns="0" rIns="0" bIns="0" rtlCol="0" anchor="ctr"/>
          <a:lstStyle/>
          <a:p>
            <a:pPr algn="ctr" indent="0" marL="0">
              <a:buNone/>
            </a:pPr>
            <a:r>
              <a:rPr lang="en-US" sz="3850" b="1" dirty="0">
                <a:solidFill>
                  <a:srgbClr val="1E2761"/>
                </a:solidFill>
                <a:latin typeface="Cambria" pitchFamily="34" charset="0"/>
                <a:ea typeface="Cambria" pitchFamily="34" charset="-122"/>
                <a:cs typeface="Cambria" pitchFamily="34" charset="-120"/>
              </a:rPr>
              <a:t>510</a:t>
            </a:r>
            <a:endParaRPr lang="en-US" sz="3850" dirty="0"/>
          </a:p>
        </p:txBody>
      </p:sp>
      <p:sp>
        <p:nvSpPr>
          <p:cNvPr id="7" name="Text 5"/>
          <p:cNvSpPr txBox="1"/>
          <p:nvPr/>
        </p:nvSpPr>
        <p:spPr>
          <a:xfrm>
            <a:off x="548640" y="2066544"/>
            <a:ext cx="1600200" cy="512064"/>
          </a:xfrm>
          <a:prstGeom prst="rect">
            <a:avLst/>
          </a:prstGeom>
          <a:noFill/>
          <a:ln/>
        </p:spPr>
        <p:txBody>
          <a:bodyPr wrap="square" lIns="0" tIns="0" rIns="0" bIns="0" rtlCol="0" anchor="ctr"/>
          <a:lstStyle/>
          <a:p>
            <a:pPr algn="ctr" indent="0" marL="0">
              <a:buNone/>
            </a:pPr>
            <a:r>
              <a:rPr lang="en-US" sz="1350" dirty="0">
                <a:solidFill>
                  <a:srgbClr val="6B7280"/>
                </a:solidFill>
                <a:latin typeface="Calibri" pitchFamily="34" charset="0"/>
                <a:ea typeface="Calibri" pitchFamily="34" charset="-122"/>
                <a:cs typeface="Calibri" pitchFamily="34" charset="-120"/>
              </a:rPr>
              <a:t>contracts</a:t>
            </a:r>
            <a:endParaRPr lang="en-US" sz="1350" dirty="0"/>
          </a:p>
        </p:txBody>
      </p:sp>
      <p:sp>
        <p:nvSpPr>
          <p:cNvPr id="8" name="Text 6"/>
          <p:cNvSpPr txBox="1"/>
          <p:nvPr/>
        </p:nvSpPr>
        <p:spPr>
          <a:xfrm>
            <a:off x="2221992" y="1463040"/>
            <a:ext cx="1600200" cy="621792"/>
          </a:xfrm>
          <a:prstGeom prst="rect">
            <a:avLst/>
          </a:prstGeom>
          <a:noFill/>
          <a:ln/>
        </p:spPr>
        <p:txBody>
          <a:bodyPr wrap="square" lIns="0" tIns="0" rIns="0" bIns="0" rtlCol="0" anchor="ctr"/>
          <a:lstStyle/>
          <a:p>
            <a:pPr algn="ctr" indent="0" marL="0">
              <a:buNone/>
            </a:pPr>
            <a:r>
              <a:rPr lang="en-US" sz="3850" b="1" dirty="0">
                <a:solidFill>
                  <a:srgbClr val="1E2761"/>
                </a:solidFill>
                <a:latin typeface="Cambria" pitchFamily="34" charset="0"/>
                <a:ea typeface="Cambria" pitchFamily="34" charset="-122"/>
                <a:cs typeface="Cambria" pitchFamily="34" charset="-120"/>
              </a:rPr>
              <a:t>41</a:t>
            </a:r>
            <a:endParaRPr lang="en-US" sz="3850" dirty="0"/>
          </a:p>
        </p:txBody>
      </p:sp>
      <p:sp>
        <p:nvSpPr>
          <p:cNvPr id="9" name="Text 7"/>
          <p:cNvSpPr txBox="1"/>
          <p:nvPr/>
        </p:nvSpPr>
        <p:spPr>
          <a:xfrm>
            <a:off x="2221992" y="2066544"/>
            <a:ext cx="1600200" cy="512064"/>
          </a:xfrm>
          <a:prstGeom prst="rect">
            <a:avLst/>
          </a:prstGeom>
          <a:noFill/>
          <a:ln/>
        </p:spPr>
        <p:txBody>
          <a:bodyPr wrap="square" lIns="0" tIns="0" rIns="0" bIns="0" rtlCol="0" anchor="ctr"/>
          <a:lstStyle/>
          <a:p>
            <a:pPr algn="ctr" indent="0" marL="0">
              <a:buNone/>
            </a:pPr>
            <a:r>
              <a:rPr lang="en-US" sz="1350" dirty="0">
                <a:solidFill>
                  <a:srgbClr val="6B7280"/>
                </a:solidFill>
                <a:latin typeface="Calibri" pitchFamily="34" charset="0"/>
                <a:ea typeface="Calibri" pitchFamily="34" charset="-122"/>
                <a:cs typeface="Calibri" pitchFamily="34" charset="-120"/>
              </a:rPr>
              <a:t>clause categories</a:t>
            </a:r>
            <a:endParaRPr lang="en-US" sz="1350" dirty="0"/>
          </a:p>
        </p:txBody>
      </p:sp>
      <p:sp>
        <p:nvSpPr>
          <p:cNvPr id="10" name="Text 8"/>
          <p:cNvSpPr txBox="1"/>
          <p:nvPr/>
        </p:nvSpPr>
        <p:spPr>
          <a:xfrm>
            <a:off x="3895344" y="1463040"/>
            <a:ext cx="1600200" cy="621792"/>
          </a:xfrm>
          <a:prstGeom prst="rect">
            <a:avLst/>
          </a:prstGeom>
          <a:noFill/>
          <a:ln/>
        </p:spPr>
        <p:txBody>
          <a:bodyPr wrap="square" lIns="0" tIns="0" rIns="0" bIns="0" rtlCol="0" anchor="ctr"/>
          <a:lstStyle/>
          <a:p>
            <a:pPr algn="ctr" indent="0" marL="0">
              <a:buNone/>
            </a:pPr>
            <a:r>
              <a:rPr lang="en-US" sz="3850" b="1" dirty="0">
                <a:solidFill>
                  <a:srgbClr val="1E2761"/>
                </a:solidFill>
                <a:latin typeface="Cambria" pitchFamily="34" charset="0"/>
                <a:ea typeface="Cambria" pitchFamily="34" charset="-122"/>
                <a:cs typeface="Cambria" pitchFamily="34" charset="-120"/>
              </a:rPr>
              <a:t>33,143</a:t>
            </a:r>
            <a:endParaRPr lang="en-US" sz="3850" dirty="0"/>
          </a:p>
        </p:txBody>
      </p:sp>
      <p:sp>
        <p:nvSpPr>
          <p:cNvPr id="11" name="Text 9"/>
          <p:cNvSpPr txBox="1"/>
          <p:nvPr/>
        </p:nvSpPr>
        <p:spPr>
          <a:xfrm>
            <a:off x="3895344" y="2066544"/>
            <a:ext cx="1600200" cy="512064"/>
          </a:xfrm>
          <a:prstGeom prst="rect">
            <a:avLst/>
          </a:prstGeom>
          <a:noFill/>
          <a:ln/>
        </p:spPr>
        <p:txBody>
          <a:bodyPr wrap="square" lIns="0" tIns="0" rIns="0" bIns="0" rtlCol="0" anchor="ctr"/>
          <a:lstStyle/>
          <a:p>
            <a:pPr algn="ctr" indent="0" marL="0">
              <a:buNone/>
            </a:pPr>
            <a:r>
              <a:rPr lang="en-US" sz="1350" dirty="0">
                <a:solidFill>
                  <a:srgbClr val="6B7280"/>
                </a:solidFill>
                <a:latin typeface="Calibri" pitchFamily="34" charset="0"/>
                <a:ea typeface="Calibri" pitchFamily="34" charset="-122"/>
                <a:cs typeface="Calibri" pitchFamily="34" charset="-120"/>
              </a:rPr>
              <a:t>median contract (chars)</a:t>
            </a:r>
            <a:endParaRPr lang="en-US" sz="1350" dirty="0"/>
          </a:p>
        </p:txBody>
      </p:sp>
      <p:sp>
        <p:nvSpPr>
          <p:cNvPr id="12" name="Text 10"/>
          <p:cNvSpPr txBox="1"/>
          <p:nvPr/>
        </p:nvSpPr>
        <p:spPr>
          <a:xfrm>
            <a:off x="5568696" y="1463040"/>
            <a:ext cx="1600200" cy="621792"/>
          </a:xfrm>
          <a:prstGeom prst="rect">
            <a:avLst/>
          </a:prstGeom>
          <a:noFill/>
          <a:ln/>
        </p:spPr>
        <p:txBody>
          <a:bodyPr wrap="square" lIns="0" tIns="0" rIns="0" bIns="0" rtlCol="0" anchor="ctr"/>
          <a:lstStyle/>
          <a:p>
            <a:pPr algn="ctr" indent="0" marL="0">
              <a:buNone/>
            </a:pPr>
            <a:r>
              <a:rPr lang="en-US" sz="3850" b="1" dirty="0">
                <a:solidFill>
                  <a:srgbClr val="1E2761"/>
                </a:solidFill>
                <a:latin typeface="Cambria" pitchFamily="34" charset="0"/>
                <a:ea typeface="Cambria" pitchFamily="34" charset="-122"/>
                <a:cs typeface="Cambria" pitchFamily="34" charset="-120"/>
              </a:rPr>
              <a:t>196</a:t>
            </a:r>
            <a:endParaRPr lang="en-US" sz="3850" dirty="0"/>
          </a:p>
        </p:txBody>
      </p:sp>
      <p:sp>
        <p:nvSpPr>
          <p:cNvPr id="13" name="Text 11"/>
          <p:cNvSpPr txBox="1"/>
          <p:nvPr/>
        </p:nvSpPr>
        <p:spPr>
          <a:xfrm>
            <a:off x="5568696" y="2066544"/>
            <a:ext cx="1600200" cy="512064"/>
          </a:xfrm>
          <a:prstGeom prst="rect">
            <a:avLst/>
          </a:prstGeom>
          <a:noFill/>
          <a:ln/>
        </p:spPr>
        <p:txBody>
          <a:bodyPr wrap="square" lIns="0" tIns="0" rIns="0" bIns="0" rtlCol="0" anchor="ctr"/>
          <a:lstStyle/>
          <a:p>
            <a:pPr algn="ctr" indent="0" marL="0">
              <a:buNone/>
            </a:pPr>
            <a:r>
              <a:rPr lang="en-US" sz="1350" dirty="0">
                <a:solidFill>
                  <a:srgbClr val="6B7280"/>
                </a:solidFill>
                <a:latin typeface="Calibri" pitchFamily="34" charset="0"/>
                <a:ea typeface="Calibri" pitchFamily="34" charset="-122"/>
                <a:cs typeface="Calibri" pitchFamily="34" charset="-120"/>
              </a:rPr>
              <a:t>median clause (chars)</a:t>
            </a:r>
            <a:endParaRPr lang="en-US" sz="1350" dirty="0"/>
          </a:p>
        </p:txBody>
      </p:sp>
      <p:pic>
        <p:nvPicPr>
          <p:cNvPr id="14" name="Image 0" descr="fig/split_distribution.png">    </p:cNvPr>
          <p:cNvPicPr>
            <a:picLocks noChangeAspect="1"/>
          </p:cNvPicPr>
          <p:nvPr/>
        </p:nvPicPr>
        <p:blipFill>
          <a:blip r:embed="rId1"/>
          <a:stretch>
            <a:fillRect/>
          </a:stretch>
        </p:blipFill>
        <p:spPr>
          <a:xfrm>
            <a:off x="548640" y="2606040"/>
            <a:ext cx="6583680" cy="3712464"/>
          </a:xfrm>
          <a:prstGeom prst="rect">
            <a:avLst/>
          </a:prstGeom>
        </p:spPr>
      </p:pic>
      <p:sp>
        <p:nvSpPr>
          <p:cNvPr id="15" name="Text 12"/>
          <p:cNvSpPr txBox="1"/>
          <p:nvPr/>
        </p:nvSpPr>
        <p:spPr>
          <a:xfrm>
            <a:off x="548640" y="6336792"/>
            <a:ext cx="6583680" cy="274320"/>
          </a:xfrm>
          <a:prstGeom prst="rect">
            <a:avLst/>
          </a:prstGeom>
          <a:noFill/>
          <a:ln/>
        </p:spPr>
        <p:txBody>
          <a:bodyPr wrap="square" lIns="0" tIns="0" rIns="0" bIns="0" rtlCol="0" anchor="ctr"/>
          <a:lstStyle/>
          <a:p>
            <a:pPr algn="ctr" indent="0" marL="0">
              <a:buNone/>
            </a:pPr>
            <a:r>
              <a:rPr lang="en-US" sz="1200" i="1" dirty="0">
                <a:solidFill>
                  <a:srgbClr val="6B7280"/>
                </a:solidFill>
                <a:latin typeface="Calibri" pitchFamily="34" charset="0"/>
                <a:ea typeface="Calibri" pitchFamily="34" charset="-122"/>
                <a:cs typeface="Calibri" pitchFamily="34" charset="-120"/>
              </a:rPr>
              <a:t>Per-category positive rate, train vs test (Fig. 4.8)</a:t>
            </a:r>
            <a:endParaRPr lang="en-US" sz="1200" dirty="0"/>
          </a:p>
        </p:txBody>
      </p:sp>
      <p:sp>
        <p:nvSpPr>
          <p:cNvPr id="16" name="Shape 13"/>
          <p:cNvSpPr/>
          <p:nvPr/>
        </p:nvSpPr>
        <p:spPr>
          <a:xfrm>
            <a:off x="7406640" y="1371600"/>
            <a:ext cx="4297680" cy="1508760"/>
          </a:xfrm>
          <a:prstGeom prst="roundRect">
            <a:avLst>
              <a:gd name="adj" fmla="val 4242"/>
            </a:avLst>
          </a:prstGeom>
          <a:solidFill>
            <a:srgbClr val="F6F7FB"/>
          </a:solidFill>
          <a:ln w="12700">
            <a:solidFill>
              <a:srgbClr val="E4E7F2"/>
            </a:solidFill>
            <a:prstDash val="solid"/>
          </a:ln>
        </p:spPr>
      </p:sp>
      <p:sp>
        <p:nvSpPr>
          <p:cNvPr id="17" name="Shape 14"/>
          <p:cNvSpPr/>
          <p:nvPr/>
        </p:nvSpPr>
        <p:spPr>
          <a:xfrm>
            <a:off x="7589520" y="1545336"/>
            <a:ext cx="256032" cy="256032"/>
          </a:xfrm>
          <a:prstGeom prst="ellipse">
            <a:avLst/>
          </a:prstGeom>
          <a:solidFill>
            <a:srgbClr val="4CAF82"/>
          </a:solidFill>
          <a:ln w="12700">
            <a:solidFill>
              <a:srgbClr val="4CAF82"/>
            </a:solidFill>
            <a:prstDash val="solid"/>
          </a:ln>
        </p:spPr>
      </p:sp>
      <p:sp>
        <p:nvSpPr>
          <p:cNvPr id="18" name="Text 15"/>
          <p:cNvSpPr txBox="1"/>
          <p:nvPr/>
        </p:nvSpPr>
        <p:spPr>
          <a:xfrm>
            <a:off x="7936992" y="1481328"/>
            <a:ext cx="3611880" cy="310896"/>
          </a:xfrm>
          <a:prstGeom prst="rect">
            <a:avLst/>
          </a:prstGeom>
          <a:noFill/>
          <a:ln/>
        </p:spPr>
        <p:txBody>
          <a:bodyPr wrap="square" lIns="0" tIns="0" rIns="0" bIns="0" rtlCol="0" anchor="ctr"/>
          <a:lstStyle/>
          <a:p>
            <a:pPr indent="0" marL="0">
              <a:buNone/>
            </a:pPr>
            <a:r>
              <a:rPr lang="en-US" sz="1550" b="1" dirty="0">
                <a:solidFill>
                  <a:srgbClr val="141B3D"/>
                </a:solidFill>
                <a:latin typeface="Calibri" pitchFamily="34" charset="0"/>
                <a:ea typeface="Calibri" pitchFamily="34" charset="-122"/>
                <a:cs typeface="Calibri" pitchFamily="34" charset="-120"/>
              </a:rPr>
              <a:t>Contract-level 80/20 split</a:t>
            </a:r>
            <a:endParaRPr lang="en-US" sz="1550" dirty="0"/>
          </a:p>
        </p:txBody>
      </p:sp>
      <p:sp>
        <p:nvSpPr>
          <p:cNvPr id="19" name="Text 16"/>
          <p:cNvSpPr txBox="1"/>
          <p:nvPr/>
        </p:nvSpPr>
        <p:spPr>
          <a:xfrm>
            <a:off x="7607808" y="1883664"/>
            <a:ext cx="3895344" cy="850392"/>
          </a:xfrm>
          <a:prstGeom prst="rect">
            <a:avLst/>
          </a:prstGeom>
          <a:noFill/>
          <a:ln/>
        </p:spPr>
        <p:txBody>
          <a:bodyPr wrap="square" lIns="0" tIns="0" rIns="0" bIns="0" rtlCol="0" anchor="ctr"/>
          <a:lstStyle/>
          <a:p>
            <a:pPr indent="0" marL="0">
              <a:buNone/>
            </a:pPr>
            <a:r>
              <a:rPr lang="en-US" sz="1350" dirty="0">
                <a:solidFill>
                  <a:srgbClr val="374151"/>
                </a:solidFill>
                <a:latin typeface="Calibri" pitchFamily="34" charset="0"/>
                <a:ea typeface="Calibri" pitchFamily="34" charset="-122"/>
                <a:cs typeface="Calibri" pitchFamily="34" charset="-120"/>
              </a:rPr>
              <a:t>408 training and 102 test contracts, seed 42, used by all three models. No clause from a training contract can reach the test set.</a:t>
            </a:r>
            <a:endParaRPr lang="en-US" sz="1350" dirty="0"/>
          </a:p>
        </p:txBody>
      </p:sp>
      <p:sp>
        <p:nvSpPr>
          <p:cNvPr id="20" name="Shape 17"/>
          <p:cNvSpPr/>
          <p:nvPr/>
        </p:nvSpPr>
        <p:spPr>
          <a:xfrm>
            <a:off x="7406640" y="3017520"/>
            <a:ext cx="4297680" cy="1600200"/>
          </a:xfrm>
          <a:prstGeom prst="roundRect">
            <a:avLst>
              <a:gd name="adj" fmla="val 4000"/>
            </a:avLst>
          </a:prstGeom>
          <a:solidFill>
            <a:srgbClr val="F6F7FB"/>
          </a:solidFill>
          <a:ln w="12700">
            <a:solidFill>
              <a:srgbClr val="E4E7F2"/>
            </a:solidFill>
            <a:prstDash val="solid"/>
          </a:ln>
        </p:spPr>
      </p:sp>
      <p:sp>
        <p:nvSpPr>
          <p:cNvPr id="21" name="Shape 18"/>
          <p:cNvSpPr/>
          <p:nvPr/>
        </p:nvSpPr>
        <p:spPr>
          <a:xfrm>
            <a:off x="7589520" y="3191256"/>
            <a:ext cx="256032" cy="256032"/>
          </a:xfrm>
          <a:prstGeom prst="ellipse">
            <a:avLst/>
          </a:prstGeom>
          <a:solidFill>
            <a:srgbClr val="E8A13A"/>
          </a:solidFill>
          <a:ln w="12700">
            <a:solidFill>
              <a:srgbClr val="E8A13A"/>
            </a:solidFill>
            <a:prstDash val="solid"/>
          </a:ln>
        </p:spPr>
      </p:sp>
      <p:sp>
        <p:nvSpPr>
          <p:cNvPr id="22" name="Text 19"/>
          <p:cNvSpPr txBox="1"/>
          <p:nvPr/>
        </p:nvSpPr>
        <p:spPr>
          <a:xfrm>
            <a:off x="7936992" y="3127248"/>
            <a:ext cx="3611880" cy="310896"/>
          </a:xfrm>
          <a:prstGeom prst="rect">
            <a:avLst/>
          </a:prstGeom>
          <a:noFill/>
          <a:ln/>
        </p:spPr>
        <p:txBody>
          <a:bodyPr wrap="square" lIns="0" tIns="0" rIns="0" bIns="0" rtlCol="0" anchor="ctr"/>
          <a:lstStyle/>
          <a:p>
            <a:pPr indent="0" marL="0">
              <a:buNone/>
            </a:pPr>
            <a:r>
              <a:rPr lang="en-US" sz="1550" b="1" dirty="0">
                <a:solidFill>
                  <a:srgbClr val="141B3D"/>
                </a:solidFill>
                <a:latin typeface="Calibri" pitchFamily="34" charset="0"/>
                <a:ea typeface="Calibri" pitchFamily="34" charset="-122"/>
                <a:cs typeface="Calibri" pitchFamily="34" charset="-120"/>
              </a:rPr>
              <a:t>Very uneven categories</a:t>
            </a:r>
            <a:endParaRPr lang="en-US" sz="1550" dirty="0"/>
          </a:p>
        </p:txBody>
      </p:sp>
      <p:sp>
        <p:nvSpPr>
          <p:cNvPr id="23" name="Text 20"/>
          <p:cNvSpPr txBox="1"/>
          <p:nvPr/>
        </p:nvSpPr>
        <p:spPr>
          <a:xfrm>
            <a:off x="7607808" y="3529584"/>
            <a:ext cx="3895344" cy="941832"/>
          </a:xfrm>
          <a:prstGeom prst="rect">
            <a:avLst/>
          </a:prstGeom>
          <a:noFill/>
          <a:ln/>
        </p:spPr>
        <p:txBody>
          <a:bodyPr wrap="square" lIns="0" tIns="0" rIns="0" bIns="0" rtlCol="0" anchor="ctr"/>
          <a:lstStyle/>
          <a:p>
            <a:pPr indent="0" marL="0">
              <a:buNone/>
            </a:pPr>
            <a:r>
              <a:rPr lang="en-US" sz="1350" dirty="0">
                <a:solidFill>
                  <a:srgbClr val="374151"/>
                </a:solidFill>
                <a:latin typeface="Calibri" pitchFamily="34" charset="0"/>
                <a:ea typeface="Calibri" pitchFamily="34" charset="-122"/>
                <a:cs typeface="Calibri" pitchFamily="34" charset="-120"/>
              </a:rPr>
              <a:t>From 100% of contracts (Document Name) down to 2.5% (Source Code Escrow). The median category appears in 23% of contracts.</a:t>
            </a:r>
            <a:endParaRPr lang="en-US" sz="1350" dirty="0"/>
          </a:p>
        </p:txBody>
      </p:sp>
      <p:sp>
        <p:nvSpPr>
          <p:cNvPr id="24" name="Shape 21"/>
          <p:cNvSpPr/>
          <p:nvPr/>
        </p:nvSpPr>
        <p:spPr>
          <a:xfrm>
            <a:off x="7406640" y="4754880"/>
            <a:ext cx="4297680" cy="1554480"/>
          </a:xfrm>
          <a:prstGeom prst="roundRect">
            <a:avLst>
              <a:gd name="adj" fmla="val 4118"/>
            </a:avLst>
          </a:prstGeom>
          <a:solidFill>
            <a:srgbClr val="F6F7FB"/>
          </a:solidFill>
          <a:ln w="12700">
            <a:solidFill>
              <a:srgbClr val="E4E7F2"/>
            </a:solidFill>
            <a:prstDash val="solid"/>
          </a:ln>
        </p:spPr>
      </p:sp>
      <p:sp>
        <p:nvSpPr>
          <p:cNvPr id="25" name="Shape 22"/>
          <p:cNvSpPr/>
          <p:nvPr/>
        </p:nvSpPr>
        <p:spPr>
          <a:xfrm>
            <a:off x="7589520" y="4928616"/>
            <a:ext cx="256032" cy="256032"/>
          </a:xfrm>
          <a:prstGeom prst="ellipse">
            <a:avLst/>
          </a:prstGeom>
          <a:solidFill>
            <a:srgbClr val="1E2761"/>
          </a:solidFill>
          <a:ln w="12700">
            <a:solidFill>
              <a:srgbClr val="1E2761"/>
            </a:solidFill>
            <a:prstDash val="solid"/>
          </a:ln>
        </p:spPr>
      </p:sp>
      <p:sp>
        <p:nvSpPr>
          <p:cNvPr id="26" name="Text 23"/>
          <p:cNvSpPr txBox="1"/>
          <p:nvPr/>
        </p:nvSpPr>
        <p:spPr>
          <a:xfrm>
            <a:off x="7936992" y="4864608"/>
            <a:ext cx="3611880" cy="310896"/>
          </a:xfrm>
          <a:prstGeom prst="rect">
            <a:avLst/>
          </a:prstGeom>
          <a:noFill/>
          <a:ln/>
        </p:spPr>
        <p:txBody>
          <a:bodyPr wrap="square" lIns="0" tIns="0" rIns="0" bIns="0" rtlCol="0" anchor="ctr"/>
          <a:lstStyle/>
          <a:p>
            <a:pPr indent="0" marL="0">
              <a:buNone/>
            </a:pPr>
            <a:r>
              <a:rPr lang="en-US" sz="1550" b="1" dirty="0">
                <a:solidFill>
                  <a:srgbClr val="141B3D"/>
                </a:solidFill>
                <a:latin typeface="Calibri" pitchFamily="34" charset="0"/>
                <a:ea typeface="Calibri" pitchFamily="34" charset="-122"/>
                <a:cs typeface="Calibri" pitchFamily="34" charset="-120"/>
              </a:rPr>
              <a:t>A small, fixed dataset</a:t>
            </a:r>
            <a:endParaRPr lang="en-US" sz="1550" dirty="0"/>
          </a:p>
        </p:txBody>
      </p:sp>
      <p:sp>
        <p:nvSpPr>
          <p:cNvPr id="27" name="Text 24"/>
          <p:cNvSpPr txBox="1"/>
          <p:nvPr/>
        </p:nvSpPr>
        <p:spPr>
          <a:xfrm>
            <a:off x="7607808" y="5266944"/>
            <a:ext cx="3895344" cy="896112"/>
          </a:xfrm>
          <a:prstGeom prst="rect">
            <a:avLst/>
          </a:prstGeom>
          <a:noFill/>
          <a:ln/>
        </p:spPr>
        <p:txBody>
          <a:bodyPr wrap="square" lIns="0" tIns="0" rIns="0" bIns="0" rtlCol="0" anchor="ctr"/>
          <a:lstStyle/>
          <a:p>
            <a:pPr indent="0" marL="0">
              <a:buNone/>
            </a:pPr>
            <a:r>
              <a:rPr lang="en-US" sz="1350" dirty="0">
                <a:solidFill>
                  <a:srgbClr val="374151"/>
                </a:solidFill>
                <a:latin typeface="Calibri" pitchFamily="34" charset="0"/>
                <a:ea typeface="Calibri" pitchFamily="34" charset="-122"/>
                <a:cs typeface="Calibri" pitchFamily="34" charset="-120"/>
              </a:rPr>
              <a:t>The experts' marking reportedly cost about $2M, so the data cannot be grown. We start from pre-trained models and guard against over-fitting.</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548640" y="109728"/>
            <a:ext cx="2286000" cy="301752"/>
          </a:xfrm>
          <a:prstGeom prst="roundRect">
            <a:avLst>
              <a:gd name="adj" fmla="val 45455"/>
            </a:avLst>
          </a:prstGeom>
          <a:solidFill>
            <a:srgbClr val="CADCFC"/>
          </a:solidFill>
          <a:ln w="12700">
            <a:solidFill>
              <a:srgbClr val="CADCFC"/>
            </a:solidFill>
            <a:prstDash val="solid"/>
          </a:ln>
        </p:spPr>
      </p:sp>
      <p:sp>
        <p:nvSpPr>
          <p:cNvPr id="3" name="Text 1"/>
          <p:cNvSpPr txBox="1"/>
          <p:nvPr/>
        </p:nvSpPr>
        <p:spPr>
          <a:xfrm>
            <a:off x="548640" y="109728"/>
            <a:ext cx="2286000" cy="301752"/>
          </a:xfrm>
          <a:prstGeom prst="rect">
            <a:avLst/>
          </a:prstGeom>
          <a:noFill/>
          <a:ln/>
        </p:spPr>
        <p:txBody>
          <a:bodyPr wrap="square" lIns="0" tIns="0" rIns="0" bIns="0" rtlCol="0" anchor="ctr"/>
          <a:lstStyle/>
          <a:p>
            <a:pPr algn="ctr" indent="0" marL="0">
              <a:buNone/>
            </a:pPr>
            <a:r>
              <a:rPr lang="en-US" sz="1250" b="1" dirty="0">
                <a:solidFill>
                  <a:srgbClr val="1E2761"/>
                </a:solidFill>
                <a:latin typeface="Calibri" pitchFamily="34" charset="0"/>
                <a:ea typeface="Calibri" pitchFamily="34" charset="-122"/>
                <a:cs typeface="Calibri" pitchFamily="34" charset="-120"/>
              </a:rPr>
              <a:t>DATA</a:t>
            </a:r>
            <a:endParaRPr lang="en-US" sz="1250" dirty="0"/>
          </a:p>
        </p:txBody>
      </p:sp>
      <p:sp>
        <p:nvSpPr>
          <p:cNvPr id="4" name="Text 2"/>
          <p:cNvSpPr txBox="1"/>
          <p:nvPr/>
        </p:nvSpPr>
        <p:spPr>
          <a:xfrm>
            <a:off x="563728" y="329184"/>
            <a:ext cx="11064240" cy="676656"/>
          </a:xfrm>
          <a:prstGeom prst="rect">
            <a:avLst/>
          </a:prstGeom>
          <a:noFill/>
          <a:ln/>
        </p:spPr>
        <p:txBody>
          <a:bodyPr wrap="square" rtlCol="0" anchor="ctr"/>
          <a:lstStyle/>
          <a:p>
            <a:pPr algn="ctr" indent="0" marL="0">
              <a:buNone/>
            </a:pPr>
            <a:r>
              <a:rPr lang="en-US" sz="3500" b="1" dirty="0">
                <a:solidFill>
                  <a:srgbClr val="141B3D"/>
                </a:solidFill>
                <a:latin typeface="Cambria" pitchFamily="34" charset="0"/>
                <a:ea typeface="Cambria" pitchFamily="34" charset="-122"/>
                <a:cs typeface="Cambria" pitchFamily="34" charset="-120"/>
              </a:rPr>
              <a:t>Preparing the data</a:t>
            </a:r>
            <a:endParaRPr lang="en-US" sz="3500" dirty="0"/>
          </a:p>
        </p:txBody>
      </p:sp>
      <p:sp>
        <p:nvSpPr>
          <p:cNvPr id="5" name="Text 3"/>
          <p:cNvSpPr txBox="1"/>
          <p:nvPr/>
        </p:nvSpPr>
        <p:spPr>
          <a:xfrm>
            <a:off x="563728" y="1024128"/>
            <a:ext cx="11064240" cy="347472"/>
          </a:xfrm>
          <a:prstGeom prst="rect">
            <a:avLst/>
          </a:prstGeom>
          <a:noFill/>
          <a:ln/>
        </p:spPr>
        <p:txBody>
          <a:bodyPr wrap="square" rtlCol="0" anchor="ctr"/>
          <a:lstStyle/>
          <a:p>
            <a:pPr algn="ctr" indent="0" marL="0">
              <a:buNone/>
            </a:pPr>
            <a:r>
              <a:rPr lang="en-US" sz="1600" i="1" dirty="0">
                <a:solidFill>
                  <a:srgbClr val="6B7280"/>
                </a:solidFill>
                <a:latin typeface="Calibri" pitchFamily="34" charset="0"/>
                <a:ea typeface="Calibri" pitchFamily="34" charset="-122"/>
                <a:cs typeface="Calibri" pitchFamily="34" charset="-120"/>
              </a:rPr>
              <a:t>From two CUAD files to examples the models can learn from</a:t>
            </a:r>
            <a:endParaRPr lang="en-US" sz="1600" dirty="0"/>
          </a:p>
        </p:txBody>
      </p:sp>
      <p:sp>
        <p:nvSpPr>
          <p:cNvPr id="6" name="Shape 4"/>
          <p:cNvSpPr/>
          <p:nvPr/>
        </p:nvSpPr>
        <p:spPr>
          <a:xfrm>
            <a:off x="548640" y="1554480"/>
            <a:ext cx="11155680" cy="1197864"/>
          </a:xfrm>
          <a:prstGeom prst="roundRect">
            <a:avLst>
              <a:gd name="adj" fmla="val 4580"/>
            </a:avLst>
          </a:prstGeom>
          <a:solidFill>
            <a:srgbClr val="F6F7FB"/>
          </a:solidFill>
          <a:ln w="12700">
            <a:solidFill>
              <a:srgbClr val="E4E7F2"/>
            </a:solidFill>
            <a:prstDash val="solid"/>
          </a:ln>
        </p:spPr>
      </p:sp>
      <p:sp>
        <p:nvSpPr>
          <p:cNvPr id="7" name="Shape 5"/>
          <p:cNvSpPr/>
          <p:nvPr/>
        </p:nvSpPr>
        <p:spPr>
          <a:xfrm>
            <a:off x="777240" y="1993392"/>
            <a:ext cx="329184" cy="329184"/>
          </a:xfrm>
          <a:prstGeom prst="ellipse">
            <a:avLst/>
          </a:prstGeom>
          <a:solidFill>
            <a:srgbClr val="D94F5C"/>
          </a:solidFill>
          <a:ln w="12700">
            <a:solidFill>
              <a:srgbClr val="D94F5C"/>
            </a:solidFill>
            <a:prstDash val="solid"/>
          </a:ln>
        </p:spPr>
      </p:sp>
      <p:sp>
        <p:nvSpPr>
          <p:cNvPr id="8" name="Text 6"/>
          <p:cNvSpPr txBox="1"/>
          <p:nvPr/>
        </p:nvSpPr>
        <p:spPr>
          <a:xfrm>
            <a:off x="777240" y="1993392"/>
            <a:ext cx="329184" cy="329184"/>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1</a:t>
            </a:r>
            <a:endParaRPr lang="en-US" sz="1350" dirty="0"/>
          </a:p>
        </p:txBody>
      </p:sp>
      <p:sp>
        <p:nvSpPr>
          <p:cNvPr id="9" name="Text 7"/>
          <p:cNvSpPr txBox="1"/>
          <p:nvPr/>
        </p:nvSpPr>
        <p:spPr>
          <a:xfrm>
            <a:off x="1261872" y="1673352"/>
            <a:ext cx="4480560" cy="960120"/>
          </a:xfrm>
          <a:prstGeom prst="rect">
            <a:avLst/>
          </a:prstGeom>
          <a:noFill/>
          <a:ln/>
        </p:spPr>
        <p:txBody>
          <a:bodyPr wrap="square" lIns="0" tIns="0" rIns="0" bIns="0" rtlCol="0" anchor="ctr"/>
          <a:lstStyle/>
          <a:p>
            <a:pPr indent="0" marL="0">
              <a:buNone/>
            </a:pPr>
            <a:r>
              <a:rPr lang="en-US" sz="1550" b="1" dirty="0">
                <a:solidFill>
                  <a:srgbClr val="141B3D"/>
                </a:solidFill>
                <a:latin typeface="Calibri" pitchFamily="34" charset="0"/>
                <a:ea typeface="Calibri" pitchFamily="34" charset="-122"/>
                <a:cs typeface="Calibri" pitchFamily="34" charset="-120"/>
              </a:rPr>
              <a:t>Clean the labels</a:t>
            </a:r>
            <a:endParaRPr lang="en-US" sz="1550" dirty="0"/>
          </a:p>
        </p:txBody>
      </p:sp>
      <p:sp>
        <p:nvSpPr>
          <p:cNvPr id="10" name="Text 8"/>
          <p:cNvSpPr txBox="1"/>
          <p:nvPr/>
        </p:nvSpPr>
        <p:spPr>
          <a:xfrm>
            <a:off x="5897880" y="1673352"/>
            <a:ext cx="5623560" cy="960120"/>
          </a:xfrm>
          <a:prstGeom prst="rect">
            <a:avLst/>
          </a:prstGeom>
          <a:noFill/>
          <a:ln/>
        </p:spPr>
        <p:txBody>
          <a:bodyPr wrap="square" lIns="0" tIns="0" rIns="0" bIns="0" rtlCol="0" anchor="ctr"/>
          <a:lstStyle/>
          <a:p>
            <a:pPr indent="0" marL="0">
              <a:buNone/>
            </a:pPr>
            <a:r>
              <a:rPr lang="en-US" sz="1350" dirty="0">
                <a:solidFill>
                  <a:srgbClr val="374151"/>
                </a:solidFill>
                <a:latin typeface="Calibri" pitchFamily="34" charset="0"/>
                <a:ea typeface="Calibri" pitchFamily="34" charset="-122"/>
                <a:cs typeface="Calibri" pitchFamily="34" charset="-120"/>
              </a:rPr>
              <a:t>Empty cells mean the category is absent, clause lists stored as text are parsed, and blank answers are dropped. Expert values are kept as they are.</a:t>
            </a:r>
            <a:endParaRPr lang="en-US" sz="1350" dirty="0"/>
          </a:p>
        </p:txBody>
      </p:sp>
      <p:sp>
        <p:nvSpPr>
          <p:cNvPr id="11" name="Shape 9"/>
          <p:cNvSpPr/>
          <p:nvPr/>
        </p:nvSpPr>
        <p:spPr>
          <a:xfrm>
            <a:off x="548640" y="2852928"/>
            <a:ext cx="11155680" cy="1197864"/>
          </a:xfrm>
          <a:prstGeom prst="roundRect">
            <a:avLst>
              <a:gd name="adj" fmla="val 4580"/>
            </a:avLst>
          </a:prstGeom>
          <a:solidFill>
            <a:srgbClr val="F6F7FB"/>
          </a:solidFill>
          <a:ln w="12700">
            <a:solidFill>
              <a:srgbClr val="E4E7F2"/>
            </a:solidFill>
            <a:prstDash val="solid"/>
          </a:ln>
        </p:spPr>
      </p:sp>
      <p:sp>
        <p:nvSpPr>
          <p:cNvPr id="12" name="Shape 10"/>
          <p:cNvSpPr/>
          <p:nvPr/>
        </p:nvSpPr>
        <p:spPr>
          <a:xfrm>
            <a:off x="777240" y="3291840"/>
            <a:ext cx="329184" cy="329184"/>
          </a:xfrm>
          <a:prstGeom prst="ellipse">
            <a:avLst/>
          </a:prstGeom>
          <a:solidFill>
            <a:srgbClr val="D94F5C"/>
          </a:solidFill>
          <a:ln w="12700">
            <a:solidFill>
              <a:srgbClr val="D94F5C"/>
            </a:solidFill>
            <a:prstDash val="solid"/>
          </a:ln>
        </p:spPr>
      </p:sp>
      <p:sp>
        <p:nvSpPr>
          <p:cNvPr id="13" name="Text 11"/>
          <p:cNvSpPr txBox="1"/>
          <p:nvPr/>
        </p:nvSpPr>
        <p:spPr>
          <a:xfrm>
            <a:off x="777240" y="3291840"/>
            <a:ext cx="329184" cy="329184"/>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2</a:t>
            </a:r>
            <a:endParaRPr lang="en-US" sz="1350" dirty="0"/>
          </a:p>
        </p:txBody>
      </p:sp>
      <p:sp>
        <p:nvSpPr>
          <p:cNvPr id="14" name="Text 12"/>
          <p:cNvSpPr txBox="1"/>
          <p:nvPr/>
        </p:nvSpPr>
        <p:spPr>
          <a:xfrm>
            <a:off x="1261872" y="2971800"/>
            <a:ext cx="4480560" cy="960120"/>
          </a:xfrm>
          <a:prstGeom prst="rect">
            <a:avLst/>
          </a:prstGeom>
          <a:noFill/>
          <a:ln/>
        </p:spPr>
        <p:txBody>
          <a:bodyPr wrap="square" lIns="0" tIns="0" rIns="0" bIns="0" rtlCol="0" anchor="ctr"/>
          <a:lstStyle/>
          <a:p>
            <a:pPr indent="0" marL="0">
              <a:buNone/>
            </a:pPr>
            <a:r>
              <a:rPr lang="en-US" sz="1550" b="1" dirty="0">
                <a:solidFill>
                  <a:srgbClr val="141B3D"/>
                </a:solidFill>
                <a:latin typeface="Calibri" pitchFamily="34" charset="0"/>
                <a:ea typeface="Calibri" pitchFamily="34" charset="-122"/>
                <a:cs typeface="Calibri" pitchFamily="34" charset="-120"/>
              </a:rPr>
              <a:t>Fix a column-name typo</a:t>
            </a:r>
            <a:endParaRPr lang="en-US" sz="1550" dirty="0"/>
          </a:p>
        </p:txBody>
      </p:sp>
      <p:sp>
        <p:nvSpPr>
          <p:cNvPr id="15" name="Text 13"/>
          <p:cNvSpPr txBox="1"/>
          <p:nvPr/>
        </p:nvSpPr>
        <p:spPr>
          <a:xfrm>
            <a:off x="5897880" y="2971800"/>
            <a:ext cx="5623560" cy="960120"/>
          </a:xfrm>
          <a:prstGeom prst="rect">
            <a:avLst/>
          </a:prstGeom>
          <a:noFill/>
          <a:ln/>
        </p:spPr>
        <p:txBody>
          <a:bodyPr wrap="square" lIns="0" tIns="0" rIns="0" bIns="0" rtlCol="0" anchor="ctr"/>
          <a:lstStyle/>
          <a:p>
            <a:pPr indent="0" marL="0">
              <a:buNone/>
            </a:pPr>
            <a:r>
              <a:rPr lang="en-US" sz="1350" dirty="0">
                <a:solidFill>
                  <a:srgbClr val="374151"/>
                </a:solidFill>
                <a:latin typeface="Calibri" pitchFamily="34" charset="0"/>
                <a:ea typeface="Calibri" pitchFamily="34" charset="-122"/>
                <a:cs typeface="Calibri" pitchFamily="34" charset="-120"/>
              </a:rPr>
              <a:t>One answer column has an extra space in its name, so columns are paired by position instead of by name.</a:t>
            </a:r>
            <a:endParaRPr lang="en-US" sz="1350" dirty="0"/>
          </a:p>
        </p:txBody>
      </p:sp>
      <p:sp>
        <p:nvSpPr>
          <p:cNvPr id="16" name="Shape 14"/>
          <p:cNvSpPr/>
          <p:nvPr/>
        </p:nvSpPr>
        <p:spPr>
          <a:xfrm>
            <a:off x="548640" y="4151376"/>
            <a:ext cx="11155680" cy="1197864"/>
          </a:xfrm>
          <a:prstGeom prst="roundRect">
            <a:avLst>
              <a:gd name="adj" fmla="val 4580"/>
            </a:avLst>
          </a:prstGeom>
          <a:solidFill>
            <a:srgbClr val="F6F7FB"/>
          </a:solidFill>
          <a:ln w="12700">
            <a:solidFill>
              <a:srgbClr val="E4E7F2"/>
            </a:solidFill>
            <a:prstDash val="solid"/>
          </a:ln>
        </p:spPr>
      </p:sp>
      <p:sp>
        <p:nvSpPr>
          <p:cNvPr id="17" name="Shape 15"/>
          <p:cNvSpPr/>
          <p:nvPr/>
        </p:nvSpPr>
        <p:spPr>
          <a:xfrm>
            <a:off x="777240" y="4590288"/>
            <a:ext cx="329184" cy="329184"/>
          </a:xfrm>
          <a:prstGeom prst="ellipse">
            <a:avLst/>
          </a:prstGeom>
          <a:solidFill>
            <a:srgbClr val="E8A13A"/>
          </a:solidFill>
          <a:ln w="12700">
            <a:solidFill>
              <a:srgbClr val="E8A13A"/>
            </a:solidFill>
            <a:prstDash val="solid"/>
          </a:ln>
        </p:spPr>
      </p:sp>
      <p:sp>
        <p:nvSpPr>
          <p:cNvPr id="18" name="Text 16"/>
          <p:cNvSpPr txBox="1"/>
          <p:nvPr/>
        </p:nvSpPr>
        <p:spPr>
          <a:xfrm>
            <a:off x="777240" y="4590288"/>
            <a:ext cx="329184" cy="329184"/>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3</a:t>
            </a:r>
            <a:endParaRPr lang="en-US" sz="1350" dirty="0"/>
          </a:p>
        </p:txBody>
      </p:sp>
      <p:sp>
        <p:nvSpPr>
          <p:cNvPr id="19" name="Text 17"/>
          <p:cNvSpPr txBox="1"/>
          <p:nvPr/>
        </p:nvSpPr>
        <p:spPr>
          <a:xfrm>
            <a:off x="1261872" y="4270248"/>
            <a:ext cx="4480560" cy="960120"/>
          </a:xfrm>
          <a:prstGeom prst="rect">
            <a:avLst/>
          </a:prstGeom>
          <a:noFill/>
          <a:ln/>
        </p:spPr>
        <p:txBody>
          <a:bodyPr wrap="square" lIns="0" tIns="0" rIns="0" bIns="0" rtlCol="0" anchor="ctr"/>
          <a:lstStyle/>
          <a:p>
            <a:pPr indent="0" marL="0">
              <a:buNone/>
            </a:pPr>
            <a:r>
              <a:rPr lang="en-US" sz="1550" b="1" dirty="0">
                <a:solidFill>
                  <a:srgbClr val="141B3D"/>
                </a:solidFill>
                <a:latin typeface="Calibri" pitchFamily="34" charset="0"/>
                <a:ea typeface="Calibri" pitchFamily="34" charset="-122"/>
                <a:cs typeface="Calibri" pitchFamily="34" charset="-120"/>
              </a:rPr>
              <a:t>One row per (contract, category)</a:t>
            </a:r>
            <a:endParaRPr lang="en-US" sz="1550" dirty="0"/>
          </a:p>
        </p:txBody>
      </p:sp>
      <p:sp>
        <p:nvSpPr>
          <p:cNvPr id="20" name="Text 18"/>
          <p:cNvSpPr txBox="1"/>
          <p:nvPr/>
        </p:nvSpPr>
        <p:spPr>
          <a:xfrm>
            <a:off x="5897880" y="4270248"/>
            <a:ext cx="5623560" cy="960120"/>
          </a:xfrm>
          <a:prstGeom prst="rect">
            <a:avLst/>
          </a:prstGeom>
          <a:noFill/>
          <a:ln/>
        </p:spPr>
        <p:txBody>
          <a:bodyPr wrap="square" lIns="0" tIns="0" rIns="0" bIns="0" rtlCol="0" anchor="ctr"/>
          <a:lstStyle/>
          <a:p>
            <a:pPr indent="0" marL="0">
              <a:buNone/>
            </a:pPr>
            <a:r>
              <a:rPr lang="en-US" sz="1350" dirty="0">
                <a:solidFill>
                  <a:srgbClr val="374151"/>
                </a:solidFill>
                <a:latin typeface="Calibri" pitchFamily="34" charset="0"/>
                <a:ea typeface="Calibri" pitchFamily="34" charset="-122"/>
                <a:cs typeface="Calibri" pitchFamily="34" charset="-120"/>
              </a:rPr>
              <a:t>510 × 41 = 20,910 labelled rows, of which 32.1% are positive.</a:t>
            </a:r>
            <a:endParaRPr lang="en-US" sz="1350" dirty="0"/>
          </a:p>
        </p:txBody>
      </p:sp>
      <p:sp>
        <p:nvSpPr>
          <p:cNvPr id="21" name="Shape 19"/>
          <p:cNvSpPr/>
          <p:nvPr/>
        </p:nvSpPr>
        <p:spPr>
          <a:xfrm>
            <a:off x="548640" y="5449824"/>
            <a:ext cx="11155680" cy="1197864"/>
          </a:xfrm>
          <a:prstGeom prst="roundRect">
            <a:avLst>
              <a:gd name="adj" fmla="val 4580"/>
            </a:avLst>
          </a:prstGeom>
          <a:solidFill>
            <a:srgbClr val="F6F7FB"/>
          </a:solidFill>
          <a:ln w="12700">
            <a:solidFill>
              <a:srgbClr val="E4E7F2"/>
            </a:solidFill>
            <a:prstDash val="solid"/>
          </a:ln>
        </p:spPr>
      </p:sp>
      <p:sp>
        <p:nvSpPr>
          <p:cNvPr id="22" name="Shape 20"/>
          <p:cNvSpPr/>
          <p:nvPr/>
        </p:nvSpPr>
        <p:spPr>
          <a:xfrm>
            <a:off x="777240" y="5888736"/>
            <a:ext cx="329184" cy="329184"/>
          </a:xfrm>
          <a:prstGeom prst="ellipse">
            <a:avLst/>
          </a:prstGeom>
          <a:solidFill>
            <a:srgbClr val="1E2761"/>
          </a:solidFill>
          <a:ln w="12700">
            <a:solidFill>
              <a:srgbClr val="1E2761"/>
            </a:solidFill>
            <a:prstDash val="solid"/>
          </a:ln>
        </p:spPr>
      </p:sp>
      <p:sp>
        <p:nvSpPr>
          <p:cNvPr id="23" name="Text 21"/>
          <p:cNvSpPr txBox="1"/>
          <p:nvPr/>
        </p:nvSpPr>
        <p:spPr>
          <a:xfrm>
            <a:off x="777240" y="5888736"/>
            <a:ext cx="329184" cy="329184"/>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4</a:t>
            </a:r>
            <a:endParaRPr lang="en-US" sz="1350" dirty="0"/>
          </a:p>
        </p:txBody>
      </p:sp>
      <p:sp>
        <p:nvSpPr>
          <p:cNvPr id="24" name="Text 22"/>
          <p:cNvSpPr txBox="1"/>
          <p:nvPr/>
        </p:nvSpPr>
        <p:spPr>
          <a:xfrm>
            <a:off x="1261872" y="5568696"/>
            <a:ext cx="4480560" cy="960120"/>
          </a:xfrm>
          <a:prstGeom prst="rect">
            <a:avLst/>
          </a:prstGeom>
          <a:noFill/>
          <a:ln/>
        </p:spPr>
        <p:txBody>
          <a:bodyPr wrap="square" lIns="0" tIns="0" rIns="0" bIns="0" rtlCol="0" anchor="ctr"/>
          <a:lstStyle/>
          <a:p>
            <a:pPr indent="0" marL="0">
              <a:buNone/>
            </a:pPr>
            <a:r>
              <a:rPr lang="en-US" sz="1550" b="1" dirty="0">
                <a:solidFill>
                  <a:srgbClr val="141B3D"/>
                </a:solidFill>
                <a:latin typeface="Calibri" pitchFamily="34" charset="0"/>
                <a:ea typeface="Calibri" pitchFamily="34" charset="-122"/>
                <a:cs typeface="Calibri" pitchFamily="34" charset="-120"/>
              </a:rPr>
              <a:t>Cut contracts into windows</a:t>
            </a:r>
            <a:endParaRPr lang="en-US" sz="1550" dirty="0"/>
          </a:p>
        </p:txBody>
      </p:sp>
      <p:sp>
        <p:nvSpPr>
          <p:cNvPr id="25" name="Text 23"/>
          <p:cNvSpPr txBox="1"/>
          <p:nvPr/>
        </p:nvSpPr>
        <p:spPr>
          <a:xfrm>
            <a:off x="5897880" y="5568696"/>
            <a:ext cx="5623560" cy="960120"/>
          </a:xfrm>
          <a:prstGeom prst="rect">
            <a:avLst/>
          </a:prstGeom>
          <a:noFill/>
          <a:ln/>
        </p:spPr>
        <p:txBody>
          <a:bodyPr wrap="square" lIns="0" tIns="0" rIns="0" bIns="0" rtlCol="0" anchor="ctr"/>
          <a:lstStyle/>
          <a:p>
            <a:pPr indent="0" marL="0">
              <a:buNone/>
            </a:pPr>
            <a:r>
              <a:rPr lang="en-US" sz="1350" dirty="0">
                <a:solidFill>
                  <a:srgbClr val="374151"/>
                </a:solidFill>
                <a:latin typeface="Calibri" pitchFamily="34" charset="0"/>
                <a:ea typeface="Calibri" pitchFamily="34" charset="-122"/>
                <a:cs typeface="Calibri" pitchFamily="34" charset="-120"/>
              </a:rPr>
              <a:t>2,000-character windows every 1,500 characters. The 500-character overlap is longer than the median clause, giving 53,662 training windows (39.2% positive).</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548640" y="109728"/>
            <a:ext cx="2286000" cy="301752"/>
          </a:xfrm>
          <a:prstGeom prst="roundRect">
            <a:avLst>
              <a:gd name="adj" fmla="val 45455"/>
            </a:avLst>
          </a:prstGeom>
          <a:solidFill>
            <a:srgbClr val="CADCFC"/>
          </a:solidFill>
          <a:ln w="12700">
            <a:solidFill>
              <a:srgbClr val="CADCFC"/>
            </a:solidFill>
            <a:prstDash val="solid"/>
          </a:ln>
        </p:spPr>
      </p:sp>
      <p:sp>
        <p:nvSpPr>
          <p:cNvPr id="3" name="Text 1"/>
          <p:cNvSpPr txBox="1"/>
          <p:nvPr/>
        </p:nvSpPr>
        <p:spPr>
          <a:xfrm>
            <a:off x="548640" y="109728"/>
            <a:ext cx="2286000" cy="301752"/>
          </a:xfrm>
          <a:prstGeom prst="rect">
            <a:avLst/>
          </a:prstGeom>
          <a:noFill/>
          <a:ln/>
        </p:spPr>
        <p:txBody>
          <a:bodyPr wrap="square" lIns="0" tIns="0" rIns="0" bIns="0" rtlCol="0" anchor="ctr"/>
          <a:lstStyle/>
          <a:p>
            <a:pPr algn="ctr" indent="0" marL="0">
              <a:buNone/>
            </a:pPr>
            <a:r>
              <a:rPr lang="en-US" sz="1250" b="1" dirty="0">
                <a:solidFill>
                  <a:srgbClr val="1E2761"/>
                </a:solidFill>
                <a:latin typeface="Calibri" pitchFamily="34" charset="0"/>
                <a:ea typeface="Calibri" pitchFamily="34" charset="-122"/>
                <a:cs typeface="Calibri" pitchFamily="34" charset="-120"/>
              </a:rPr>
              <a:t>PIPELINE</a:t>
            </a:r>
            <a:endParaRPr lang="en-US" sz="1250" dirty="0"/>
          </a:p>
        </p:txBody>
      </p:sp>
      <p:sp>
        <p:nvSpPr>
          <p:cNvPr id="4" name="Text 2"/>
          <p:cNvSpPr txBox="1"/>
          <p:nvPr/>
        </p:nvSpPr>
        <p:spPr>
          <a:xfrm>
            <a:off x="563728" y="329184"/>
            <a:ext cx="11064240" cy="676656"/>
          </a:xfrm>
          <a:prstGeom prst="rect">
            <a:avLst/>
          </a:prstGeom>
          <a:noFill/>
          <a:ln/>
        </p:spPr>
        <p:txBody>
          <a:bodyPr wrap="square" rtlCol="0" anchor="ctr"/>
          <a:lstStyle/>
          <a:p>
            <a:pPr algn="ctr" indent="0" marL="0">
              <a:buNone/>
            </a:pPr>
            <a:r>
              <a:rPr lang="en-US" sz="3500" b="1" dirty="0">
                <a:solidFill>
                  <a:srgbClr val="141B3D"/>
                </a:solidFill>
                <a:latin typeface="Cambria" pitchFamily="34" charset="0"/>
                <a:ea typeface="Cambria" pitchFamily="34" charset="-122"/>
                <a:cs typeface="Cambria" pitchFamily="34" charset="-120"/>
              </a:rPr>
              <a:t>How the system reads a contract</a:t>
            </a:r>
            <a:endParaRPr lang="en-US" sz="3500" dirty="0"/>
          </a:p>
        </p:txBody>
      </p:sp>
      <p:sp>
        <p:nvSpPr>
          <p:cNvPr id="5" name="Text 3"/>
          <p:cNvSpPr txBox="1"/>
          <p:nvPr/>
        </p:nvSpPr>
        <p:spPr>
          <a:xfrm>
            <a:off x="563728" y="1024128"/>
            <a:ext cx="11064240" cy="347472"/>
          </a:xfrm>
          <a:prstGeom prst="rect">
            <a:avLst/>
          </a:prstGeom>
          <a:noFill/>
          <a:ln/>
        </p:spPr>
        <p:txBody>
          <a:bodyPr wrap="square" rtlCol="0" anchor="ctr"/>
          <a:lstStyle/>
          <a:p>
            <a:pPr algn="ctr" indent="0" marL="0">
              <a:buNone/>
            </a:pPr>
            <a:r>
              <a:rPr lang="en-US" sz="1600" i="1" dirty="0">
                <a:solidFill>
                  <a:srgbClr val="6B7280"/>
                </a:solidFill>
                <a:latin typeface="Calibri" pitchFamily="34" charset="0"/>
                <a:ea typeface="Calibri" pitchFamily="34" charset="-122"/>
                <a:cs typeface="Calibri" pitchFamily="34" charset="-120"/>
              </a:rPr>
              <a:t>Four steps, from raw text to a risk-sorted report</a:t>
            </a:r>
            <a:endParaRPr lang="en-US" sz="1600" dirty="0"/>
          </a:p>
        </p:txBody>
      </p:sp>
      <p:sp>
        <p:nvSpPr>
          <p:cNvPr id="6" name="Shape 4"/>
          <p:cNvSpPr/>
          <p:nvPr/>
        </p:nvSpPr>
        <p:spPr>
          <a:xfrm>
            <a:off x="548640" y="1371600"/>
            <a:ext cx="2057400" cy="1325880"/>
          </a:xfrm>
          <a:prstGeom prst="roundRect">
            <a:avLst>
              <a:gd name="adj" fmla="val 5517"/>
            </a:avLst>
          </a:prstGeom>
          <a:solidFill>
            <a:srgbClr val="EFF1F7"/>
          </a:solidFill>
          <a:ln w="12700">
            <a:solidFill>
              <a:srgbClr val="E4E7F2"/>
            </a:solidFill>
            <a:prstDash val="solid"/>
          </a:ln>
        </p:spPr>
      </p:sp>
      <p:sp>
        <p:nvSpPr>
          <p:cNvPr id="7" name="Text 5"/>
          <p:cNvSpPr txBox="1"/>
          <p:nvPr/>
        </p:nvSpPr>
        <p:spPr>
          <a:xfrm>
            <a:off x="621792" y="1463040"/>
            <a:ext cx="1911096" cy="329184"/>
          </a:xfrm>
          <a:prstGeom prst="rect">
            <a:avLst/>
          </a:prstGeom>
          <a:noFill/>
          <a:ln/>
        </p:spPr>
        <p:txBody>
          <a:bodyPr wrap="square" lIns="0" tIns="0" rIns="0" bIns="0" rtlCol="0" anchor="ctr"/>
          <a:lstStyle/>
          <a:p>
            <a:pPr algn="ctr" indent="0" marL="0">
              <a:buNone/>
            </a:pPr>
            <a:r>
              <a:rPr lang="en-US" sz="1600" b="1" dirty="0">
                <a:solidFill>
                  <a:srgbClr val="6B7280"/>
                </a:solidFill>
                <a:latin typeface="Cambria" pitchFamily="34" charset="0"/>
                <a:ea typeface="Cambria" pitchFamily="34" charset="-122"/>
                <a:cs typeface="Cambria" pitchFamily="34" charset="-120"/>
              </a:rPr>
              <a:t>Contract</a:t>
            </a:r>
            <a:endParaRPr lang="en-US" sz="1600" dirty="0"/>
          </a:p>
        </p:txBody>
      </p:sp>
      <p:sp>
        <p:nvSpPr>
          <p:cNvPr id="8" name="Text 6"/>
          <p:cNvSpPr txBox="1"/>
          <p:nvPr/>
        </p:nvSpPr>
        <p:spPr>
          <a:xfrm>
            <a:off x="621792" y="1847088"/>
            <a:ext cx="1911096" cy="777240"/>
          </a:xfrm>
          <a:prstGeom prst="rect">
            <a:avLst/>
          </a:prstGeom>
          <a:noFill/>
          <a:ln/>
        </p:spPr>
        <p:txBody>
          <a:bodyPr wrap="square" lIns="0" tIns="0" rIns="0" bIns="0" rtlCol="0" anchor="ctr"/>
          <a:lstStyle/>
          <a:p>
            <a:pPr algn="ctr" indent="0" marL="0">
              <a:buNone/>
            </a:pPr>
            <a:r>
              <a:rPr lang="en-US" sz="1300" dirty="0">
                <a:solidFill>
                  <a:srgbClr val="374151"/>
                </a:solidFill>
                <a:latin typeface="Calibri" pitchFamily="34" charset="0"/>
                <a:ea typeface="Calibri" pitchFamily="34" charset="-122"/>
                <a:cs typeface="Calibri" pitchFamily="34" charset="-120"/>
              </a:rPr>
              <a:t>pasted text, PDF or Word</a:t>
            </a:r>
            <a:endParaRPr lang="en-US" sz="1300" dirty="0"/>
          </a:p>
        </p:txBody>
      </p:sp>
      <p:sp>
        <p:nvSpPr>
          <p:cNvPr id="9" name="Text 7"/>
          <p:cNvSpPr txBox="1"/>
          <p:nvPr/>
        </p:nvSpPr>
        <p:spPr>
          <a:xfrm>
            <a:off x="2615184" y="1783080"/>
            <a:ext cx="219456" cy="365760"/>
          </a:xfrm>
          <a:prstGeom prst="rect">
            <a:avLst/>
          </a:prstGeom>
          <a:noFill/>
          <a:ln/>
        </p:spPr>
        <p:txBody>
          <a:bodyPr wrap="square" lIns="0" tIns="0" rIns="0" bIns="0" rtlCol="0" anchor="ctr"/>
          <a:lstStyle/>
          <a:p>
            <a:pPr algn="ctr" indent="0" marL="0">
              <a:buNone/>
            </a:pPr>
            <a:r>
              <a:rPr lang="en-US" sz="2500" dirty="0">
                <a:solidFill>
                  <a:srgbClr val="C3C9DC"/>
                </a:solidFill>
                <a:latin typeface="Calibri" pitchFamily="34" charset="0"/>
                <a:ea typeface="Calibri" pitchFamily="34" charset="-122"/>
                <a:cs typeface="Calibri" pitchFamily="34" charset="-120"/>
              </a:rPr>
              <a:t>›</a:t>
            </a:r>
            <a:endParaRPr lang="en-US" sz="2500" dirty="0"/>
          </a:p>
        </p:txBody>
      </p:sp>
      <p:sp>
        <p:nvSpPr>
          <p:cNvPr id="10" name="Shape 8"/>
          <p:cNvSpPr/>
          <p:nvPr/>
        </p:nvSpPr>
        <p:spPr>
          <a:xfrm>
            <a:off x="2807208" y="1371600"/>
            <a:ext cx="2057400" cy="1325880"/>
          </a:xfrm>
          <a:prstGeom prst="roundRect">
            <a:avLst>
              <a:gd name="adj" fmla="val 5517"/>
            </a:avLst>
          </a:prstGeom>
          <a:solidFill>
            <a:srgbClr val="F6F7FB"/>
          </a:solidFill>
          <a:ln w="12700">
            <a:solidFill>
              <a:srgbClr val="E4E7F2"/>
            </a:solidFill>
            <a:prstDash val="solid"/>
          </a:ln>
        </p:spPr>
      </p:sp>
      <p:sp>
        <p:nvSpPr>
          <p:cNvPr id="11" name="Text 9"/>
          <p:cNvSpPr txBox="1"/>
          <p:nvPr/>
        </p:nvSpPr>
        <p:spPr>
          <a:xfrm>
            <a:off x="2880360" y="1463040"/>
            <a:ext cx="1911096" cy="329184"/>
          </a:xfrm>
          <a:prstGeom prst="rect">
            <a:avLst/>
          </a:prstGeom>
          <a:noFill/>
          <a:ln/>
        </p:spPr>
        <p:txBody>
          <a:bodyPr wrap="square" lIns="0" tIns="0" rIns="0" bIns="0" rtlCol="0" anchor="ctr"/>
          <a:lstStyle/>
          <a:p>
            <a:pPr algn="ctr" indent="0" marL="0">
              <a:buNone/>
            </a:pPr>
            <a:r>
              <a:rPr lang="en-US" sz="1600" b="1" dirty="0">
                <a:solidFill>
                  <a:srgbClr val="141B3D"/>
                </a:solidFill>
                <a:latin typeface="Cambria" pitchFamily="34" charset="0"/>
                <a:ea typeface="Cambria" pitchFamily="34" charset="-122"/>
                <a:cs typeface="Cambria" pitchFamily="34" charset="-120"/>
              </a:rPr>
              <a:t>1 Presence</a:t>
            </a:r>
            <a:endParaRPr lang="en-US" sz="1600" dirty="0"/>
          </a:p>
        </p:txBody>
      </p:sp>
      <p:sp>
        <p:nvSpPr>
          <p:cNvPr id="12" name="Text 10"/>
          <p:cNvSpPr txBox="1"/>
          <p:nvPr/>
        </p:nvSpPr>
        <p:spPr>
          <a:xfrm>
            <a:off x="2880360" y="1847088"/>
            <a:ext cx="1911096" cy="777240"/>
          </a:xfrm>
          <a:prstGeom prst="rect">
            <a:avLst/>
          </a:prstGeom>
          <a:noFill/>
          <a:ln/>
        </p:spPr>
        <p:txBody>
          <a:bodyPr wrap="square" lIns="0" tIns="0" rIns="0" bIns="0" rtlCol="0" anchor="ctr"/>
          <a:lstStyle/>
          <a:p>
            <a:pPr algn="ctr" indent="0" marL="0">
              <a:buNone/>
            </a:pPr>
            <a:r>
              <a:rPr lang="en-US" sz="1300" dirty="0">
                <a:solidFill>
                  <a:srgbClr val="374151"/>
                </a:solidFill>
                <a:latin typeface="Calibri" pitchFamily="34" charset="0"/>
                <a:ea typeface="Calibri" pitchFamily="34" charset="-122"/>
                <a:cs typeface="Calibri" pitchFamily="34" charset="-120"/>
              </a:rPr>
              <a:t>TF-IDF + windowed DistilBERT</a:t>
            </a:r>
            <a:endParaRPr lang="en-US" sz="1300" dirty="0"/>
          </a:p>
        </p:txBody>
      </p:sp>
      <p:sp>
        <p:nvSpPr>
          <p:cNvPr id="13" name="Text 11"/>
          <p:cNvSpPr txBox="1"/>
          <p:nvPr/>
        </p:nvSpPr>
        <p:spPr>
          <a:xfrm>
            <a:off x="4873752" y="1783080"/>
            <a:ext cx="219456" cy="365760"/>
          </a:xfrm>
          <a:prstGeom prst="rect">
            <a:avLst/>
          </a:prstGeom>
          <a:noFill/>
          <a:ln/>
        </p:spPr>
        <p:txBody>
          <a:bodyPr wrap="square" lIns="0" tIns="0" rIns="0" bIns="0" rtlCol="0" anchor="ctr"/>
          <a:lstStyle/>
          <a:p>
            <a:pPr algn="ctr" indent="0" marL="0">
              <a:buNone/>
            </a:pPr>
            <a:r>
              <a:rPr lang="en-US" sz="2500" dirty="0">
                <a:solidFill>
                  <a:srgbClr val="C3C9DC"/>
                </a:solidFill>
                <a:latin typeface="Calibri" pitchFamily="34" charset="0"/>
                <a:ea typeface="Calibri" pitchFamily="34" charset="-122"/>
                <a:cs typeface="Calibri" pitchFamily="34" charset="-120"/>
              </a:rPr>
              <a:t>›</a:t>
            </a:r>
            <a:endParaRPr lang="en-US" sz="2500" dirty="0"/>
          </a:p>
        </p:txBody>
      </p:sp>
      <p:sp>
        <p:nvSpPr>
          <p:cNvPr id="14" name="Shape 12"/>
          <p:cNvSpPr/>
          <p:nvPr/>
        </p:nvSpPr>
        <p:spPr>
          <a:xfrm>
            <a:off x="5065776" y="1371600"/>
            <a:ext cx="2057400" cy="1325880"/>
          </a:xfrm>
          <a:prstGeom prst="roundRect">
            <a:avLst>
              <a:gd name="adj" fmla="val 5517"/>
            </a:avLst>
          </a:prstGeom>
          <a:solidFill>
            <a:srgbClr val="F6F7FB"/>
          </a:solidFill>
          <a:ln w="12700">
            <a:solidFill>
              <a:srgbClr val="E4E7F2"/>
            </a:solidFill>
            <a:prstDash val="solid"/>
          </a:ln>
        </p:spPr>
      </p:sp>
      <p:sp>
        <p:nvSpPr>
          <p:cNvPr id="15" name="Text 13"/>
          <p:cNvSpPr txBox="1"/>
          <p:nvPr/>
        </p:nvSpPr>
        <p:spPr>
          <a:xfrm>
            <a:off x="5138928" y="1463040"/>
            <a:ext cx="1911096" cy="329184"/>
          </a:xfrm>
          <a:prstGeom prst="rect">
            <a:avLst/>
          </a:prstGeom>
          <a:noFill/>
          <a:ln/>
        </p:spPr>
        <p:txBody>
          <a:bodyPr wrap="square" lIns="0" tIns="0" rIns="0" bIns="0" rtlCol="0" anchor="ctr"/>
          <a:lstStyle/>
          <a:p>
            <a:pPr algn="ctr" indent="0" marL="0">
              <a:buNone/>
            </a:pPr>
            <a:r>
              <a:rPr lang="en-US" sz="1600" b="1" dirty="0">
                <a:solidFill>
                  <a:srgbClr val="141B3D"/>
                </a:solidFill>
                <a:latin typeface="Cambria" pitchFamily="34" charset="0"/>
                <a:ea typeface="Cambria" pitchFamily="34" charset="-122"/>
                <a:cs typeface="Cambria" pitchFamily="34" charset="-120"/>
              </a:rPr>
              <a:t>2 Span</a:t>
            </a:r>
            <a:endParaRPr lang="en-US" sz="1600" dirty="0"/>
          </a:p>
        </p:txBody>
      </p:sp>
      <p:sp>
        <p:nvSpPr>
          <p:cNvPr id="16" name="Text 14"/>
          <p:cNvSpPr txBox="1"/>
          <p:nvPr/>
        </p:nvSpPr>
        <p:spPr>
          <a:xfrm>
            <a:off x="5138928" y="1847088"/>
            <a:ext cx="1911096" cy="777240"/>
          </a:xfrm>
          <a:prstGeom prst="rect">
            <a:avLst/>
          </a:prstGeom>
          <a:noFill/>
          <a:ln/>
        </p:spPr>
        <p:txBody>
          <a:bodyPr wrap="square" lIns="0" tIns="0" rIns="0" bIns="0" rtlCol="0" anchor="ctr"/>
          <a:lstStyle/>
          <a:p>
            <a:pPr algn="ctr" indent="0" marL="0">
              <a:buNone/>
            </a:pPr>
            <a:r>
              <a:rPr lang="en-US" sz="1300" dirty="0">
                <a:solidFill>
                  <a:srgbClr val="374151"/>
                </a:solidFill>
                <a:latin typeface="Calibri" pitchFamily="34" charset="0"/>
                <a:ea typeface="Calibri" pitchFamily="34" charset="-122"/>
                <a:cs typeface="Calibri" pitchFamily="34" charset="-120"/>
              </a:rPr>
              <a:t>DistilBERT-QA</a:t>
            </a:r>
            <a:endParaRPr lang="en-US" sz="1300" dirty="0"/>
          </a:p>
        </p:txBody>
      </p:sp>
      <p:sp>
        <p:nvSpPr>
          <p:cNvPr id="17" name="Text 15"/>
          <p:cNvSpPr txBox="1"/>
          <p:nvPr/>
        </p:nvSpPr>
        <p:spPr>
          <a:xfrm>
            <a:off x="7132320" y="1783080"/>
            <a:ext cx="219456" cy="365760"/>
          </a:xfrm>
          <a:prstGeom prst="rect">
            <a:avLst/>
          </a:prstGeom>
          <a:noFill/>
          <a:ln/>
        </p:spPr>
        <p:txBody>
          <a:bodyPr wrap="square" lIns="0" tIns="0" rIns="0" bIns="0" rtlCol="0" anchor="ctr"/>
          <a:lstStyle/>
          <a:p>
            <a:pPr algn="ctr" indent="0" marL="0">
              <a:buNone/>
            </a:pPr>
            <a:r>
              <a:rPr lang="en-US" sz="2500" dirty="0">
                <a:solidFill>
                  <a:srgbClr val="C3C9DC"/>
                </a:solidFill>
                <a:latin typeface="Calibri" pitchFamily="34" charset="0"/>
                <a:ea typeface="Calibri" pitchFamily="34" charset="-122"/>
                <a:cs typeface="Calibri" pitchFamily="34" charset="-120"/>
              </a:rPr>
              <a:t>›</a:t>
            </a:r>
            <a:endParaRPr lang="en-US" sz="2500" dirty="0"/>
          </a:p>
        </p:txBody>
      </p:sp>
      <p:sp>
        <p:nvSpPr>
          <p:cNvPr id="18" name="Shape 16"/>
          <p:cNvSpPr/>
          <p:nvPr/>
        </p:nvSpPr>
        <p:spPr>
          <a:xfrm>
            <a:off x="7324344" y="1371600"/>
            <a:ext cx="2057400" cy="1325880"/>
          </a:xfrm>
          <a:prstGeom prst="roundRect">
            <a:avLst>
              <a:gd name="adj" fmla="val 5517"/>
            </a:avLst>
          </a:prstGeom>
          <a:solidFill>
            <a:srgbClr val="FDF6F0"/>
          </a:solidFill>
          <a:ln w="12700">
            <a:solidFill>
              <a:srgbClr val="F3DFC9"/>
            </a:solidFill>
            <a:prstDash val="solid"/>
          </a:ln>
        </p:spPr>
      </p:sp>
      <p:sp>
        <p:nvSpPr>
          <p:cNvPr id="19" name="Text 17"/>
          <p:cNvSpPr txBox="1"/>
          <p:nvPr/>
        </p:nvSpPr>
        <p:spPr>
          <a:xfrm>
            <a:off x="7397496" y="1463040"/>
            <a:ext cx="1911096" cy="329184"/>
          </a:xfrm>
          <a:prstGeom prst="rect">
            <a:avLst/>
          </a:prstGeom>
          <a:noFill/>
          <a:ln/>
        </p:spPr>
        <p:txBody>
          <a:bodyPr wrap="square" lIns="0" tIns="0" rIns="0" bIns="0" rtlCol="0" anchor="ctr"/>
          <a:lstStyle/>
          <a:p>
            <a:pPr algn="ctr" indent="0" marL="0">
              <a:buNone/>
            </a:pPr>
            <a:r>
              <a:rPr lang="en-US" sz="1600" b="1" dirty="0">
                <a:solidFill>
                  <a:srgbClr val="141B3D"/>
                </a:solidFill>
                <a:latin typeface="Cambria" pitchFamily="34" charset="0"/>
                <a:ea typeface="Cambria" pitchFamily="34" charset="-122"/>
                <a:cs typeface="Cambria" pitchFamily="34" charset="-120"/>
              </a:rPr>
              <a:t>3 Risk</a:t>
            </a:r>
            <a:endParaRPr lang="en-US" sz="1600" dirty="0"/>
          </a:p>
        </p:txBody>
      </p:sp>
      <p:sp>
        <p:nvSpPr>
          <p:cNvPr id="20" name="Text 18"/>
          <p:cNvSpPr txBox="1"/>
          <p:nvPr/>
        </p:nvSpPr>
        <p:spPr>
          <a:xfrm>
            <a:off x="7397496" y="1847088"/>
            <a:ext cx="1911096" cy="777240"/>
          </a:xfrm>
          <a:prstGeom prst="rect">
            <a:avLst/>
          </a:prstGeom>
          <a:noFill/>
          <a:ln/>
        </p:spPr>
        <p:txBody>
          <a:bodyPr wrap="square" lIns="0" tIns="0" rIns="0" bIns="0" rtlCol="0" anchor="ctr"/>
          <a:lstStyle/>
          <a:p>
            <a:pPr algn="ctr" indent="0" marL="0">
              <a:buNone/>
            </a:pPr>
            <a:r>
              <a:rPr lang="en-US" sz="1300" dirty="0">
                <a:solidFill>
                  <a:srgbClr val="374151"/>
                </a:solidFill>
                <a:latin typeface="Calibri" pitchFamily="34" charset="0"/>
                <a:ea typeface="Calibri" pitchFamily="34" charset="-122"/>
                <a:cs typeface="Calibri" pitchFamily="34" charset="-120"/>
              </a:rPr>
              <a:t>41-category risk table</a:t>
            </a:r>
            <a:endParaRPr lang="en-US" sz="1300" dirty="0"/>
          </a:p>
        </p:txBody>
      </p:sp>
      <p:sp>
        <p:nvSpPr>
          <p:cNvPr id="21" name="Text 19"/>
          <p:cNvSpPr txBox="1"/>
          <p:nvPr/>
        </p:nvSpPr>
        <p:spPr>
          <a:xfrm>
            <a:off x="9390888" y="1783080"/>
            <a:ext cx="219456" cy="365760"/>
          </a:xfrm>
          <a:prstGeom prst="rect">
            <a:avLst/>
          </a:prstGeom>
          <a:noFill/>
          <a:ln/>
        </p:spPr>
        <p:txBody>
          <a:bodyPr wrap="square" lIns="0" tIns="0" rIns="0" bIns="0" rtlCol="0" anchor="ctr"/>
          <a:lstStyle/>
          <a:p>
            <a:pPr algn="ctr" indent="0" marL="0">
              <a:buNone/>
            </a:pPr>
            <a:r>
              <a:rPr lang="en-US" sz="2500" dirty="0">
                <a:solidFill>
                  <a:srgbClr val="C3C9DC"/>
                </a:solidFill>
                <a:latin typeface="Calibri" pitchFamily="34" charset="0"/>
                <a:ea typeface="Calibri" pitchFamily="34" charset="-122"/>
                <a:cs typeface="Calibri" pitchFamily="34" charset="-120"/>
              </a:rPr>
              <a:t>›</a:t>
            </a:r>
            <a:endParaRPr lang="en-US" sz="2500" dirty="0"/>
          </a:p>
        </p:txBody>
      </p:sp>
      <p:sp>
        <p:nvSpPr>
          <p:cNvPr id="22" name="Shape 20"/>
          <p:cNvSpPr/>
          <p:nvPr/>
        </p:nvSpPr>
        <p:spPr>
          <a:xfrm>
            <a:off x="9582912" y="1371600"/>
            <a:ext cx="2057400" cy="1325880"/>
          </a:xfrm>
          <a:prstGeom prst="roundRect">
            <a:avLst>
              <a:gd name="adj" fmla="val 5517"/>
            </a:avLst>
          </a:prstGeom>
          <a:solidFill>
            <a:srgbClr val="FDF6F0"/>
          </a:solidFill>
          <a:ln w="12700">
            <a:solidFill>
              <a:srgbClr val="F3DFC9"/>
            </a:solidFill>
            <a:prstDash val="solid"/>
          </a:ln>
        </p:spPr>
      </p:sp>
      <p:sp>
        <p:nvSpPr>
          <p:cNvPr id="23" name="Text 21"/>
          <p:cNvSpPr txBox="1"/>
          <p:nvPr/>
        </p:nvSpPr>
        <p:spPr>
          <a:xfrm>
            <a:off x="9656064" y="1463040"/>
            <a:ext cx="1911096" cy="329184"/>
          </a:xfrm>
          <a:prstGeom prst="rect">
            <a:avLst/>
          </a:prstGeom>
          <a:noFill/>
          <a:ln/>
        </p:spPr>
        <p:txBody>
          <a:bodyPr wrap="square" lIns="0" tIns="0" rIns="0" bIns="0" rtlCol="0" anchor="ctr"/>
          <a:lstStyle/>
          <a:p>
            <a:pPr algn="ctr" indent="0" marL="0">
              <a:buNone/>
            </a:pPr>
            <a:r>
              <a:rPr lang="en-US" sz="1600" b="1" dirty="0">
                <a:solidFill>
                  <a:srgbClr val="141B3D"/>
                </a:solidFill>
                <a:latin typeface="Cambria" pitchFamily="34" charset="0"/>
                <a:ea typeface="Cambria" pitchFamily="34" charset="-122"/>
                <a:cs typeface="Cambria" pitchFamily="34" charset="-120"/>
              </a:rPr>
              <a:t>4 Explanation</a:t>
            </a:r>
            <a:endParaRPr lang="en-US" sz="1600" dirty="0"/>
          </a:p>
        </p:txBody>
      </p:sp>
      <p:sp>
        <p:nvSpPr>
          <p:cNvPr id="24" name="Text 22"/>
          <p:cNvSpPr txBox="1"/>
          <p:nvPr/>
        </p:nvSpPr>
        <p:spPr>
          <a:xfrm>
            <a:off x="9656064" y="1847088"/>
            <a:ext cx="1911096" cy="777240"/>
          </a:xfrm>
          <a:prstGeom prst="rect">
            <a:avLst/>
          </a:prstGeom>
          <a:noFill/>
          <a:ln/>
        </p:spPr>
        <p:txBody>
          <a:bodyPr wrap="square" lIns="0" tIns="0" rIns="0" bIns="0" rtlCol="0" anchor="ctr"/>
          <a:lstStyle/>
          <a:p>
            <a:pPr algn="ctr" indent="0" marL="0">
              <a:buNone/>
            </a:pPr>
            <a:r>
              <a:rPr lang="en-US" sz="1300" dirty="0">
                <a:solidFill>
                  <a:srgbClr val="374151"/>
                </a:solidFill>
                <a:latin typeface="Calibri" pitchFamily="34" charset="0"/>
                <a:ea typeface="Calibri" pitchFamily="34" charset="-122"/>
                <a:cs typeface="Calibri" pitchFamily="34" charset="-120"/>
              </a:rPr>
              <a:t>FLAN-T5-small</a:t>
            </a:r>
            <a:endParaRPr lang="en-US" sz="1300" dirty="0"/>
          </a:p>
        </p:txBody>
      </p:sp>
      <p:sp>
        <p:nvSpPr>
          <p:cNvPr id="25" name="Shape 23"/>
          <p:cNvSpPr/>
          <p:nvPr/>
        </p:nvSpPr>
        <p:spPr>
          <a:xfrm>
            <a:off x="2807208" y="2816352"/>
            <a:ext cx="2057400" cy="420624"/>
          </a:xfrm>
          <a:prstGeom prst="roundRect">
            <a:avLst>
              <a:gd name="adj" fmla="val 10870"/>
            </a:avLst>
          </a:prstGeom>
          <a:solidFill>
            <a:srgbClr val="E8ECF7"/>
          </a:solidFill>
          <a:ln w="12700">
            <a:solidFill>
              <a:srgbClr val="CFD8EE"/>
            </a:solidFill>
            <a:prstDash val="solid"/>
          </a:ln>
        </p:spPr>
      </p:sp>
      <p:sp>
        <p:nvSpPr>
          <p:cNvPr id="26" name="Text 24"/>
          <p:cNvSpPr txBox="1"/>
          <p:nvPr/>
        </p:nvSpPr>
        <p:spPr>
          <a:xfrm>
            <a:off x="2852928" y="2816352"/>
            <a:ext cx="1965960" cy="420624"/>
          </a:xfrm>
          <a:prstGeom prst="rect">
            <a:avLst/>
          </a:prstGeom>
          <a:noFill/>
          <a:ln/>
        </p:spPr>
        <p:txBody>
          <a:bodyPr wrap="square" lIns="0" tIns="0" rIns="0" bIns="0" rtlCol="0" anchor="ctr"/>
          <a:lstStyle/>
          <a:p>
            <a:pPr algn="ctr" indent="0" marL="0">
              <a:buNone/>
            </a:pPr>
            <a:r>
              <a:rPr lang="en-US" sz="1300" b="1" dirty="0">
                <a:solidFill>
                  <a:srgbClr val="1E2761"/>
                </a:solidFill>
                <a:latin typeface="Calibri" pitchFamily="34" charset="0"/>
                <a:ea typeface="Calibri" pitchFamily="34" charset="-122"/>
                <a:cs typeface="Calibri" pitchFamily="34" charset="-120"/>
              </a:rPr>
              <a:t>which of 41 types?</a:t>
            </a:r>
            <a:endParaRPr lang="en-US" sz="1300" dirty="0"/>
          </a:p>
        </p:txBody>
      </p:sp>
      <p:sp>
        <p:nvSpPr>
          <p:cNvPr id="27" name="Shape 25"/>
          <p:cNvSpPr/>
          <p:nvPr/>
        </p:nvSpPr>
        <p:spPr>
          <a:xfrm>
            <a:off x="5065776" y="2816352"/>
            <a:ext cx="2057400" cy="420624"/>
          </a:xfrm>
          <a:prstGeom prst="roundRect">
            <a:avLst>
              <a:gd name="adj" fmla="val 10870"/>
            </a:avLst>
          </a:prstGeom>
          <a:solidFill>
            <a:srgbClr val="E8ECF7"/>
          </a:solidFill>
          <a:ln w="12700">
            <a:solidFill>
              <a:srgbClr val="CFD8EE"/>
            </a:solidFill>
            <a:prstDash val="solid"/>
          </a:ln>
        </p:spPr>
      </p:sp>
      <p:sp>
        <p:nvSpPr>
          <p:cNvPr id="28" name="Text 26"/>
          <p:cNvSpPr txBox="1"/>
          <p:nvPr/>
        </p:nvSpPr>
        <p:spPr>
          <a:xfrm>
            <a:off x="5111496" y="2816352"/>
            <a:ext cx="1965960" cy="420624"/>
          </a:xfrm>
          <a:prstGeom prst="rect">
            <a:avLst/>
          </a:prstGeom>
          <a:noFill/>
          <a:ln/>
        </p:spPr>
        <p:txBody>
          <a:bodyPr wrap="square" lIns="0" tIns="0" rIns="0" bIns="0" rtlCol="0" anchor="ctr"/>
          <a:lstStyle/>
          <a:p>
            <a:pPr algn="ctr" indent="0" marL="0">
              <a:buNone/>
            </a:pPr>
            <a:r>
              <a:rPr lang="en-US" sz="1300" b="1" dirty="0">
                <a:solidFill>
                  <a:srgbClr val="1E2761"/>
                </a:solidFill>
                <a:latin typeface="Calibri" pitchFamily="34" charset="0"/>
                <a:ea typeface="Calibri" pitchFamily="34" charset="-122"/>
                <a:cs typeface="Calibri" pitchFamily="34" charset="-120"/>
              </a:rPr>
              <a:t>the clause text</a:t>
            </a:r>
            <a:endParaRPr lang="en-US" sz="1300" dirty="0"/>
          </a:p>
        </p:txBody>
      </p:sp>
      <p:sp>
        <p:nvSpPr>
          <p:cNvPr id="29" name="Shape 27"/>
          <p:cNvSpPr/>
          <p:nvPr/>
        </p:nvSpPr>
        <p:spPr>
          <a:xfrm>
            <a:off x="7324344" y="2816352"/>
            <a:ext cx="2057400" cy="420624"/>
          </a:xfrm>
          <a:prstGeom prst="roundRect">
            <a:avLst>
              <a:gd name="adj" fmla="val 10870"/>
            </a:avLst>
          </a:prstGeom>
          <a:solidFill>
            <a:srgbClr val="E8ECF7"/>
          </a:solidFill>
          <a:ln w="12700">
            <a:solidFill>
              <a:srgbClr val="CFD8EE"/>
            </a:solidFill>
            <a:prstDash val="solid"/>
          </a:ln>
        </p:spPr>
      </p:sp>
      <p:sp>
        <p:nvSpPr>
          <p:cNvPr id="30" name="Text 28"/>
          <p:cNvSpPr txBox="1"/>
          <p:nvPr/>
        </p:nvSpPr>
        <p:spPr>
          <a:xfrm>
            <a:off x="7370064" y="2816352"/>
            <a:ext cx="1965960" cy="420624"/>
          </a:xfrm>
          <a:prstGeom prst="rect">
            <a:avLst/>
          </a:prstGeom>
          <a:noFill/>
          <a:ln/>
        </p:spPr>
        <p:txBody>
          <a:bodyPr wrap="square" lIns="0" tIns="0" rIns="0" bIns="0" rtlCol="0" anchor="ctr"/>
          <a:lstStyle/>
          <a:p>
            <a:pPr algn="ctr" indent="0" marL="0">
              <a:buNone/>
            </a:pPr>
            <a:r>
              <a:rPr lang="en-US" sz="1300" b="1" dirty="0">
                <a:solidFill>
                  <a:srgbClr val="1E2761"/>
                </a:solidFill>
                <a:latin typeface="Calibri" pitchFamily="34" charset="0"/>
                <a:ea typeface="Calibri" pitchFamily="34" charset="-122"/>
                <a:cs typeface="Calibri" pitchFamily="34" charset="-120"/>
              </a:rPr>
              <a:t>High / Medium / Low</a:t>
            </a:r>
            <a:endParaRPr lang="en-US" sz="1300" dirty="0"/>
          </a:p>
        </p:txBody>
      </p:sp>
      <p:sp>
        <p:nvSpPr>
          <p:cNvPr id="31" name="Shape 29"/>
          <p:cNvSpPr/>
          <p:nvPr/>
        </p:nvSpPr>
        <p:spPr>
          <a:xfrm>
            <a:off x="9582912" y="2816352"/>
            <a:ext cx="2057400" cy="420624"/>
          </a:xfrm>
          <a:prstGeom prst="roundRect">
            <a:avLst>
              <a:gd name="adj" fmla="val 10870"/>
            </a:avLst>
          </a:prstGeom>
          <a:solidFill>
            <a:srgbClr val="E8ECF7"/>
          </a:solidFill>
          <a:ln w="12700">
            <a:solidFill>
              <a:srgbClr val="CFD8EE"/>
            </a:solidFill>
            <a:prstDash val="solid"/>
          </a:ln>
        </p:spPr>
      </p:sp>
      <p:sp>
        <p:nvSpPr>
          <p:cNvPr id="32" name="Text 30"/>
          <p:cNvSpPr txBox="1"/>
          <p:nvPr/>
        </p:nvSpPr>
        <p:spPr>
          <a:xfrm>
            <a:off x="9628632" y="2816352"/>
            <a:ext cx="1965960" cy="420624"/>
          </a:xfrm>
          <a:prstGeom prst="rect">
            <a:avLst/>
          </a:prstGeom>
          <a:noFill/>
          <a:ln/>
        </p:spPr>
        <p:txBody>
          <a:bodyPr wrap="square" lIns="0" tIns="0" rIns="0" bIns="0" rtlCol="0" anchor="ctr"/>
          <a:lstStyle/>
          <a:p>
            <a:pPr algn="ctr" indent="0" marL="0">
              <a:buNone/>
            </a:pPr>
            <a:r>
              <a:rPr lang="en-US" sz="1300" b="1" dirty="0">
                <a:solidFill>
                  <a:srgbClr val="1E2761"/>
                </a:solidFill>
                <a:latin typeface="Calibri" pitchFamily="34" charset="0"/>
                <a:ea typeface="Calibri" pitchFamily="34" charset="-122"/>
                <a:cs typeface="Calibri" pitchFamily="34" charset="-120"/>
              </a:rPr>
              <a:t>one plain sentence</a:t>
            </a:r>
            <a:endParaRPr lang="en-US" sz="1300" dirty="0"/>
          </a:p>
        </p:txBody>
      </p:sp>
      <p:sp>
        <p:nvSpPr>
          <p:cNvPr id="33" name="Shape 31"/>
          <p:cNvSpPr/>
          <p:nvPr/>
        </p:nvSpPr>
        <p:spPr>
          <a:xfrm>
            <a:off x="548640" y="3611880"/>
            <a:ext cx="7315200" cy="329184"/>
          </a:xfrm>
          <a:prstGeom prst="rect">
            <a:avLst/>
          </a:prstGeom>
          <a:solidFill>
            <a:srgbClr val="EFF1F7"/>
          </a:solidFill>
          <a:ln w="12700">
            <a:solidFill>
              <a:srgbClr val="D9DEEC"/>
            </a:solidFill>
            <a:prstDash val="solid"/>
          </a:ln>
        </p:spPr>
      </p:sp>
      <p:sp>
        <p:nvSpPr>
          <p:cNvPr id="34" name="Shape 32"/>
          <p:cNvSpPr/>
          <p:nvPr/>
        </p:nvSpPr>
        <p:spPr>
          <a:xfrm>
            <a:off x="4846320" y="3611880"/>
            <a:ext cx="201168" cy="329184"/>
          </a:xfrm>
          <a:prstGeom prst="rect">
            <a:avLst/>
          </a:prstGeom>
          <a:solidFill>
            <a:srgbClr val="D94F5C"/>
          </a:solidFill>
          <a:ln w="12700">
            <a:solidFill>
              <a:srgbClr val="D94F5C"/>
            </a:solidFill>
            <a:prstDash val="solid"/>
          </a:ln>
        </p:spPr>
      </p:sp>
      <p:sp>
        <p:nvSpPr>
          <p:cNvPr id="35" name="Text 33"/>
          <p:cNvSpPr txBox="1"/>
          <p:nvPr/>
        </p:nvSpPr>
        <p:spPr>
          <a:xfrm>
            <a:off x="3794760" y="3291840"/>
            <a:ext cx="2377440" cy="274320"/>
          </a:xfrm>
          <a:prstGeom prst="rect">
            <a:avLst/>
          </a:prstGeom>
          <a:noFill/>
          <a:ln/>
        </p:spPr>
        <p:txBody>
          <a:bodyPr wrap="square" lIns="0" tIns="0" rIns="0" bIns="0" rtlCol="0" anchor="ctr"/>
          <a:lstStyle/>
          <a:p>
            <a:pPr algn="ctr" indent="0" marL="0">
              <a:buNone/>
            </a:pPr>
            <a:r>
              <a:rPr lang="en-US" sz="1250" dirty="0">
                <a:solidFill>
                  <a:srgbClr val="D94F5C"/>
                </a:solidFill>
                <a:latin typeface="Calibri" pitchFamily="34" charset="0"/>
                <a:ea typeface="Calibri" pitchFamily="34" charset="-122"/>
                <a:cs typeface="Calibri" pitchFamily="34" charset="-120"/>
              </a:rPr>
              <a:t>the clause, 196 chars</a:t>
            </a:r>
            <a:endParaRPr lang="en-US" sz="1250" dirty="0"/>
          </a:p>
        </p:txBody>
      </p:sp>
      <p:sp>
        <p:nvSpPr>
          <p:cNvPr id="36" name="Shape 34"/>
          <p:cNvSpPr/>
          <p:nvPr/>
        </p:nvSpPr>
        <p:spPr>
          <a:xfrm>
            <a:off x="548640" y="4069080"/>
            <a:ext cx="2011680" cy="310896"/>
          </a:xfrm>
          <a:prstGeom prst="roundRect">
            <a:avLst>
              <a:gd name="adj" fmla="val 11765"/>
            </a:avLst>
          </a:prstGeom>
          <a:solidFill>
            <a:srgbClr val="F6F7FB"/>
          </a:solidFill>
          <a:ln w="12700">
            <a:solidFill>
              <a:srgbClr val="D9DEEC"/>
            </a:solidFill>
            <a:prstDash val="solid"/>
          </a:ln>
        </p:spPr>
      </p:sp>
      <p:sp>
        <p:nvSpPr>
          <p:cNvPr id="37" name="Text 35"/>
          <p:cNvSpPr txBox="1"/>
          <p:nvPr/>
        </p:nvSpPr>
        <p:spPr>
          <a:xfrm>
            <a:off x="548640" y="4069080"/>
            <a:ext cx="2011680" cy="310896"/>
          </a:xfrm>
          <a:prstGeom prst="rect">
            <a:avLst/>
          </a:prstGeom>
          <a:noFill/>
          <a:ln/>
        </p:spPr>
        <p:txBody>
          <a:bodyPr wrap="square" lIns="0" tIns="0" rIns="0" bIns="0" rtlCol="0" anchor="ctr"/>
          <a:lstStyle/>
          <a:p>
            <a:pPr algn="ctr" indent="0" marL="0">
              <a:buNone/>
            </a:pPr>
            <a:r>
              <a:rPr lang="en-US" sz="1250" dirty="0">
                <a:solidFill>
                  <a:srgbClr val="6B7280"/>
                </a:solidFill>
                <a:latin typeface="Calibri" pitchFamily="34" charset="0"/>
                <a:ea typeface="Calibri" pitchFamily="34" charset="-122"/>
                <a:cs typeface="Calibri" pitchFamily="34" charset="-120"/>
              </a:rPr>
              <a:t>window 1</a:t>
            </a:r>
            <a:endParaRPr lang="en-US" sz="1250" dirty="0"/>
          </a:p>
        </p:txBody>
      </p:sp>
      <p:sp>
        <p:nvSpPr>
          <p:cNvPr id="38" name="Text 36"/>
          <p:cNvSpPr txBox="1"/>
          <p:nvPr/>
        </p:nvSpPr>
        <p:spPr>
          <a:xfrm>
            <a:off x="2596896" y="4069080"/>
            <a:ext cx="502920" cy="310896"/>
          </a:xfrm>
          <a:prstGeom prst="rect">
            <a:avLst/>
          </a:prstGeom>
          <a:noFill/>
          <a:ln/>
        </p:spPr>
        <p:txBody>
          <a:bodyPr wrap="square" lIns="0" tIns="0" rIns="0" bIns="0" rtlCol="0" anchor="ctr"/>
          <a:lstStyle/>
          <a:p>
            <a:pPr indent="0" marL="0">
              <a:buNone/>
            </a:pPr>
            <a:r>
              <a:rPr lang="en-US" sz="1250" dirty="0">
                <a:solidFill>
                  <a:srgbClr val="C3C9DC"/>
                </a:solidFill>
                <a:latin typeface="Calibri" pitchFamily="34" charset="0"/>
                <a:ea typeface="Calibri" pitchFamily="34" charset="-122"/>
                <a:cs typeface="Calibri" pitchFamily="34" charset="-120"/>
              </a:rPr>
              <a:t>0.04</a:t>
            </a:r>
            <a:endParaRPr lang="en-US" sz="1250" dirty="0"/>
          </a:p>
        </p:txBody>
      </p:sp>
      <p:sp>
        <p:nvSpPr>
          <p:cNvPr id="39" name="Shape 37"/>
          <p:cNvSpPr/>
          <p:nvPr/>
        </p:nvSpPr>
        <p:spPr>
          <a:xfrm>
            <a:off x="1920240" y="4434840"/>
            <a:ext cx="2011680" cy="310896"/>
          </a:xfrm>
          <a:prstGeom prst="roundRect">
            <a:avLst>
              <a:gd name="adj" fmla="val 11765"/>
            </a:avLst>
          </a:prstGeom>
          <a:solidFill>
            <a:srgbClr val="F6F7FB"/>
          </a:solidFill>
          <a:ln w="12700">
            <a:solidFill>
              <a:srgbClr val="D9DEEC"/>
            </a:solidFill>
            <a:prstDash val="solid"/>
          </a:ln>
        </p:spPr>
      </p:sp>
      <p:sp>
        <p:nvSpPr>
          <p:cNvPr id="40" name="Text 38"/>
          <p:cNvSpPr txBox="1"/>
          <p:nvPr/>
        </p:nvSpPr>
        <p:spPr>
          <a:xfrm>
            <a:off x="1920240" y="4434840"/>
            <a:ext cx="2011680" cy="310896"/>
          </a:xfrm>
          <a:prstGeom prst="rect">
            <a:avLst/>
          </a:prstGeom>
          <a:noFill/>
          <a:ln/>
        </p:spPr>
        <p:txBody>
          <a:bodyPr wrap="square" lIns="0" tIns="0" rIns="0" bIns="0" rtlCol="0" anchor="ctr"/>
          <a:lstStyle/>
          <a:p>
            <a:pPr algn="ctr" indent="0" marL="0">
              <a:buNone/>
            </a:pPr>
            <a:r>
              <a:rPr lang="en-US" sz="1250" dirty="0">
                <a:solidFill>
                  <a:srgbClr val="6B7280"/>
                </a:solidFill>
                <a:latin typeface="Calibri" pitchFamily="34" charset="0"/>
                <a:ea typeface="Calibri" pitchFamily="34" charset="-122"/>
                <a:cs typeface="Calibri" pitchFamily="34" charset="-120"/>
              </a:rPr>
              <a:t>window 2</a:t>
            </a:r>
            <a:endParaRPr lang="en-US" sz="1250" dirty="0"/>
          </a:p>
        </p:txBody>
      </p:sp>
      <p:sp>
        <p:nvSpPr>
          <p:cNvPr id="41" name="Text 39"/>
          <p:cNvSpPr txBox="1"/>
          <p:nvPr/>
        </p:nvSpPr>
        <p:spPr>
          <a:xfrm>
            <a:off x="3968496" y="4434840"/>
            <a:ext cx="502920" cy="310896"/>
          </a:xfrm>
          <a:prstGeom prst="rect">
            <a:avLst/>
          </a:prstGeom>
          <a:noFill/>
          <a:ln/>
        </p:spPr>
        <p:txBody>
          <a:bodyPr wrap="square" lIns="0" tIns="0" rIns="0" bIns="0" rtlCol="0" anchor="ctr"/>
          <a:lstStyle/>
          <a:p>
            <a:pPr indent="0" marL="0">
              <a:buNone/>
            </a:pPr>
            <a:r>
              <a:rPr lang="en-US" sz="1250" dirty="0">
                <a:solidFill>
                  <a:srgbClr val="C3C9DC"/>
                </a:solidFill>
                <a:latin typeface="Calibri" pitchFamily="34" charset="0"/>
                <a:ea typeface="Calibri" pitchFamily="34" charset="-122"/>
                <a:cs typeface="Calibri" pitchFamily="34" charset="-120"/>
              </a:rPr>
              <a:t>0.11</a:t>
            </a:r>
            <a:endParaRPr lang="en-US" sz="1250" dirty="0"/>
          </a:p>
        </p:txBody>
      </p:sp>
      <p:sp>
        <p:nvSpPr>
          <p:cNvPr id="42" name="Shape 40"/>
          <p:cNvSpPr/>
          <p:nvPr/>
        </p:nvSpPr>
        <p:spPr>
          <a:xfrm>
            <a:off x="3291840" y="4800600"/>
            <a:ext cx="2011680" cy="310896"/>
          </a:xfrm>
          <a:prstGeom prst="roundRect">
            <a:avLst>
              <a:gd name="adj" fmla="val 11765"/>
            </a:avLst>
          </a:prstGeom>
          <a:solidFill>
            <a:srgbClr val="F6F7FB"/>
          </a:solidFill>
          <a:ln w="12700">
            <a:solidFill>
              <a:srgbClr val="D9DEEC"/>
            </a:solidFill>
            <a:prstDash val="solid"/>
          </a:ln>
        </p:spPr>
      </p:sp>
      <p:sp>
        <p:nvSpPr>
          <p:cNvPr id="43" name="Text 41"/>
          <p:cNvSpPr txBox="1"/>
          <p:nvPr/>
        </p:nvSpPr>
        <p:spPr>
          <a:xfrm>
            <a:off x="3291840" y="4800600"/>
            <a:ext cx="2011680" cy="310896"/>
          </a:xfrm>
          <a:prstGeom prst="rect">
            <a:avLst/>
          </a:prstGeom>
          <a:noFill/>
          <a:ln/>
        </p:spPr>
        <p:txBody>
          <a:bodyPr wrap="square" lIns="0" tIns="0" rIns="0" bIns="0" rtlCol="0" anchor="ctr"/>
          <a:lstStyle/>
          <a:p>
            <a:pPr algn="ctr" indent="0" marL="0">
              <a:buNone/>
            </a:pPr>
            <a:r>
              <a:rPr lang="en-US" sz="1250" dirty="0">
                <a:solidFill>
                  <a:srgbClr val="6B7280"/>
                </a:solidFill>
                <a:latin typeface="Calibri" pitchFamily="34" charset="0"/>
                <a:ea typeface="Calibri" pitchFamily="34" charset="-122"/>
                <a:cs typeface="Calibri" pitchFamily="34" charset="-120"/>
              </a:rPr>
              <a:t>window 3</a:t>
            </a:r>
            <a:endParaRPr lang="en-US" sz="1250" dirty="0"/>
          </a:p>
        </p:txBody>
      </p:sp>
      <p:sp>
        <p:nvSpPr>
          <p:cNvPr id="44" name="Text 42"/>
          <p:cNvSpPr txBox="1"/>
          <p:nvPr/>
        </p:nvSpPr>
        <p:spPr>
          <a:xfrm>
            <a:off x="5340096" y="4800600"/>
            <a:ext cx="502920" cy="310896"/>
          </a:xfrm>
          <a:prstGeom prst="rect">
            <a:avLst/>
          </a:prstGeom>
          <a:noFill/>
          <a:ln/>
        </p:spPr>
        <p:txBody>
          <a:bodyPr wrap="square" lIns="0" tIns="0" rIns="0" bIns="0" rtlCol="0" anchor="ctr"/>
          <a:lstStyle/>
          <a:p>
            <a:pPr indent="0" marL="0">
              <a:buNone/>
            </a:pPr>
            <a:r>
              <a:rPr lang="en-US" sz="1250" dirty="0">
                <a:solidFill>
                  <a:srgbClr val="C3C9DC"/>
                </a:solidFill>
                <a:latin typeface="Calibri" pitchFamily="34" charset="0"/>
                <a:ea typeface="Calibri" pitchFamily="34" charset="-122"/>
                <a:cs typeface="Calibri" pitchFamily="34" charset="-120"/>
              </a:rPr>
              <a:t>0.07</a:t>
            </a:r>
            <a:endParaRPr lang="en-US" sz="1250" dirty="0"/>
          </a:p>
        </p:txBody>
      </p:sp>
      <p:sp>
        <p:nvSpPr>
          <p:cNvPr id="45" name="Shape 43"/>
          <p:cNvSpPr/>
          <p:nvPr/>
        </p:nvSpPr>
        <p:spPr>
          <a:xfrm>
            <a:off x="4663440" y="5166360"/>
            <a:ext cx="2011680" cy="310896"/>
          </a:xfrm>
          <a:prstGeom prst="roundRect">
            <a:avLst>
              <a:gd name="adj" fmla="val 11765"/>
            </a:avLst>
          </a:prstGeom>
          <a:solidFill>
            <a:srgbClr val="EEF8F3"/>
          </a:solidFill>
          <a:ln w="12700">
            <a:solidFill>
              <a:srgbClr val="4CAF82"/>
            </a:solidFill>
            <a:prstDash val="solid"/>
          </a:ln>
        </p:spPr>
      </p:sp>
      <p:sp>
        <p:nvSpPr>
          <p:cNvPr id="46" name="Text 44"/>
          <p:cNvSpPr txBox="1"/>
          <p:nvPr/>
        </p:nvSpPr>
        <p:spPr>
          <a:xfrm>
            <a:off x="4663440" y="5166360"/>
            <a:ext cx="2011680" cy="310896"/>
          </a:xfrm>
          <a:prstGeom prst="rect">
            <a:avLst/>
          </a:prstGeom>
          <a:noFill/>
          <a:ln/>
        </p:spPr>
        <p:txBody>
          <a:bodyPr wrap="square" lIns="0" tIns="0" rIns="0" bIns="0" rtlCol="0" anchor="ctr"/>
          <a:lstStyle/>
          <a:p>
            <a:pPr algn="ctr" indent="0" marL="0">
              <a:buNone/>
            </a:pPr>
            <a:r>
              <a:rPr lang="en-US" sz="1250" dirty="0">
                <a:solidFill>
                  <a:srgbClr val="2E7D5B"/>
                </a:solidFill>
                <a:latin typeface="Calibri" pitchFamily="34" charset="0"/>
                <a:ea typeface="Calibri" pitchFamily="34" charset="-122"/>
                <a:cs typeface="Calibri" pitchFamily="34" charset="-120"/>
              </a:rPr>
              <a:t>window 4</a:t>
            </a:r>
            <a:endParaRPr lang="en-US" sz="1250" dirty="0"/>
          </a:p>
        </p:txBody>
      </p:sp>
      <p:sp>
        <p:nvSpPr>
          <p:cNvPr id="47" name="Text 45"/>
          <p:cNvSpPr txBox="1"/>
          <p:nvPr/>
        </p:nvSpPr>
        <p:spPr>
          <a:xfrm>
            <a:off x="6711696" y="5166360"/>
            <a:ext cx="502920" cy="310896"/>
          </a:xfrm>
          <a:prstGeom prst="rect">
            <a:avLst/>
          </a:prstGeom>
          <a:noFill/>
          <a:ln/>
        </p:spPr>
        <p:txBody>
          <a:bodyPr wrap="square" lIns="0" tIns="0" rIns="0" bIns="0" rtlCol="0" anchor="ctr"/>
          <a:lstStyle/>
          <a:p>
            <a:pPr indent="0" marL="0">
              <a:buNone/>
            </a:pPr>
            <a:r>
              <a:rPr lang="en-US" sz="1250" b="1" dirty="0">
                <a:solidFill>
                  <a:srgbClr val="4CAF82"/>
                </a:solidFill>
                <a:latin typeface="Calibri" pitchFamily="34" charset="0"/>
                <a:ea typeface="Calibri" pitchFamily="34" charset="-122"/>
                <a:cs typeface="Calibri" pitchFamily="34" charset="-120"/>
              </a:rPr>
              <a:t>0.91</a:t>
            </a:r>
            <a:endParaRPr lang="en-US" sz="1250" dirty="0"/>
          </a:p>
        </p:txBody>
      </p:sp>
      <p:sp>
        <p:nvSpPr>
          <p:cNvPr id="48" name="Text 46"/>
          <p:cNvSpPr txBox="1"/>
          <p:nvPr/>
        </p:nvSpPr>
        <p:spPr>
          <a:xfrm>
            <a:off x="548640" y="5559552"/>
            <a:ext cx="5303520" cy="274320"/>
          </a:xfrm>
          <a:prstGeom prst="rect">
            <a:avLst/>
          </a:prstGeom>
          <a:noFill/>
          <a:ln/>
        </p:spPr>
        <p:txBody>
          <a:bodyPr wrap="square" lIns="0" tIns="0" rIns="0" bIns="0" rtlCol="0" anchor="ctr"/>
          <a:lstStyle/>
          <a:p>
            <a:pPr indent="0" marL="0">
              <a:buNone/>
            </a:pPr>
            <a:r>
              <a:rPr lang="en-US" sz="1250" dirty="0">
                <a:solidFill>
                  <a:srgbClr val="6B7280"/>
                </a:solidFill>
                <a:latin typeface="Calibri" pitchFamily="34" charset="0"/>
                <a:ea typeface="Calibri" pitchFamily="34" charset="-122"/>
                <a:cs typeface="Calibri" pitchFamily="34" charset="-120"/>
              </a:rPr>
              <a:t>⋮  22 windows for a median contract, 226 for the longest</a:t>
            </a:r>
            <a:endParaRPr lang="en-US" sz="1250" dirty="0"/>
          </a:p>
        </p:txBody>
      </p:sp>
      <p:sp>
        <p:nvSpPr>
          <p:cNvPr id="49" name="Shape 47"/>
          <p:cNvSpPr/>
          <p:nvPr/>
        </p:nvSpPr>
        <p:spPr>
          <a:xfrm>
            <a:off x="5760720" y="4251960"/>
            <a:ext cx="2103120" cy="822960"/>
          </a:xfrm>
          <a:prstGeom prst="roundRect">
            <a:avLst>
              <a:gd name="adj" fmla="val 8889"/>
            </a:avLst>
          </a:prstGeom>
          <a:solidFill>
            <a:srgbClr val="1E2761"/>
          </a:solidFill>
          <a:ln w="12700">
            <a:solidFill>
              <a:srgbClr val="1E2761"/>
            </a:solidFill>
            <a:prstDash val="solid"/>
          </a:ln>
        </p:spPr>
      </p:sp>
      <p:sp>
        <p:nvSpPr>
          <p:cNvPr id="50" name="Text 48"/>
          <p:cNvSpPr txBox="1"/>
          <p:nvPr/>
        </p:nvSpPr>
        <p:spPr>
          <a:xfrm>
            <a:off x="5806440" y="4370832"/>
            <a:ext cx="2011680" cy="6400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max = 0.91</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 present</a:t>
            </a:r>
            <a:endParaRPr lang="en-US" sz="1400" dirty="0"/>
          </a:p>
        </p:txBody>
      </p:sp>
      <p:sp>
        <p:nvSpPr>
          <p:cNvPr id="51" name="Shape 49"/>
          <p:cNvSpPr/>
          <p:nvPr/>
        </p:nvSpPr>
        <p:spPr>
          <a:xfrm>
            <a:off x="8138160" y="3611880"/>
            <a:ext cx="3566160" cy="1280160"/>
          </a:xfrm>
          <a:prstGeom prst="roundRect">
            <a:avLst>
              <a:gd name="adj" fmla="val 5000"/>
            </a:avLst>
          </a:prstGeom>
          <a:solidFill>
            <a:srgbClr val="F6F7FB"/>
          </a:solidFill>
          <a:ln w="12700">
            <a:solidFill>
              <a:srgbClr val="E4E7F2"/>
            </a:solidFill>
            <a:prstDash val="solid"/>
          </a:ln>
        </p:spPr>
      </p:sp>
      <p:sp>
        <p:nvSpPr>
          <p:cNvPr id="52" name="Shape 50"/>
          <p:cNvSpPr/>
          <p:nvPr/>
        </p:nvSpPr>
        <p:spPr>
          <a:xfrm>
            <a:off x="8321040" y="3785616"/>
            <a:ext cx="256032" cy="256032"/>
          </a:xfrm>
          <a:prstGeom prst="ellipse">
            <a:avLst/>
          </a:prstGeom>
          <a:solidFill>
            <a:srgbClr val="4CAF82"/>
          </a:solidFill>
          <a:ln w="12700">
            <a:solidFill>
              <a:srgbClr val="4CAF82"/>
            </a:solidFill>
            <a:prstDash val="solid"/>
          </a:ln>
        </p:spPr>
      </p:sp>
      <p:sp>
        <p:nvSpPr>
          <p:cNvPr id="53" name="Text 51"/>
          <p:cNvSpPr txBox="1"/>
          <p:nvPr/>
        </p:nvSpPr>
        <p:spPr>
          <a:xfrm>
            <a:off x="8668512" y="3721608"/>
            <a:ext cx="2880360" cy="310896"/>
          </a:xfrm>
          <a:prstGeom prst="rect">
            <a:avLst/>
          </a:prstGeom>
          <a:noFill/>
          <a:ln/>
        </p:spPr>
        <p:txBody>
          <a:bodyPr wrap="square" lIns="0" tIns="0" rIns="0" bIns="0" rtlCol="0" anchor="ctr"/>
          <a:lstStyle/>
          <a:p>
            <a:pPr indent="0" marL="0">
              <a:buNone/>
            </a:pPr>
            <a:r>
              <a:rPr lang="en-US" sz="1550" b="1" dirty="0">
                <a:solidFill>
                  <a:srgbClr val="141B3D"/>
                </a:solidFill>
                <a:latin typeface="Calibri" pitchFamily="34" charset="0"/>
                <a:ea typeface="Calibri" pitchFamily="34" charset="-122"/>
                <a:cs typeface="Calibri" pitchFamily="34" charset="-120"/>
              </a:rPr>
              <a:t>Every clause is covered</a:t>
            </a:r>
            <a:endParaRPr lang="en-US" sz="1550" dirty="0"/>
          </a:p>
        </p:txBody>
      </p:sp>
      <p:sp>
        <p:nvSpPr>
          <p:cNvPr id="54" name="Text 52"/>
          <p:cNvSpPr txBox="1"/>
          <p:nvPr/>
        </p:nvSpPr>
        <p:spPr>
          <a:xfrm>
            <a:off x="8339328" y="4123944"/>
            <a:ext cx="3163824" cy="621792"/>
          </a:xfrm>
          <a:prstGeom prst="rect">
            <a:avLst/>
          </a:prstGeom>
          <a:noFill/>
          <a:ln/>
        </p:spPr>
        <p:txBody>
          <a:bodyPr wrap="square" lIns="0" tIns="0" rIns="0" bIns="0" rtlCol="0" anchor="ctr"/>
          <a:lstStyle/>
          <a:p>
            <a:pPr indent="0" marL="0">
              <a:buNone/>
            </a:pPr>
            <a:r>
              <a:rPr lang="en-US" sz="1350" dirty="0">
                <a:solidFill>
                  <a:srgbClr val="374151"/>
                </a:solidFill>
                <a:latin typeface="Calibri" pitchFamily="34" charset="0"/>
                <a:ea typeface="Calibri" pitchFamily="34" charset="-122"/>
                <a:cs typeface="Calibri" pitchFamily="34" charset="-120"/>
              </a:rPr>
              <a:t>Windows overlap by 500 characters, more than the median clause, so no clause falls between two windows.</a:t>
            </a:r>
            <a:endParaRPr lang="en-US" sz="1350" dirty="0"/>
          </a:p>
        </p:txBody>
      </p:sp>
      <p:sp>
        <p:nvSpPr>
          <p:cNvPr id="55" name="Shape 53"/>
          <p:cNvSpPr/>
          <p:nvPr/>
        </p:nvSpPr>
        <p:spPr>
          <a:xfrm>
            <a:off x="8138160" y="5029200"/>
            <a:ext cx="3566160" cy="1325880"/>
          </a:xfrm>
          <a:prstGeom prst="roundRect">
            <a:avLst>
              <a:gd name="adj" fmla="val 4828"/>
            </a:avLst>
          </a:prstGeom>
          <a:solidFill>
            <a:srgbClr val="F6F7FB"/>
          </a:solidFill>
          <a:ln w="12700">
            <a:solidFill>
              <a:srgbClr val="E4E7F2"/>
            </a:solidFill>
            <a:prstDash val="solid"/>
          </a:ln>
        </p:spPr>
      </p:sp>
      <p:sp>
        <p:nvSpPr>
          <p:cNvPr id="56" name="Shape 54"/>
          <p:cNvSpPr/>
          <p:nvPr/>
        </p:nvSpPr>
        <p:spPr>
          <a:xfrm>
            <a:off x="8321040" y="5202936"/>
            <a:ext cx="256032" cy="256032"/>
          </a:xfrm>
          <a:prstGeom prst="ellipse">
            <a:avLst/>
          </a:prstGeom>
          <a:solidFill>
            <a:srgbClr val="1E2761"/>
          </a:solidFill>
          <a:ln w="12700">
            <a:solidFill>
              <a:srgbClr val="1E2761"/>
            </a:solidFill>
            <a:prstDash val="solid"/>
          </a:ln>
        </p:spPr>
      </p:sp>
      <p:sp>
        <p:nvSpPr>
          <p:cNvPr id="57" name="Text 55"/>
          <p:cNvSpPr txBox="1"/>
          <p:nvPr/>
        </p:nvSpPr>
        <p:spPr>
          <a:xfrm>
            <a:off x="8668512" y="5138928"/>
            <a:ext cx="2880360" cy="310896"/>
          </a:xfrm>
          <a:prstGeom prst="rect">
            <a:avLst/>
          </a:prstGeom>
          <a:noFill/>
          <a:ln/>
        </p:spPr>
        <p:txBody>
          <a:bodyPr wrap="square" lIns="0" tIns="0" rIns="0" bIns="0" rtlCol="0" anchor="ctr"/>
          <a:lstStyle/>
          <a:p>
            <a:pPr indent="0" marL="0">
              <a:buNone/>
            </a:pPr>
            <a:r>
              <a:rPr lang="en-US" sz="1550" b="1" dirty="0">
                <a:solidFill>
                  <a:srgbClr val="141B3D"/>
                </a:solidFill>
                <a:latin typeface="Calibri" pitchFamily="34" charset="0"/>
                <a:ea typeface="Calibri" pitchFamily="34" charset="-122"/>
                <a:cs typeface="Calibri" pitchFamily="34" charset="-120"/>
              </a:rPr>
              <a:t>Two models must agree</a:t>
            </a:r>
            <a:endParaRPr lang="en-US" sz="1550" dirty="0"/>
          </a:p>
        </p:txBody>
      </p:sp>
      <p:sp>
        <p:nvSpPr>
          <p:cNvPr id="58" name="Text 56"/>
          <p:cNvSpPr txBox="1"/>
          <p:nvPr/>
        </p:nvSpPr>
        <p:spPr>
          <a:xfrm>
            <a:off x="8339328" y="5541264"/>
            <a:ext cx="3163824" cy="667512"/>
          </a:xfrm>
          <a:prstGeom prst="rect">
            <a:avLst/>
          </a:prstGeom>
          <a:noFill/>
          <a:ln/>
        </p:spPr>
        <p:txBody>
          <a:bodyPr wrap="square" lIns="0" tIns="0" rIns="0" bIns="0" rtlCol="0" anchor="ctr"/>
          <a:lstStyle/>
          <a:p>
            <a:pPr indent="0" marL="0">
              <a:buNone/>
            </a:pPr>
            <a:r>
              <a:rPr lang="en-US" sz="1350" dirty="0">
                <a:solidFill>
                  <a:srgbClr val="374151"/>
                </a:solidFill>
                <a:latin typeface="Calibri" pitchFamily="34" charset="0"/>
                <a:ea typeface="Calibri" pitchFamily="34" charset="-122"/>
                <a:cs typeface="Calibri" pitchFamily="34" charset="-120"/>
              </a:rPr>
              <a:t>The AND rule reports a category only when TF-IDF and DistilBERT both score at least 0.5, which removes many false alarms.</a:t>
            </a:r>
            <a:endParaRPr lang="en-US" sz="1350" dirty="0"/>
          </a:p>
        </p:txBody>
      </p:sp>
      <p:sp>
        <p:nvSpPr>
          <p:cNvPr id="59" name="Text 57"/>
          <p:cNvSpPr txBox="1"/>
          <p:nvPr/>
        </p:nvSpPr>
        <p:spPr>
          <a:xfrm>
            <a:off x="548640" y="5943600"/>
            <a:ext cx="7315200" cy="457200"/>
          </a:xfrm>
          <a:prstGeom prst="rect">
            <a:avLst/>
          </a:prstGeom>
          <a:noFill/>
          <a:ln/>
        </p:spPr>
        <p:txBody>
          <a:bodyPr wrap="square" rtlCol="0" anchor="ctr"/>
          <a:lstStyle/>
          <a:p>
            <a:pPr indent="0" marL="0">
              <a:buNone/>
            </a:pPr>
            <a:r>
              <a:rPr lang="en-US" sz="1300" i="1" dirty="0">
                <a:solidFill>
                  <a:srgbClr val="374151"/>
                </a:solidFill>
                <a:latin typeface="Calibri" pitchFamily="34" charset="0"/>
                <a:ea typeface="Calibri" pitchFamily="34" charset="-122"/>
                <a:cs typeface="Calibri" pitchFamily="34" charset="-120"/>
              </a:rPr>
              <a:t>Measured before training: a “search first” design could find at most 64.0% of clauses, so we read every window instead.</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548640" y="109728"/>
            <a:ext cx="2286000" cy="301752"/>
          </a:xfrm>
          <a:prstGeom prst="roundRect">
            <a:avLst>
              <a:gd name="adj" fmla="val 45455"/>
            </a:avLst>
          </a:prstGeom>
          <a:solidFill>
            <a:srgbClr val="CADCFC"/>
          </a:solidFill>
          <a:ln w="12700">
            <a:solidFill>
              <a:srgbClr val="CADCFC"/>
            </a:solidFill>
            <a:prstDash val="solid"/>
          </a:ln>
        </p:spPr>
      </p:sp>
      <p:sp>
        <p:nvSpPr>
          <p:cNvPr id="3" name="Text 1"/>
          <p:cNvSpPr txBox="1"/>
          <p:nvPr/>
        </p:nvSpPr>
        <p:spPr>
          <a:xfrm>
            <a:off x="548640" y="109728"/>
            <a:ext cx="2286000" cy="301752"/>
          </a:xfrm>
          <a:prstGeom prst="rect">
            <a:avLst/>
          </a:prstGeom>
          <a:noFill/>
          <a:ln/>
        </p:spPr>
        <p:txBody>
          <a:bodyPr wrap="square" lIns="0" tIns="0" rIns="0" bIns="0" rtlCol="0" anchor="ctr"/>
          <a:lstStyle/>
          <a:p>
            <a:pPr algn="ctr" indent="0" marL="0">
              <a:buNone/>
            </a:pPr>
            <a:r>
              <a:rPr lang="en-US" sz="1250" b="1" dirty="0">
                <a:solidFill>
                  <a:srgbClr val="1E2761"/>
                </a:solidFill>
                <a:latin typeface="Calibri" pitchFamily="34" charset="0"/>
                <a:ea typeface="Calibri" pitchFamily="34" charset="-122"/>
                <a:cs typeface="Calibri" pitchFamily="34" charset="-120"/>
              </a:rPr>
              <a:t>PIPELINE</a:t>
            </a:r>
            <a:endParaRPr lang="en-US" sz="1250" dirty="0"/>
          </a:p>
        </p:txBody>
      </p:sp>
      <p:sp>
        <p:nvSpPr>
          <p:cNvPr id="4" name="Text 2"/>
          <p:cNvSpPr txBox="1"/>
          <p:nvPr/>
        </p:nvSpPr>
        <p:spPr>
          <a:xfrm>
            <a:off x="563728" y="329184"/>
            <a:ext cx="11064240" cy="676656"/>
          </a:xfrm>
          <a:prstGeom prst="rect">
            <a:avLst/>
          </a:prstGeom>
          <a:noFill/>
          <a:ln/>
        </p:spPr>
        <p:txBody>
          <a:bodyPr wrap="square" rtlCol="0" anchor="ctr"/>
          <a:lstStyle/>
          <a:p>
            <a:pPr algn="ctr" indent="0" marL="0">
              <a:buNone/>
            </a:pPr>
            <a:r>
              <a:rPr lang="en-US" sz="3500" b="1" dirty="0">
                <a:solidFill>
                  <a:srgbClr val="141B3D"/>
                </a:solidFill>
                <a:latin typeface="Cambria" pitchFamily="34" charset="0"/>
                <a:ea typeface="Cambria" pitchFamily="34" charset="-122"/>
                <a:cs typeface="Cambria" pitchFamily="34" charset="-120"/>
              </a:rPr>
              <a:t>The risk layer</a:t>
            </a:r>
            <a:endParaRPr lang="en-US" sz="3500" dirty="0"/>
          </a:p>
        </p:txBody>
      </p:sp>
      <p:sp>
        <p:nvSpPr>
          <p:cNvPr id="5" name="Text 3"/>
          <p:cNvSpPr txBox="1"/>
          <p:nvPr/>
        </p:nvSpPr>
        <p:spPr>
          <a:xfrm>
            <a:off x="563728" y="1024128"/>
            <a:ext cx="11064240" cy="347472"/>
          </a:xfrm>
          <a:prstGeom prst="rect">
            <a:avLst/>
          </a:prstGeom>
          <a:noFill/>
          <a:ln/>
        </p:spPr>
        <p:txBody>
          <a:bodyPr wrap="square" rtlCol="0" anchor="ctr"/>
          <a:lstStyle/>
          <a:p>
            <a:pPr algn="ctr" indent="0" marL="0">
              <a:buNone/>
            </a:pPr>
            <a:r>
              <a:rPr lang="en-US" sz="1600" i="1" dirty="0">
                <a:solidFill>
                  <a:srgbClr val="6B7280"/>
                </a:solidFill>
                <a:latin typeface="Calibri" pitchFamily="34" charset="0"/>
                <a:ea typeface="Calibri" pitchFamily="34" charset="-122"/>
                <a:cs typeface="Calibri" pitchFamily="34" charset="-120"/>
              </a:rPr>
              <a:t>A fixed level for each of the 41 categories, judged from the weaker party's side</a:t>
            </a:r>
            <a:endParaRPr lang="en-US" sz="1600" dirty="0"/>
          </a:p>
        </p:txBody>
      </p:sp>
      <p:sp>
        <p:nvSpPr>
          <p:cNvPr id="7" name="Text 4"/>
          <p:cNvSpPr txBox="1"/>
          <p:nvPr/>
        </p:nvSpPr>
        <p:spPr>
          <a:xfrm>
            <a:off x="548640" y="4041648"/>
            <a:ext cx="6949440" cy="274320"/>
          </a:xfrm>
          <a:prstGeom prst="rect">
            <a:avLst/>
          </a:prstGeom>
          <a:noFill/>
          <a:ln/>
        </p:spPr>
        <p:txBody>
          <a:bodyPr wrap="square" lIns="0" tIns="0" rIns="0" bIns="0" rtlCol="0" anchor="ctr"/>
          <a:lstStyle/>
          <a:p>
            <a:pPr algn="ctr" indent="0" marL="0">
              <a:buNone/>
            </a:pPr>
            <a:r>
              <a:rPr lang="en-US" sz="1200" i="1" dirty="0">
                <a:solidFill>
                  <a:srgbClr val="6B7280"/>
                </a:solidFill>
                <a:latin typeface="Calibri" pitchFamily="34" charset="0"/>
                <a:ea typeface="Calibri" pitchFamily="34" charset="-122"/>
                <a:cs typeface="Calibri" pitchFamily="34" charset="-120"/>
              </a:rPr>
              <a:t>Number of categories at each risk level (full table in Appendix A)</a:t>
            </a:r>
            <a:endParaRPr lang="en-US" sz="1200" dirty="0"/>
          </a:p>
        </p:txBody>
      </p:sp>
      <p:sp>
        <p:nvSpPr>
          <p:cNvPr id="8" name="Shape 5"/>
          <p:cNvSpPr/>
          <p:nvPr/>
        </p:nvSpPr>
        <p:spPr>
          <a:xfrm>
            <a:off x="7772400" y="1371600"/>
            <a:ext cx="3931920" cy="1325880"/>
          </a:xfrm>
          <a:prstGeom prst="roundRect">
            <a:avLst>
              <a:gd name="adj" fmla="val 4828"/>
            </a:avLst>
          </a:prstGeom>
          <a:solidFill>
            <a:srgbClr val="F6F7FB"/>
          </a:solidFill>
          <a:ln w="12700">
            <a:solidFill>
              <a:srgbClr val="E4E7F2"/>
            </a:solidFill>
            <a:prstDash val="solid"/>
          </a:ln>
        </p:spPr>
      </p:sp>
      <p:sp>
        <p:nvSpPr>
          <p:cNvPr id="9" name="Shape 6"/>
          <p:cNvSpPr/>
          <p:nvPr/>
        </p:nvSpPr>
        <p:spPr>
          <a:xfrm>
            <a:off x="7955280" y="1545336"/>
            <a:ext cx="256032" cy="256032"/>
          </a:xfrm>
          <a:prstGeom prst="ellipse">
            <a:avLst/>
          </a:prstGeom>
          <a:solidFill>
            <a:srgbClr val="D94F5C"/>
          </a:solidFill>
          <a:ln w="12700">
            <a:solidFill>
              <a:srgbClr val="D94F5C"/>
            </a:solidFill>
            <a:prstDash val="solid"/>
          </a:ln>
        </p:spPr>
      </p:sp>
      <p:sp>
        <p:nvSpPr>
          <p:cNvPr id="10" name="Text 7"/>
          <p:cNvSpPr txBox="1"/>
          <p:nvPr/>
        </p:nvSpPr>
        <p:spPr>
          <a:xfrm>
            <a:off x="8302752" y="1481328"/>
            <a:ext cx="3246120" cy="310896"/>
          </a:xfrm>
          <a:prstGeom prst="rect">
            <a:avLst/>
          </a:prstGeom>
          <a:noFill/>
          <a:ln/>
        </p:spPr>
        <p:txBody>
          <a:bodyPr wrap="square" lIns="0" tIns="0" rIns="0" bIns="0" rtlCol="0" anchor="ctr"/>
          <a:lstStyle/>
          <a:p>
            <a:pPr indent="0" marL="0">
              <a:buNone/>
            </a:pPr>
            <a:r>
              <a:rPr lang="en-US" sz="1550" b="1" dirty="0">
                <a:solidFill>
                  <a:srgbClr val="141B3D"/>
                </a:solidFill>
                <a:latin typeface="Calibri" pitchFamily="34" charset="0"/>
                <a:ea typeface="Calibri" pitchFamily="34" charset="-122"/>
                <a:cs typeface="Calibri" pitchFamily="34" charset="-120"/>
              </a:rPr>
              <a:t>Five questions per category</a:t>
            </a:r>
            <a:endParaRPr lang="en-US" sz="1550" dirty="0"/>
          </a:p>
        </p:txBody>
      </p:sp>
      <p:sp>
        <p:nvSpPr>
          <p:cNvPr id="11" name="Text 8"/>
          <p:cNvSpPr txBox="1"/>
          <p:nvPr/>
        </p:nvSpPr>
        <p:spPr>
          <a:xfrm>
            <a:off x="7973568" y="1883664"/>
            <a:ext cx="3529584" cy="667512"/>
          </a:xfrm>
          <a:prstGeom prst="rect">
            <a:avLst/>
          </a:prstGeom>
          <a:noFill/>
          <a:ln/>
        </p:spPr>
        <p:txBody>
          <a:bodyPr wrap="square" lIns="0" tIns="0" rIns="0" bIns="0" rtlCol="0" anchor="ctr"/>
          <a:lstStyle/>
          <a:p>
            <a:pPr indent="0" marL="0">
              <a:buNone/>
            </a:pPr>
            <a:r>
              <a:rPr lang="en-US" sz="1350" dirty="0">
                <a:solidFill>
                  <a:srgbClr val="374151"/>
                </a:solidFill>
                <a:latin typeface="Calibri" pitchFamily="34" charset="0"/>
                <a:ea typeface="Calibri" pitchFamily="34" charset="-122"/>
                <a:cs typeface="Calibri" pitchFamily="34" charset="-120"/>
              </a:rPr>
              <a:t>Money at risk? Can it be undone? Limits on future freedom? One-sided? Does it last after the contract?</a:t>
            </a:r>
            <a:endParaRPr lang="en-US" sz="1350" dirty="0"/>
          </a:p>
        </p:txBody>
      </p:sp>
      <p:sp>
        <p:nvSpPr>
          <p:cNvPr id="12" name="Shape 9"/>
          <p:cNvSpPr/>
          <p:nvPr/>
        </p:nvSpPr>
        <p:spPr>
          <a:xfrm>
            <a:off x="7772400" y="2816352"/>
            <a:ext cx="3931920" cy="1353312"/>
          </a:xfrm>
          <a:prstGeom prst="roundRect">
            <a:avLst>
              <a:gd name="adj" fmla="val 4730"/>
            </a:avLst>
          </a:prstGeom>
          <a:solidFill>
            <a:srgbClr val="F6F7FB"/>
          </a:solidFill>
          <a:ln w="12700">
            <a:solidFill>
              <a:srgbClr val="E4E7F2"/>
            </a:solidFill>
            <a:prstDash val="solid"/>
          </a:ln>
        </p:spPr>
      </p:sp>
      <p:sp>
        <p:nvSpPr>
          <p:cNvPr id="13" name="Shape 10"/>
          <p:cNvSpPr/>
          <p:nvPr/>
        </p:nvSpPr>
        <p:spPr>
          <a:xfrm>
            <a:off x="7955280" y="2990088"/>
            <a:ext cx="256032" cy="256032"/>
          </a:xfrm>
          <a:prstGeom prst="ellipse">
            <a:avLst/>
          </a:prstGeom>
          <a:solidFill>
            <a:srgbClr val="E8A13A"/>
          </a:solidFill>
          <a:ln w="12700">
            <a:solidFill>
              <a:srgbClr val="E8A13A"/>
            </a:solidFill>
            <a:prstDash val="solid"/>
          </a:ln>
        </p:spPr>
      </p:sp>
      <p:sp>
        <p:nvSpPr>
          <p:cNvPr id="14" name="Text 11"/>
          <p:cNvSpPr txBox="1"/>
          <p:nvPr/>
        </p:nvSpPr>
        <p:spPr>
          <a:xfrm>
            <a:off x="8302752" y="2926080"/>
            <a:ext cx="3246120" cy="310896"/>
          </a:xfrm>
          <a:prstGeom prst="rect">
            <a:avLst/>
          </a:prstGeom>
          <a:noFill/>
          <a:ln/>
        </p:spPr>
        <p:txBody>
          <a:bodyPr wrap="square" lIns="0" tIns="0" rIns="0" bIns="0" rtlCol="0" anchor="ctr"/>
          <a:lstStyle/>
          <a:p>
            <a:pPr indent="0" marL="0">
              <a:buNone/>
            </a:pPr>
            <a:r>
              <a:rPr lang="en-US" sz="1550" b="1" dirty="0">
                <a:solidFill>
                  <a:srgbClr val="141B3D"/>
                </a:solidFill>
                <a:latin typeface="Calibri" pitchFamily="34" charset="0"/>
                <a:ea typeface="Calibri" pitchFamily="34" charset="-122"/>
                <a:cs typeface="Calibri" pitchFamily="34" charset="-120"/>
              </a:rPr>
              <a:t>The rule</a:t>
            </a:r>
            <a:endParaRPr lang="en-US" sz="1550" dirty="0"/>
          </a:p>
        </p:txBody>
      </p:sp>
      <p:sp>
        <p:nvSpPr>
          <p:cNvPr id="15" name="Text 12"/>
          <p:cNvSpPr txBox="1"/>
          <p:nvPr/>
        </p:nvSpPr>
        <p:spPr>
          <a:xfrm>
            <a:off x="7973568" y="3328416"/>
            <a:ext cx="3529584" cy="694944"/>
          </a:xfrm>
          <a:prstGeom prst="rect">
            <a:avLst/>
          </a:prstGeom>
          <a:noFill/>
          <a:ln/>
        </p:spPr>
        <p:txBody>
          <a:bodyPr wrap="square" lIns="0" tIns="0" rIns="0" bIns="0" rtlCol="0" anchor="ctr"/>
          <a:lstStyle/>
          <a:p>
            <a:pPr indent="0" marL="0">
              <a:buNone/>
            </a:pPr>
            <a:r>
              <a:rPr lang="en-US" sz="1350" dirty="0">
                <a:solidFill>
                  <a:srgbClr val="374151"/>
                </a:solidFill>
                <a:latin typeface="Calibri" pitchFamily="34" charset="0"/>
                <a:ea typeface="Calibri" pitchFamily="34" charset="-122"/>
                <a:cs typeface="Calibri" pitchFamily="34" charset="-120"/>
              </a:rPr>
              <a:t>High: no money limit, cannot be undone, or limits freedom later. Low: only records a fact. Medium: the rest.</a:t>
            </a:r>
            <a:endParaRPr lang="en-US" sz="1350" dirty="0"/>
          </a:p>
        </p:txBody>
      </p:sp>
      <p:sp>
        <p:nvSpPr>
          <p:cNvPr id="16" name="Shape 13"/>
          <p:cNvSpPr/>
          <p:nvPr/>
        </p:nvSpPr>
        <p:spPr>
          <a:xfrm>
            <a:off x="548640" y="4370832"/>
            <a:ext cx="11155680" cy="1353312"/>
          </a:xfrm>
          <a:prstGeom prst="roundRect">
            <a:avLst>
              <a:gd name="adj" fmla="val 4730"/>
            </a:avLst>
          </a:prstGeom>
          <a:solidFill>
            <a:srgbClr val="F6F7FB"/>
          </a:solidFill>
          <a:ln w="12700">
            <a:solidFill>
              <a:srgbClr val="E4E7F2"/>
            </a:solidFill>
            <a:prstDash val="solid"/>
          </a:ln>
        </p:spPr>
      </p:sp>
      <p:sp>
        <p:nvSpPr>
          <p:cNvPr id="17" name="Shape 14"/>
          <p:cNvSpPr/>
          <p:nvPr/>
        </p:nvSpPr>
        <p:spPr>
          <a:xfrm>
            <a:off x="731520" y="4544568"/>
            <a:ext cx="256032" cy="256032"/>
          </a:xfrm>
          <a:prstGeom prst="ellipse">
            <a:avLst/>
          </a:prstGeom>
          <a:solidFill>
            <a:srgbClr val="4CAF82"/>
          </a:solidFill>
          <a:ln w="12700">
            <a:solidFill>
              <a:srgbClr val="4CAF82"/>
            </a:solidFill>
            <a:prstDash val="solid"/>
          </a:ln>
        </p:spPr>
      </p:sp>
      <p:sp>
        <p:nvSpPr>
          <p:cNvPr id="18" name="Text 15"/>
          <p:cNvSpPr txBox="1"/>
          <p:nvPr/>
        </p:nvSpPr>
        <p:spPr>
          <a:xfrm>
            <a:off x="1078992" y="4480560"/>
            <a:ext cx="10469880" cy="310896"/>
          </a:xfrm>
          <a:prstGeom prst="rect">
            <a:avLst/>
          </a:prstGeom>
          <a:noFill/>
          <a:ln/>
        </p:spPr>
        <p:txBody>
          <a:bodyPr wrap="square" lIns="0" tIns="0" rIns="0" bIns="0" rtlCol="0" anchor="ctr"/>
          <a:lstStyle/>
          <a:p>
            <a:pPr indent="0" marL="0">
              <a:buNone/>
            </a:pPr>
            <a:r>
              <a:rPr lang="en-US" sz="1550" b="1" dirty="0">
                <a:solidFill>
                  <a:srgbClr val="141B3D"/>
                </a:solidFill>
                <a:latin typeface="Calibri" pitchFamily="34" charset="0"/>
                <a:ea typeface="Calibri" pitchFamily="34" charset="-122"/>
                <a:cs typeface="Calibri" pitchFamily="34" charset="-120"/>
              </a:rPr>
              <a:t>Examples, with a one-line reason shown in the app</a:t>
            </a:r>
            <a:endParaRPr lang="en-US" sz="1550" dirty="0"/>
          </a:p>
        </p:txBody>
      </p:sp>
      <p:sp>
        <p:nvSpPr>
          <p:cNvPr id="19" name="Text 16"/>
          <p:cNvSpPr txBox="1"/>
          <p:nvPr/>
        </p:nvSpPr>
        <p:spPr>
          <a:xfrm>
            <a:off x="749808" y="4882896"/>
            <a:ext cx="10753344" cy="694944"/>
          </a:xfrm>
          <a:prstGeom prst="rect">
            <a:avLst/>
          </a:prstGeom>
          <a:noFill/>
          <a:ln/>
        </p:spPr>
        <p:txBody>
          <a:bodyPr wrap="square" lIns="0" tIns="0" rIns="0" bIns="0" rtlCol="0" anchor="ctr"/>
          <a:lstStyle/>
          <a:p>
            <a:pPr indent="0" marL="0">
              <a:buNone/>
            </a:pPr>
            <a:r>
              <a:rPr lang="en-US" sz="1350" dirty="0">
                <a:solidFill>
                  <a:srgbClr val="374151"/>
                </a:solidFill>
                <a:latin typeface="Calibri" pitchFamily="34" charset="0"/>
                <a:ea typeface="Calibri" pitchFamily="34" charset="-122"/>
                <a:cs typeface="Calibri" pitchFamily="34" charset="-120"/>
              </a:rPr>
              <a:t>High: Uncapped Liability, Liquidated Damages, IP Ownership Assignment, Non-Compete. Medium: Cap on Liability, Anti-Assignment, Renewal Term. Low: Parties, Agreement Date, Governing Law.</a:t>
            </a:r>
            <a:endParaRPr lang="en-US" sz="1350" dirty="0"/>
          </a:p>
        </p:txBody>
      </p:sp>
      <p:sp>
        <p:nvSpPr>
          <p:cNvPr id="20" name="Text 17"/>
          <p:cNvSpPr txBox="1"/>
          <p:nvPr/>
        </p:nvSpPr>
        <p:spPr>
          <a:xfrm>
            <a:off x="548640" y="5870448"/>
            <a:ext cx="11155680" cy="566928"/>
          </a:xfrm>
          <a:prstGeom prst="rect">
            <a:avLst/>
          </a:prstGeom>
          <a:noFill/>
          <a:ln/>
        </p:spPr>
        <p:txBody>
          <a:bodyPr wrap="square" rtlCol="0" anchor="ctr"/>
          <a:lstStyle/>
          <a:p>
            <a:pPr indent="0" marL="0">
              <a:buNone/>
            </a:pPr>
            <a:r>
              <a:rPr lang="en-US" sz="1250" i="1" dirty="0">
                <a:solidFill>
                  <a:srgbClr val="374151"/>
                </a:solidFill>
                <a:latin typeface="Calibri" pitchFamily="34" charset="0"/>
                <a:ea typeface="Calibri" pitchFamily="34" charset="-122"/>
                <a:cs typeface="Calibri" pitchFamily="34" charset="-120"/>
              </a:rPr>
              <a:t>The weaker party is the side with less power over the wording, usually the side that did not write the contract. A lookup table can be checked line by line and never changes between versions.</a:t>
            </a:r>
            <a:endParaRPr lang="en-US" sz="1250" dirty="0"/>
          </a:p>
        </p:txBody>
      </p:sp>
      <p:graphicFrame>
        <p:nvGraphicFramePr>
          <p:cNvPr id="21" name="Chart 20"/>
          <p:cNvGraphicFramePr>
            <a:graphicFrameLocks noGrp="1"/>
          </p:cNvGraphicFramePr>
          <p:nvPr/>
        </p:nvGraphicFramePr>
        <p:xfrm>
          <a:off x="548640" y="1371600"/>
          <a:ext cx="6949440" cy="2651760"/>
        </p:xfrm>
        <a:graphic>
          <a:graphicData uri="http://schemas.openxmlformats.org/drawingml/2006/chart">
            <c:chart xmlns:c="http://schemas.openxmlformats.org/drawingml/2006/chart" r:id="rId4"/>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548640" y="109728"/>
            <a:ext cx="2286000" cy="301752"/>
          </a:xfrm>
          <a:prstGeom prst="roundRect">
            <a:avLst>
              <a:gd name="adj" fmla="val 45455"/>
            </a:avLst>
          </a:prstGeom>
          <a:solidFill>
            <a:srgbClr val="CADCFC"/>
          </a:solidFill>
          <a:ln w="12700">
            <a:solidFill>
              <a:srgbClr val="CADCFC"/>
            </a:solidFill>
            <a:prstDash val="solid"/>
          </a:ln>
        </p:spPr>
      </p:sp>
      <p:sp>
        <p:nvSpPr>
          <p:cNvPr id="3" name="Text 1"/>
          <p:cNvSpPr txBox="1"/>
          <p:nvPr/>
        </p:nvSpPr>
        <p:spPr>
          <a:xfrm>
            <a:off x="548640" y="109728"/>
            <a:ext cx="2286000" cy="301752"/>
          </a:xfrm>
          <a:prstGeom prst="rect">
            <a:avLst/>
          </a:prstGeom>
          <a:noFill/>
          <a:ln/>
        </p:spPr>
        <p:txBody>
          <a:bodyPr wrap="square" lIns="0" tIns="0" rIns="0" bIns="0" rtlCol="0" anchor="ctr"/>
          <a:lstStyle/>
          <a:p>
            <a:pPr algn="ctr" indent="0" marL="0">
              <a:buNone/>
            </a:pPr>
            <a:r>
              <a:rPr lang="en-US" sz="1250" b="1" dirty="0">
                <a:solidFill>
                  <a:srgbClr val="1E2761"/>
                </a:solidFill>
                <a:latin typeface="Calibri" pitchFamily="34" charset="0"/>
                <a:ea typeface="Calibri" pitchFamily="34" charset="-122"/>
                <a:cs typeface="Calibri" pitchFamily="34" charset="-120"/>
              </a:rPr>
              <a:t>TRAINING</a:t>
            </a:r>
            <a:endParaRPr lang="en-US" sz="1250" dirty="0"/>
          </a:p>
        </p:txBody>
      </p:sp>
      <p:sp>
        <p:nvSpPr>
          <p:cNvPr id="4" name="Text 2"/>
          <p:cNvSpPr txBox="1"/>
          <p:nvPr/>
        </p:nvSpPr>
        <p:spPr>
          <a:xfrm>
            <a:off x="563728" y="329184"/>
            <a:ext cx="11064240" cy="676656"/>
          </a:xfrm>
          <a:prstGeom prst="rect">
            <a:avLst/>
          </a:prstGeom>
          <a:noFill/>
          <a:ln/>
        </p:spPr>
        <p:txBody>
          <a:bodyPr wrap="square" rtlCol="0" anchor="ctr"/>
          <a:lstStyle/>
          <a:p>
            <a:pPr algn="ctr" indent="0" marL="0">
              <a:buNone/>
            </a:pPr>
            <a:r>
              <a:rPr lang="en-US" sz="3500" b="1" dirty="0">
                <a:solidFill>
                  <a:srgbClr val="141B3D"/>
                </a:solidFill>
                <a:latin typeface="Cambria" pitchFamily="34" charset="0"/>
                <a:ea typeface="Cambria" pitchFamily="34" charset="-122"/>
                <a:cs typeface="Cambria" pitchFamily="34" charset="-120"/>
              </a:rPr>
              <a:t>How we trained the three models</a:t>
            </a:r>
            <a:endParaRPr lang="en-US" sz="3500" dirty="0"/>
          </a:p>
        </p:txBody>
      </p:sp>
      <p:sp>
        <p:nvSpPr>
          <p:cNvPr id="5" name="Text 3"/>
          <p:cNvSpPr txBox="1"/>
          <p:nvPr/>
        </p:nvSpPr>
        <p:spPr>
          <a:xfrm>
            <a:off x="563728" y="1024128"/>
            <a:ext cx="11064240" cy="347472"/>
          </a:xfrm>
          <a:prstGeom prst="rect">
            <a:avLst/>
          </a:prstGeom>
          <a:noFill/>
          <a:ln/>
        </p:spPr>
        <p:txBody>
          <a:bodyPr wrap="square" rtlCol="0" anchor="ctr"/>
          <a:lstStyle/>
          <a:p>
            <a:pPr algn="ctr" indent="0" marL="0">
              <a:buNone/>
            </a:pPr>
            <a:r>
              <a:rPr lang="en-US" sz="1600" i="1" dirty="0">
                <a:solidFill>
                  <a:srgbClr val="6B7280"/>
                </a:solidFill>
                <a:latin typeface="Calibri" pitchFamily="34" charset="0"/>
                <a:ea typeface="Calibri" pitchFamily="34" charset="-122"/>
                <a:cs typeface="Calibri" pitchFamily="34" charset="-120"/>
              </a:rPr>
              <a:t>One Apple M4 laptop, standard settings, and the same 80/20 split for every model</a:t>
            </a:r>
            <a:endParaRPr lang="en-US" sz="1600" dirty="0"/>
          </a:p>
        </p:txBody>
      </p:sp>
      <p:sp>
        <p:nvSpPr>
          <p:cNvPr id="6" name="Shape 4"/>
          <p:cNvSpPr/>
          <p:nvPr/>
        </p:nvSpPr>
        <p:spPr>
          <a:xfrm>
            <a:off x="548640" y="1371600"/>
            <a:ext cx="6675120" cy="512064"/>
          </a:xfrm>
          <a:prstGeom prst="rect">
            <a:avLst/>
          </a:prstGeom>
          <a:solidFill>
            <a:srgbClr val="F6F7FB"/>
          </a:solidFill>
          <a:ln w="12700">
            <a:solidFill>
              <a:srgbClr val="E4E7F2"/>
            </a:solidFill>
            <a:prstDash val="solid"/>
          </a:ln>
        </p:spPr>
      </p:sp>
      <p:sp>
        <p:nvSpPr>
          <p:cNvPr id="7" name="Shape 5"/>
          <p:cNvSpPr/>
          <p:nvPr/>
        </p:nvSpPr>
        <p:spPr>
          <a:xfrm>
            <a:off x="713232" y="1499616"/>
            <a:ext cx="256032" cy="256032"/>
          </a:xfrm>
          <a:prstGeom prst="ellipse">
            <a:avLst/>
          </a:prstGeom>
          <a:solidFill>
            <a:srgbClr val="1E2761"/>
          </a:solidFill>
          <a:ln w="12700">
            <a:solidFill>
              <a:srgbClr val="1E2761"/>
            </a:solidFill>
            <a:prstDash val="solid"/>
          </a:ln>
        </p:spPr>
      </p:sp>
      <p:sp>
        <p:nvSpPr>
          <p:cNvPr id="8" name="Text 6"/>
          <p:cNvSpPr txBox="1"/>
          <p:nvPr/>
        </p:nvSpPr>
        <p:spPr>
          <a:xfrm>
            <a:off x="1078992" y="1371600"/>
            <a:ext cx="1463040" cy="512064"/>
          </a:xfrm>
          <a:prstGeom prst="rect">
            <a:avLst/>
          </a:prstGeom>
          <a:noFill/>
          <a:ln/>
        </p:spPr>
        <p:txBody>
          <a:bodyPr wrap="square" lIns="0" tIns="0" rIns="0" bIns="0" rtlCol="0" anchor="ctr"/>
          <a:lstStyle/>
          <a:p>
            <a:pPr indent="0" marL="0">
              <a:buNone/>
            </a:pPr>
            <a:r>
              <a:rPr lang="en-US" sz="1250" b="1" dirty="0">
                <a:solidFill>
                  <a:srgbClr val="141B3D"/>
                </a:solidFill>
                <a:latin typeface="Calibri" pitchFamily="34" charset="0"/>
                <a:ea typeface="Calibri" pitchFamily="34" charset="-122"/>
                <a:cs typeface="Calibri" pitchFamily="34" charset="-120"/>
              </a:rPr>
              <a:t>Presence</a:t>
            </a:r>
            <a:endParaRPr lang="en-US" sz="1250" dirty="0"/>
          </a:p>
        </p:txBody>
      </p:sp>
      <p:sp>
        <p:nvSpPr>
          <p:cNvPr id="9" name="Text 7"/>
          <p:cNvSpPr txBox="1"/>
          <p:nvPr/>
        </p:nvSpPr>
        <p:spPr>
          <a:xfrm>
            <a:off x="2514600" y="1371600"/>
            <a:ext cx="3749040" cy="512064"/>
          </a:xfrm>
          <a:prstGeom prst="rect">
            <a:avLst/>
          </a:prstGeom>
          <a:noFill/>
          <a:ln/>
        </p:spPr>
        <p:txBody>
          <a:bodyPr wrap="square" lIns="0" tIns="0" rIns="0" bIns="0" rtlCol="0" anchor="ctr"/>
          <a:lstStyle/>
          <a:p>
            <a:pPr indent="0" marL="0">
              <a:buNone/>
            </a:pPr>
            <a:r>
              <a:rPr lang="en-US" sz="1250" dirty="0">
                <a:solidFill>
                  <a:srgbClr val="374151"/>
                </a:solidFill>
                <a:latin typeface="Calibri" pitchFamily="34" charset="0"/>
                <a:ea typeface="Calibri" pitchFamily="34" charset="-122"/>
                <a:cs typeface="Calibri" pitchFamily="34" charset="-120"/>
              </a:rPr>
              <a:t>DistilBERT · 24,000 of 53,662 windows · LR 2e-5</a:t>
            </a:r>
            <a:endParaRPr lang="en-US" sz="1250" dirty="0"/>
          </a:p>
        </p:txBody>
      </p:sp>
      <p:sp>
        <p:nvSpPr>
          <p:cNvPr id="10" name="Text 8"/>
          <p:cNvSpPr txBox="1"/>
          <p:nvPr/>
        </p:nvSpPr>
        <p:spPr>
          <a:xfrm>
            <a:off x="6263640" y="1371600"/>
            <a:ext cx="868680" cy="512064"/>
          </a:xfrm>
          <a:prstGeom prst="rect">
            <a:avLst/>
          </a:prstGeom>
          <a:noFill/>
          <a:ln/>
        </p:spPr>
        <p:txBody>
          <a:bodyPr wrap="square" lIns="0" tIns="0" rIns="0" bIns="0" rtlCol="0" anchor="ctr"/>
          <a:lstStyle/>
          <a:p>
            <a:pPr indent="0" marL="0">
              <a:buNone/>
            </a:pPr>
            <a:r>
              <a:rPr lang="en-US" sz="1350" b="1" dirty="0">
                <a:solidFill>
                  <a:srgbClr val="141B3D"/>
                </a:solidFill>
                <a:latin typeface="Cambria" pitchFamily="34" charset="0"/>
                <a:ea typeface="Cambria" pitchFamily="34" charset="-122"/>
                <a:cs typeface="Cambria" pitchFamily="34" charset="-120"/>
              </a:rPr>
              <a:t>≈50 min</a:t>
            </a:r>
            <a:endParaRPr lang="en-US" sz="1350" dirty="0"/>
          </a:p>
        </p:txBody>
      </p:sp>
      <p:sp>
        <p:nvSpPr>
          <p:cNvPr id="11" name="Shape 9"/>
          <p:cNvSpPr/>
          <p:nvPr/>
        </p:nvSpPr>
        <p:spPr>
          <a:xfrm>
            <a:off x="548640" y="1938528"/>
            <a:ext cx="6675120" cy="512064"/>
          </a:xfrm>
          <a:prstGeom prst="rect">
            <a:avLst/>
          </a:prstGeom>
          <a:solidFill>
            <a:srgbClr val="FFFFFF"/>
          </a:solidFill>
          <a:ln w="12700">
            <a:solidFill>
              <a:srgbClr val="E4E7F2"/>
            </a:solidFill>
            <a:prstDash val="solid"/>
          </a:ln>
        </p:spPr>
      </p:sp>
      <p:sp>
        <p:nvSpPr>
          <p:cNvPr id="12" name="Shape 10"/>
          <p:cNvSpPr/>
          <p:nvPr/>
        </p:nvSpPr>
        <p:spPr>
          <a:xfrm>
            <a:off x="713232" y="2066544"/>
            <a:ext cx="256032" cy="256032"/>
          </a:xfrm>
          <a:prstGeom prst="ellipse">
            <a:avLst/>
          </a:prstGeom>
          <a:solidFill>
            <a:srgbClr val="1E2761"/>
          </a:solidFill>
          <a:ln w="12700">
            <a:solidFill>
              <a:srgbClr val="1E2761"/>
            </a:solidFill>
            <a:prstDash val="solid"/>
          </a:ln>
        </p:spPr>
      </p:sp>
      <p:sp>
        <p:nvSpPr>
          <p:cNvPr id="13" name="Text 11"/>
          <p:cNvSpPr txBox="1"/>
          <p:nvPr/>
        </p:nvSpPr>
        <p:spPr>
          <a:xfrm>
            <a:off x="1078992" y="1938528"/>
            <a:ext cx="1463040" cy="512064"/>
          </a:xfrm>
          <a:prstGeom prst="rect">
            <a:avLst/>
          </a:prstGeom>
          <a:noFill/>
          <a:ln/>
        </p:spPr>
        <p:txBody>
          <a:bodyPr wrap="square" lIns="0" tIns="0" rIns="0" bIns="0" rtlCol="0" anchor="ctr"/>
          <a:lstStyle/>
          <a:p>
            <a:pPr indent="0" marL="0">
              <a:buNone/>
            </a:pPr>
            <a:r>
              <a:rPr lang="en-US" sz="1250" b="1" dirty="0">
                <a:solidFill>
                  <a:srgbClr val="141B3D"/>
                </a:solidFill>
                <a:latin typeface="Calibri" pitchFamily="34" charset="0"/>
                <a:ea typeface="Calibri" pitchFamily="34" charset="-122"/>
                <a:cs typeface="Calibri" pitchFamily="34" charset="-120"/>
              </a:rPr>
              <a:t>Span</a:t>
            </a:r>
            <a:endParaRPr lang="en-US" sz="1250" dirty="0"/>
          </a:p>
        </p:txBody>
      </p:sp>
      <p:sp>
        <p:nvSpPr>
          <p:cNvPr id="14" name="Text 12"/>
          <p:cNvSpPr txBox="1"/>
          <p:nvPr/>
        </p:nvSpPr>
        <p:spPr>
          <a:xfrm>
            <a:off x="2514600" y="1938528"/>
            <a:ext cx="3749040" cy="512064"/>
          </a:xfrm>
          <a:prstGeom prst="rect">
            <a:avLst/>
          </a:prstGeom>
          <a:noFill/>
          <a:ln/>
        </p:spPr>
        <p:txBody>
          <a:bodyPr wrap="square" lIns="0" tIns="0" rIns="0" bIns="0" rtlCol="0" anchor="ctr"/>
          <a:lstStyle/>
          <a:p>
            <a:pPr indent="0" marL="0">
              <a:buNone/>
            </a:pPr>
            <a:r>
              <a:rPr lang="en-US" sz="1250" dirty="0">
                <a:solidFill>
                  <a:srgbClr val="374151"/>
                </a:solidFill>
                <a:latin typeface="Calibri" pitchFamily="34" charset="0"/>
                <a:ea typeface="Calibri" pitchFamily="34" charset="-122"/>
                <a:cs typeface="Calibri" pitchFamily="34" charset="-120"/>
              </a:rPr>
              <a:t>DistilBERT-QA · 8,000 of 11,156 · 320 tokens · LR 3e-5</a:t>
            </a:r>
            <a:endParaRPr lang="en-US" sz="1250" dirty="0"/>
          </a:p>
        </p:txBody>
      </p:sp>
      <p:sp>
        <p:nvSpPr>
          <p:cNvPr id="15" name="Text 13"/>
          <p:cNvSpPr txBox="1"/>
          <p:nvPr/>
        </p:nvSpPr>
        <p:spPr>
          <a:xfrm>
            <a:off x="6263640" y="1938528"/>
            <a:ext cx="868680" cy="512064"/>
          </a:xfrm>
          <a:prstGeom prst="rect">
            <a:avLst/>
          </a:prstGeom>
          <a:noFill/>
          <a:ln/>
        </p:spPr>
        <p:txBody>
          <a:bodyPr wrap="square" lIns="0" tIns="0" rIns="0" bIns="0" rtlCol="0" anchor="ctr"/>
          <a:lstStyle/>
          <a:p>
            <a:pPr indent="0" marL="0">
              <a:buNone/>
            </a:pPr>
            <a:r>
              <a:rPr lang="en-US" sz="1350" b="1" dirty="0">
                <a:solidFill>
                  <a:srgbClr val="141B3D"/>
                </a:solidFill>
                <a:latin typeface="Cambria" pitchFamily="34" charset="0"/>
                <a:ea typeface="Cambria" pitchFamily="34" charset="-122"/>
                <a:cs typeface="Cambria" pitchFamily="34" charset="-120"/>
              </a:rPr>
              <a:t>≈26 min</a:t>
            </a:r>
            <a:endParaRPr lang="en-US" sz="1350" dirty="0"/>
          </a:p>
        </p:txBody>
      </p:sp>
      <p:sp>
        <p:nvSpPr>
          <p:cNvPr id="16" name="Shape 14"/>
          <p:cNvSpPr/>
          <p:nvPr/>
        </p:nvSpPr>
        <p:spPr>
          <a:xfrm>
            <a:off x="548640" y="2505456"/>
            <a:ext cx="6675120" cy="512064"/>
          </a:xfrm>
          <a:prstGeom prst="rect">
            <a:avLst/>
          </a:prstGeom>
          <a:solidFill>
            <a:srgbClr val="F6F7FB"/>
          </a:solidFill>
          <a:ln w="12700">
            <a:solidFill>
              <a:srgbClr val="E4E7F2"/>
            </a:solidFill>
            <a:prstDash val="solid"/>
          </a:ln>
        </p:spPr>
      </p:sp>
      <p:sp>
        <p:nvSpPr>
          <p:cNvPr id="17" name="Shape 15"/>
          <p:cNvSpPr/>
          <p:nvPr/>
        </p:nvSpPr>
        <p:spPr>
          <a:xfrm>
            <a:off x="713232" y="2633472"/>
            <a:ext cx="256032" cy="256032"/>
          </a:xfrm>
          <a:prstGeom prst="ellipse">
            <a:avLst/>
          </a:prstGeom>
          <a:solidFill>
            <a:srgbClr val="E8A13A"/>
          </a:solidFill>
          <a:ln w="12700">
            <a:solidFill>
              <a:srgbClr val="E8A13A"/>
            </a:solidFill>
            <a:prstDash val="solid"/>
          </a:ln>
        </p:spPr>
      </p:sp>
      <p:sp>
        <p:nvSpPr>
          <p:cNvPr id="18" name="Text 16"/>
          <p:cNvSpPr txBox="1"/>
          <p:nvPr/>
        </p:nvSpPr>
        <p:spPr>
          <a:xfrm>
            <a:off x="1078992" y="2505456"/>
            <a:ext cx="1463040" cy="512064"/>
          </a:xfrm>
          <a:prstGeom prst="rect">
            <a:avLst/>
          </a:prstGeom>
          <a:noFill/>
          <a:ln/>
        </p:spPr>
        <p:txBody>
          <a:bodyPr wrap="square" lIns="0" tIns="0" rIns="0" bIns="0" rtlCol="0" anchor="ctr"/>
          <a:lstStyle/>
          <a:p>
            <a:pPr indent="0" marL="0">
              <a:buNone/>
            </a:pPr>
            <a:r>
              <a:rPr lang="en-US" sz="1250" b="1" dirty="0">
                <a:solidFill>
                  <a:srgbClr val="141B3D"/>
                </a:solidFill>
                <a:latin typeface="Calibri" pitchFamily="34" charset="0"/>
                <a:ea typeface="Calibri" pitchFamily="34" charset="-122"/>
                <a:cs typeface="Calibri" pitchFamily="34" charset="-120"/>
              </a:rPr>
              <a:t>Explanation</a:t>
            </a:r>
            <a:endParaRPr lang="en-US" sz="1250" dirty="0"/>
          </a:p>
        </p:txBody>
      </p:sp>
      <p:sp>
        <p:nvSpPr>
          <p:cNvPr id="19" name="Text 17"/>
          <p:cNvSpPr txBox="1"/>
          <p:nvPr/>
        </p:nvSpPr>
        <p:spPr>
          <a:xfrm>
            <a:off x="2514600" y="2505456"/>
            <a:ext cx="3749040" cy="512064"/>
          </a:xfrm>
          <a:prstGeom prst="rect">
            <a:avLst/>
          </a:prstGeom>
          <a:noFill/>
          <a:ln/>
        </p:spPr>
        <p:txBody>
          <a:bodyPr wrap="square" lIns="0" tIns="0" rIns="0" bIns="0" rtlCol="0" anchor="ctr"/>
          <a:lstStyle/>
          <a:p>
            <a:pPr indent="0" marL="0">
              <a:buNone/>
            </a:pPr>
            <a:r>
              <a:rPr lang="en-US" sz="1250" dirty="0">
                <a:solidFill>
                  <a:srgbClr val="374151"/>
                </a:solidFill>
                <a:latin typeface="Calibri" pitchFamily="34" charset="0"/>
                <a:ea typeface="Calibri" pitchFamily="34" charset="-122"/>
                <a:cs typeface="Calibri" pitchFamily="34" charset="-120"/>
              </a:rPr>
              <a:t>FLAN-T5-small · 4,000 of 11,156 · CPU · LR 3e-4</a:t>
            </a:r>
            <a:endParaRPr lang="en-US" sz="1250" dirty="0"/>
          </a:p>
        </p:txBody>
      </p:sp>
      <p:sp>
        <p:nvSpPr>
          <p:cNvPr id="20" name="Text 18"/>
          <p:cNvSpPr txBox="1"/>
          <p:nvPr/>
        </p:nvSpPr>
        <p:spPr>
          <a:xfrm>
            <a:off x="6263640" y="2505456"/>
            <a:ext cx="868680" cy="512064"/>
          </a:xfrm>
          <a:prstGeom prst="rect">
            <a:avLst/>
          </a:prstGeom>
          <a:noFill/>
          <a:ln/>
        </p:spPr>
        <p:txBody>
          <a:bodyPr wrap="square" lIns="0" tIns="0" rIns="0" bIns="0" rtlCol="0" anchor="ctr"/>
          <a:lstStyle/>
          <a:p>
            <a:pPr indent="0" marL="0">
              <a:buNone/>
            </a:pPr>
            <a:r>
              <a:rPr lang="en-US" sz="1350" b="1" dirty="0">
                <a:solidFill>
                  <a:srgbClr val="141B3D"/>
                </a:solidFill>
                <a:latin typeface="Cambria" pitchFamily="34" charset="0"/>
                <a:ea typeface="Cambria" pitchFamily="34" charset="-122"/>
                <a:cs typeface="Cambria" pitchFamily="34" charset="-120"/>
              </a:rPr>
              <a:t>≈13 min</a:t>
            </a:r>
            <a:endParaRPr lang="en-US" sz="1350" dirty="0"/>
          </a:p>
        </p:txBody>
      </p:sp>
      <p:pic>
        <p:nvPicPr>
          <p:cNvPr id="21" name="Image 0" descr="fig/lr_schedule.png">    </p:cNvPr>
          <p:cNvPicPr>
            <a:picLocks noChangeAspect="1"/>
          </p:cNvPicPr>
          <p:nvPr/>
        </p:nvPicPr>
        <p:blipFill>
          <a:blip r:embed="rId1"/>
          <a:stretch>
            <a:fillRect/>
          </a:stretch>
        </p:blipFill>
        <p:spPr>
          <a:xfrm>
            <a:off x="548640" y="3200400"/>
            <a:ext cx="6675120" cy="1883664"/>
          </a:xfrm>
          <a:prstGeom prst="rect">
            <a:avLst/>
          </a:prstGeom>
        </p:spPr>
      </p:pic>
      <p:sp>
        <p:nvSpPr>
          <p:cNvPr id="22" name="Text 19"/>
          <p:cNvSpPr txBox="1"/>
          <p:nvPr/>
        </p:nvSpPr>
        <p:spPr>
          <a:xfrm>
            <a:off x="548640" y="5102352"/>
            <a:ext cx="6675120" cy="274320"/>
          </a:xfrm>
          <a:prstGeom prst="rect">
            <a:avLst/>
          </a:prstGeom>
          <a:noFill/>
          <a:ln/>
        </p:spPr>
        <p:txBody>
          <a:bodyPr wrap="square" lIns="0" tIns="0" rIns="0" bIns="0" rtlCol="0" anchor="ctr"/>
          <a:lstStyle/>
          <a:p>
            <a:pPr algn="ctr" indent="0" marL="0">
              <a:buNone/>
            </a:pPr>
            <a:r>
              <a:rPr lang="en-US" sz="1200" i="1" dirty="0">
                <a:solidFill>
                  <a:srgbClr val="6B7280"/>
                </a:solidFill>
                <a:latin typeface="Calibri" pitchFamily="34" charset="0"/>
                <a:ea typeface="Calibri" pitchFamily="34" charset="-122"/>
                <a:cs typeface="Calibri" pitchFamily="34" charset="-120"/>
              </a:rPr>
              <a:t>Learning rate: linear decay, no warm-up, clipping at 1.0 (Fig. 4.9)</a:t>
            </a:r>
            <a:endParaRPr lang="en-US" sz="1200" dirty="0"/>
          </a:p>
        </p:txBody>
      </p:sp>
      <p:sp>
        <p:nvSpPr>
          <p:cNvPr id="23" name="Text 20"/>
          <p:cNvSpPr txBox="1"/>
          <p:nvPr/>
        </p:nvSpPr>
        <p:spPr>
          <a:xfrm>
            <a:off x="548640" y="5349240"/>
            <a:ext cx="6675120" cy="685800"/>
          </a:xfrm>
          <a:prstGeom prst="rect">
            <a:avLst/>
          </a:prstGeom>
          <a:noFill/>
          <a:ln/>
        </p:spPr>
        <p:txBody>
          <a:bodyPr wrap="square" rtlCol="0" anchor="ctr"/>
          <a:lstStyle/>
          <a:p>
            <a:pPr indent="0" marL="0">
              <a:buNone/>
            </a:pPr>
            <a:r>
              <a:rPr lang="en-US" sz="1300" i="1" dirty="0">
                <a:solidFill>
                  <a:srgbClr val="374151"/>
                </a:solidFill>
                <a:latin typeface="Calibri" pitchFamily="34" charset="0"/>
                <a:ea typeface="Calibri" pitchFamily="34" charset="-122"/>
                <a:cs typeface="Calibri" pitchFamily="34" charset="-120"/>
              </a:rPr>
              <a:t>Apple M4, 16 GB, Metal (MPS), no CUDA, two epochs each. Re-training in October 2026 reproduced the August scores to within 0.003.</a:t>
            </a:r>
            <a:endParaRPr lang="en-US" sz="1300" dirty="0"/>
          </a:p>
        </p:txBody>
      </p:sp>
      <p:sp>
        <p:nvSpPr>
          <p:cNvPr id="24" name="Shape 21"/>
          <p:cNvSpPr/>
          <p:nvPr/>
        </p:nvSpPr>
        <p:spPr>
          <a:xfrm>
            <a:off x="7498080" y="1371600"/>
            <a:ext cx="4206240" cy="1481328"/>
          </a:xfrm>
          <a:prstGeom prst="roundRect">
            <a:avLst>
              <a:gd name="adj" fmla="val 4321"/>
            </a:avLst>
          </a:prstGeom>
          <a:solidFill>
            <a:srgbClr val="F6F7FB"/>
          </a:solidFill>
          <a:ln w="12700">
            <a:solidFill>
              <a:srgbClr val="E4E7F2"/>
            </a:solidFill>
            <a:prstDash val="solid"/>
          </a:ln>
        </p:spPr>
      </p:sp>
      <p:sp>
        <p:nvSpPr>
          <p:cNvPr id="25" name="Shape 22"/>
          <p:cNvSpPr/>
          <p:nvPr/>
        </p:nvSpPr>
        <p:spPr>
          <a:xfrm>
            <a:off x="7680960" y="1545336"/>
            <a:ext cx="256032" cy="256032"/>
          </a:xfrm>
          <a:prstGeom prst="ellipse">
            <a:avLst/>
          </a:prstGeom>
          <a:solidFill>
            <a:srgbClr val="4CAF82"/>
          </a:solidFill>
          <a:ln w="12700">
            <a:solidFill>
              <a:srgbClr val="4CAF82"/>
            </a:solidFill>
            <a:prstDash val="solid"/>
          </a:ln>
        </p:spPr>
      </p:sp>
      <p:sp>
        <p:nvSpPr>
          <p:cNvPr id="26" name="Text 23"/>
          <p:cNvSpPr txBox="1"/>
          <p:nvPr/>
        </p:nvSpPr>
        <p:spPr>
          <a:xfrm>
            <a:off x="8028432" y="1481328"/>
            <a:ext cx="3520440" cy="310896"/>
          </a:xfrm>
          <a:prstGeom prst="rect">
            <a:avLst/>
          </a:prstGeom>
          <a:noFill/>
          <a:ln/>
        </p:spPr>
        <p:txBody>
          <a:bodyPr wrap="square" lIns="0" tIns="0" rIns="0" bIns="0" rtlCol="0" anchor="ctr"/>
          <a:lstStyle/>
          <a:p>
            <a:pPr indent="0" marL="0">
              <a:buNone/>
            </a:pPr>
            <a:r>
              <a:rPr lang="en-US" sz="1550" b="1" dirty="0">
                <a:solidFill>
                  <a:srgbClr val="141B3D"/>
                </a:solidFill>
                <a:latin typeface="Calibri" pitchFamily="34" charset="0"/>
                <a:ea typeface="Calibri" pitchFamily="34" charset="-122"/>
                <a:cs typeface="Calibri" pitchFamily="34" charset="-120"/>
              </a:rPr>
              <a:t>Baseline first</a:t>
            </a:r>
            <a:endParaRPr lang="en-US" sz="1550" dirty="0"/>
          </a:p>
        </p:txBody>
      </p:sp>
      <p:sp>
        <p:nvSpPr>
          <p:cNvPr id="27" name="Text 24"/>
          <p:cNvSpPr txBox="1"/>
          <p:nvPr/>
        </p:nvSpPr>
        <p:spPr>
          <a:xfrm>
            <a:off x="7699248" y="1883664"/>
            <a:ext cx="3803904" cy="822960"/>
          </a:xfrm>
          <a:prstGeom prst="rect">
            <a:avLst/>
          </a:prstGeom>
          <a:noFill/>
          <a:ln/>
        </p:spPr>
        <p:txBody>
          <a:bodyPr wrap="square" lIns="0" tIns="0" rIns="0" bIns="0" rtlCol="0" anchor="ctr"/>
          <a:lstStyle/>
          <a:p>
            <a:pPr indent="0" marL="0">
              <a:buNone/>
            </a:pPr>
            <a:r>
              <a:rPr lang="en-US" sz="1350" dirty="0">
                <a:solidFill>
                  <a:srgbClr val="374151"/>
                </a:solidFill>
                <a:latin typeface="Calibri" pitchFamily="34" charset="0"/>
                <a:ea typeface="Calibri" pitchFamily="34" charset="-122"/>
                <a:cs typeface="Calibri" pitchFamily="34" charset="-120"/>
              </a:rPr>
              <a:t>TF-IDF (20,000 word and word-pair features) with one logistic-regression model per category. Trains in under a minute; micro-F1 0.775.</a:t>
            </a:r>
            <a:endParaRPr lang="en-US" sz="1350" dirty="0"/>
          </a:p>
        </p:txBody>
      </p:sp>
      <p:sp>
        <p:nvSpPr>
          <p:cNvPr id="28" name="Shape 25"/>
          <p:cNvSpPr/>
          <p:nvPr/>
        </p:nvSpPr>
        <p:spPr>
          <a:xfrm>
            <a:off x="7498080" y="2971800"/>
            <a:ext cx="4206240" cy="1481328"/>
          </a:xfrm>
          <a:prstGeom prst="roundRect">
            <a:avLst>
              <a:gd name="adj" fmla="val 4321"/>
            </a:avLst>
          </a:prstGeom>
          <a:solidFill>
            <a:srgbClr val="F6F7FB"/>
          </a:solidFill>
          <a:ln w="12700">
            <a:solidFill>
              <a:srgbClr val="E4E7F2"/>
            </a:solidFill>
            <a:prstDash val="solid"/>
          </a:ln>
        </p:spPr>
      </p:sp>
      <p:sp>
        <p:nvSpPr>
          <p:cNvPr id="29" name="Shape 26"/>
          <p:cNvSpPr/>
          <p:nvPr/>
        </p:nvSpPr>
        <p:spPr>
          <a:xfrm>
            <a:off x="7680960" y="3145536"/>
            <a:ext cx="256032" cy="256032"/>
          </a:xfrm>
          <a:prstGeom prst="ellipse">
            <a:avLst/>
          </a:prstGeom>
          <a:solidFill>
            <a:srgbClr val="4CAF82"/>
          </a:solidFill>
          <a:ln w="12700">
            <a:solidFill>
              <a:srgbClr val="4CAF82"/>
            </a:solidFill>
            <a:prstDash val="solid"/>
          </a:ln>
        </p:spPr>
      </p:sp>
      <p:sp>
        <p:nvSpPr>
          <p:cNvPr id="30" name="Text 27"/>
          <p:cNvSpPr txBox="1"/>
          <p:nvPr/>
        </p:nvSpPr>
        <p:spPr>
          <a:xfrm>
            <a:off x="8028432" y="3081528"/>
            <a:ext cx="3520440" cy="310896"/>
          </a:xfrm>
          <a:prstGeom prst="rect">
            <a:avLst/>
          </a:prstGeom>
          <a:noFill/>
          <a:ln/>
        </p:spPr>
        <p:txBody>
          <a:bodyPr wrap="square" lIns="0" tIns="0" rIns="0" bIns="0" rtlCol="0" anchor="ctr"/>
          <a:lstStyle/>
          <a:p>
            <a:pPr indent="0" marL="0">
              <a:buNone/>
            </a:pPr>
            <a:r>
              <a:rPr lang="en-US" sz="1550" b="1" dirty="0">
                <a:solidFill>
                  <a:srgbClr val="141B3D"/>
                </a:solidFill>
                <a:latin typeface="Calibri" pitchFamily="34" charset="0"/>
                <a:ea typeface="Calibri" pitchFamily="34" charset="-122"/>
                <a:cs typeface="Calibri" pitchFamily="34" charset="-120"/>
              </a:rPr>
              <a:t>Healthy training</a:t>
            </a:r>
            <a:endParaRPr lang="en-US" sz="1550" dirty="0"/>
          </a:p>
        </p:txBody>
      </p:sp>
      <p:sp>
        <p:nvSpPr>
          <p:cNvPr id="31" name="Text 28"/>
          <p:cNvSpPr txBox="1"/>
          <p:nvPr/>
        </p:nvSpPr>
        <p:spPr>
          <a:xfrm>
            <a:off x="7699248" y="3483864"/>
            <a:ext cx="3803904" cy="822960"/>
          </a:xfrm>
          <a:prstGeom prst="rect">
            <a:avLst/>
          </a:prstGeom>
          <a:noFill/>
          <a:ln/>
        </p:spPr>
        <p:txBody>
          <a:bodyPr wrap="square" lIns="0" tIns="0" rIns="0" bIns="0" rtlCol="0" anchor="ctr"/>
          <a:lstStyle/>
          <a:p>
            <a:pPr indent="0" marL="0">
              <a:buNone/>
            </a:pPr>
            <a:r>
              <a:rPr lang="en-US" sz="1350" dirty="0">
                <a:solidFill>
                  <a:srgbClr val="374151"/>
                </a:solidFill>
                <a:latin typeface="Calibri" pitchFamily="34" charset="0"/>
                <a:ea typeface="Calibri" pitchFamily="34" charset="-122"/>
                <a:cs typeface="Calibri" pitchFamily="34" charset="-120"/>
              </a:rPr>
              <a:t>Presence loss fell from 0.57 to 0.26 and validation loss from 0.275 to 0.254, close to it, so no over-fitting. Summarizer loss 1.17 to 0.08.</a:t>
            </a:r>
            <a:endParaRPr lang="en-US" sz="1350" dirty="0"/>
          </a:p>
        </p:txBody>
      </p:sp>
      <p:sp>
        <p:nvSpPr>
          <p:cNvPr id="32" name="Shape 29"/>
          <p:cNvSpPr/>
          <p:nvPr/>
        </p:nvSpPr>
        <p:spPr>
          <a:xfrm>
            <a:off x="7498080" y="4517136"/>
            <a:ext cx="4206240" cy="1783080"/>
          </a:xfrm>
          <a:prstGeom prst="roundRect">
            <a:avLst>
              <a:gd name="adj" fmla="val 3590"/>
            </a:avLst>
          </a:prstGeom>
          <a:solidFill>
            <a:srgbClr val="F6F7FB"/>
          </a:solidFill>
          <a:ln w="12700">
            <a:solidFill>
              <a:srgbClr val="E4E7F2"/>
            </a:solidFill>
            <a:prstDash val="solid"/>
          </a:ln>
        </p:spPr>
      </p:sp>
      <p:sp>
        <p:nvSpPr>
          <p:cNvPr id="33" name="Shape 30"/>
          <p:cNvSpPr/>
          <p:nvPr/>
        </p:nvSpPr>
        <p:spPr>
          <a:xfrm>
            <a:off x="7680960" y="4690872"/>
            <a:ext cx="256032" cy="256032"/>
          </a:xfrm>
          <a:prstGeom prst="ellipse">
            <a:avLst/>
          </a:prstGeom>
          <a:solidFill>
            <a:srgbClr val="1E2761"/>
          </a:solidFill>
          <a:ln w="12700">
            <a:solidFill>
              <a:srgbClr val="1E2761"/>
            </a:solidFill>
            <a:prstDash val="solid"/>
          </a:ln>
        </p:spPr>
      </p:sp>
      <p:sp>
        <p:nvSpPr>
          <p:cNvPr id="34" name="Text 31"/>
          <p:cNvSpPr txBox="1"/>
          <p:nvPr/>
        </p:nvSpPr>
        <p:spPr>
          <a:xfrm>
            <a:off x="8028432" y="4626864"/>
            <a:ext cx="3520440" cy="310896"/>
          </a:xfrm>
          <a:prstGeom prst="rect">
            <a:avLst/>
          </a:prstGeom>
          <a:noFill/>
          <a:ln/>
        </p:spPr>
        <p:txBody>
          <a:bodyPr wrap="square" lIns="0" tIns="0" rIns="0" bIns="0" rtlCol="0" anchor="ctr"/>
          <a:lstStyle/>
          <a:p>
            <a:pPr indent="0" marL="0">
              <a:buNone/>
            </a:pPr>
            <a:r>
              <a:rPr lang="en-US" sz="1550" b="1" dirty="0">
                <a:solidFill>
                  <a:srgbClr val="141B3D"/>
                </a:solidFill>
                <a:latin typeface="Calibri" pitchFamily="34" charset="0"/>
                <a:ea typeface="Calibri" pitchFamily="34" charset="-122"/>
                <a:cs typeface="Calibri" pitchFamily="34" charset="-120"/>
              </a:rPr>
              <a:t>Nothing tuned on the test set</a:t>
            </a:r>
            <a:endParaRPr lang="en-US" sz="1550" dirty="0"/>
          </a:p>
        </p:txBody>
      </p:sp>
      <p:sp>
        <p:nvSpPr>
          <p:cNvPr id="35" name="Text 32"/>
          <p:cNvSpPr txBox="1"/>
          <p:nvPr/>
        </p:nvSpPr>
        <p:spPr>
          <a:xfrm>
            <a:off x="7699248" y="5029200"/>
            <a:ext cx="3803904" cy="1124712"/>
          </a:xfrm>
          <a:prstGeom prst="rect">
            <a:avLst/>
          </a:prstGeom>
          <a:noFill/>
          <a:ln/>
        </p:spPr>
        <p:txBody>
          <a:bodyPr wrap="square" lIns="0" tIns="0" rIns="0" bIns="0" rtlCol="0" anchor="ctr"/>
          <a:lstStyle/>
          <a:p>
            <a:pPr indent="0" marL="0">
              <a:buNone/>
            </a:pPr>
            <a:r>
              <a:rPr lang="en-US" sz="1350" dirty="0">
                <a:solidFill>
                  <a:srgbClr val="374151"/>
                </a:solidFill>
                <a:latin typeface="Calibri" pitchFamily="34" charset="0"/>
                <a:ea typeface="Calibri" pitchFamily="34" charset="-122"/>
                <a:cs typeface="Calibri" pitchFamily="34" charset="-120"/>
              </a:rPr>
              <a:t>Every setting is a standard default or fixed by reasoning before training. Presence kept 5% of its training windows for validation; the test set never chose anything.</a:t>
            </a:r>
            <a:endParaRPr lang="en-US" sz="13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548640" y="109728"/>
            <a:ext cx="2286000" cy="301752"/>
          </a:xfrm>
          <a:prstGeom prst="roundRect">
            <a:avLst>
              <a:gd name="adj" fmla="val 45455"/>
            </a:avLst>
          </a:prstGeom>
          <a:solidFill>
            <a:srgbClr val="D94F5C"/>
          </a:solidFill>
          <a:ln w="12700">
            <a:solidFill>
              <a:srgbClr val="D94F5C"/>
            </a:solidFill>
            <a:prstDash val="solid"/>
          </a:ln>
        </p:spPr>
      </p:sp>
      <p:sp>
        <p:nvSpPr>
          <p:cNvPr id="3" name="Text 1"/>
          <p:cNvSpPr txBox="1"/>
          <p:nvPr/>
        </p:nvSpPr>
        <p:spPr>
          <a:xfrm>
            <a:off x="548640" y="109728"/>
            <a:ext cx="2286000" cy="301752"/>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PROBLEMS</a:t>
            </a:r>
            <a:endParaRPr lang="en-US" sz="1250" dirty="0"/>
          </a:p>
        </p:txBody>
      </p:sp>
      <p:sp>
        <p:nvSpPr>
          <p:cNvPr id="4" name="Text 2"/>
          <p:cNvSpPr txBox="1"/>
          <p:nvPr/>
        </p:nvSpPr>
        <p:spPr>
          <a:xfrm>
            <a:off x="563728" y="329184"/>
            <a:ext cx="11064240" cy="676656"/>
          </a:xfrm>
          <a:prstGeom prst="rect">
            <a:avLst/>
          </a:prstGeom>
          <a:noFill/>
          <a:ln/>
        </p:spPr>
        <p:txBody>
          <a:bodyPr wrap="square" rtlCol="0" anchor="ctr"/>
          <a:lstStyle/>
          <a:p>
            <a:pPr algn="ctr" indent="0" marL="0">
              <a:buNone/>
            </a:pPr>
            <a:r>
              <a:rPr lang="en-US" sz="3500" b="1" dirty="0">
                <a:solidFill>
                  <a:srgbClr val="141B3D"/>
                </a:solidFill>
                <a:latin typeface="Cambria" pitchFamily="34" charset="0"/>
                <a:ea typeface="Cambria" pitchFamily="34" charset="-122"/>
                <a:cs typeface="Cambria" pitchFamily="34" charset="-120"/>
              </a:rPr>
              <a:t>Problems we met while building the models</a:t>
            </a:r>
            <a:endParaRPr lang="en-US" sz="3500" dirty="0"/>
          </a:p>
        </p:txBody>
      </p:sp>
      <p:sp>
        <p:nvSpPr>
          <p:cNvPr id="5" name="Text 3"/>
          <p:cNvSpPr txBox="1"/>
          <p:nvPr/>
        </p:nvSpPr>
        <p:spPr>
          <a:xfrm>
            <a:off x="563728" y="1024128"/>
            <a:ext cx="11064240" cy="347472"/>
          </a:xfrm>
          <a:prstGeom prst="rect">
            <a:avLst/>
          </a:prstGeom>
          <a:noFill/>
          <a:ln/>
        </p:spPr>
        <p:txBody>
          <a:bodyPr wrap="square" rtlCol="0" anchor="ctr"/>
          <a:lstStyle/>
          <a:p>
            <a:pPr algn="ctr" indent="0" marL="0">
              <a:buNone/>
            </a:pPr>
            <a:r>
              <a:rPr lang="en-US" sz="1600" i="1" dirty="0">
                <a:solidFill>
                  <a:srgbClr val="6B7280"/>
                </a:solidFill>
                <a:latin typeface="Calibri" pitchFamily="34" charset="0"/>
                <a:ea typeface="Calibri" pitchFamily="34" charset="-122"/>
                <a:cs typeface="Calibri" pitchFamily="34" charset="-120"/>
              </a:rPr>
              <a:t>Each one had a measured cause and a fix</a:t>
            </a:r>
            <a:endParaRPr lang="en-US" sz="1600" dirty="0"/>
          </a:p>
        </p:txBody>
      </p:sp>
      <p:sp>
        <p:nvSpPr>
          <p:cNvPr id="6" name="Shape 4"/>
          <p:cNvSpPr/>
          <p:nvPr/>
        </p:nvSpPr>
        <p:spPr>
          <a:xfrm>
            <a:off x="548640" y="1554480"/>
            <a:ext cx="11155680" cy="1197864"/>
          </a:xfrm>
          <a:prstGeom prst="roundRect">
            <a:avLst>
              <a:gd name="adj" fmla="val 4580"/>
            </a:avLst>
          </a:prstGeom>
          <a:solidFill>
            <a:srgbClr val="F6F7FB"/>
          </a:solidFill>
          <a:ln w="12700">
            <a:solidFill>
              <a:srgbClr val="E4E7F2"/>
            </a:solidFill>
            <a:prstDash val="solid"/>
          </a:ln>
        </p:spPr>
      </p:sp>
      <p:sp>
        <p:nvSpPr>
          <p:cNvPr id="7" name="Shape 5"/>
          <p:cNvSpPr/>
          <p:nvPr/>
        </p:nvSpPr>
        <p:spPr>
          <a:xfrm>
            <a:off x="777240" y="2002536"/>
            <a:ext cx="310896" cy="310896"/>
          </a:xfrm>
          <a:prstGeom prst="ellipse">
            <a:avLst/>
          </a:prstGeom>
          <a:solidFill>
            <a:srgbClr val="D94F5C"/>
          </a:solidFill>
          <a:ln w="12700">
            <a:solidFill>
              <a:srgbClr val="D94F5C"/>
            </a:solidFill>
            <a:prstDash val="solid"/>
          </a:ln>
        </p:spPr>
      </p:sp>
      <p:sp>
        <p:nvSpPr>
          <p:cNvPr id="8" name="Text 6"/>
          <p:cNvSpPr txBox="1"/>
          <p:nvPr/>
        </p:nvSpPr>
        <p:spPr>
          <a:xfrm>
            <a:off x="1234440" y="1673352"/>
            <a:ext cx="4480560" cy="960120"/>
          </a:xfrm>
          <a:prstGeom prst="rect">
            <a:avLst/>
          </a:prstGeom>
          <a:noFill/>
          <a:ln/>
        </p:spPr>
        <p:txBody>
          <a:bodyPr wrap="square" lIns="0" tIns="0" rIns="0" bIns="0" rtlCol="0" anchor="ctr"/>
          <a:lstStyle/>
          <a:p>
            <a:pPr indent="0" marL="0">
              <a:buNone/>
            </a:pPr>
            <a:r>
              <a:rPr lang="en-US" sz="1550" b="1" dirty="0">
                <a:solidFill>
                  <a:srgbClr val="141B3D"/>
                </a:solidFill>
                <a:latin typeface="Calibri" pitchFamily="34" charset="0"/>
                <a:ea typeface="Calibri" pitchFamily="34" charset="-122"/>
                <a:cs typeface="Calibri" pitchFamily="34" charset="-120"/>
              </a:rPr>
              <a:t>Contracts are 16× too long for a transformer</a:t>
            </a:r>
            <a:endParaRPr lang="en-US" sz="1550" dirty="0"/>
          </a:p>
        </p:txBody>
      </p:sp>
      <p:sp>
        <p:nvSpPr>
          <p:cNvPr id="9" name="Text 7"/>
          <p:cNvSpPr txBox="1"/>
          <p:nvPr/>
        </p:nvSpPr>
        <p:spPr>
          <a:xfrm>
            <a:off x="5897880" y="1673352"/>
            <a:ext cx="5623560" cy="960120"/>
          </a:xfrm>
          <a:prstGeom prst="rect">
            <a:avLst/>
          </a:prstGeom>
          <a:noFill/>
          <a:ln/>
        </p:spPr>
        <p:txBody>
          <a:bodyPr wrap="square" lIns="0" tIns="0" rIns="0" bIns="0" rtlCol="0" anchor="ctr"/>
          <a:lstStyle/>
          <a:p>
            <a:pPr indent="0" marL="0">
              <a:buNone/>
            </a:pPr>
            <a:r>
              <a:rPr lang="en-US" sz="1350" dirty="0">
                <a:solidFill>
                  <a:srgbClr val="374151"/>
                </a:solidFill>
                <a:latin typeface="Calibri" pitchFamily="34" charset="0"/>
                <a:ea typeface="Calibri" pitchFamily="34" charset="-122"/>
                <a:cs typeface="Calibri" pitchFamily="34" charset="-120"/>
              </a:rPr>
              <a:t>Read every overlapping window and keep the highest score. A “search first” design was measured first and rejected: it could reach only 64% of clauses.</a:t>
            </a:r>
            <a:endParaRPr lang="en-US" sz="1350" dirty="0"/>
          </a:p>
        </p:txBody>
      </p:sp>
      <p:sp>
        <p:nvSpPr>
          <p:cNvPr id="10" name="Shape 8"/>
          <p:cNvSpPr/>
          <p:nvPr/>
        </p:nvSpPr>
        <p:spPr>
          <a:xfrm>
            <a:off x="548640" y="2852928"/>
            <a:ext cx="11155680" cy="1197864"/>
          </a:xfrm>
          <a:prstGeom prst="roundRect">
            <a:avLst>
              <a:gd name="adj" fmla="val 4580"/>
            </a:avLst>
          </a:prstGeom>
          <a:solidFill>
            <a:srgbClr val="F6F7FB"/>
          </a:solidFill>
          <a:ln w="12700">
            <a:solidFill>
              <a:srgbClr val="E4E7F2"/>
            </a:solidFill>
            <a:prstDash val="solid"/>
          </a:ln>
        </p:spPr>
      </p:sp>
      <p:sp>
        <p:nvSpPr>
          <p:cNvPr id="11" name="Shape 9"/>
          <p:cNvSpPr/>
          <p:nvPr/>
        </p:nvSpPr>
        <p:spPr>
          <a:xfrm>
            <a:off x="777240" y="3300984"/>
            <a:ext cx="310896" cy="310896"/>
          </a:xfrm>
          <a:prstGeom prst="ellipse">
            <a:avLst/>
          </a:prstGeom>
          <a:solidFill>
            <a:srgbClr val="D94F5C"/>
          </a:solidFill>
          <a:ln w="12700">
            <a:solidFill>
              <a:srgbClr val="D94F5C"/>
            </a:solidFill>
            <a:prstDash val="solid"/>
          </a:ln>
        </p:spPr>
      </p:sp>
      <p:sp>
        <p:nvSpPr>
          <p:cNvPr id="12" name="Text 10"/>
          <p:cNvSpPr txBox="1"/>
          <p:nvPr/>
        </p:nvSpPr>
        <p:spPr>
          <a:xfrm>
            <a:off x="1234440" y="2971800"/>
            <a:ext cx="4480560" cy="960120"/>
          </a:xfrm>
          <a:prstGeom prst="rect">
            <a:avLst/>
          </a:prstGeom>
          <a:noFill/>
          <a:ln/>
        </p:spPr>
        <p:txBody>
          <a:bodyPr wrap="square" lIns="0" tIns="0" rIns="0" bIns="0" rtlCol="0" anchor="ctr"/>
          <a:lstStyle/>
          <a:p>
            <a:pPr indent="0" marL="0">
              <a:buNone/>
            </a:pPr>
            <a:r>
              <a:rPr lang="en-US" sz="1550" b="1" dirty="0">
                <a:solidFill>
                  <a:srgbClr val="141B3D"/>
                </a:solidFill>
                <a:latin typeface="Calibri" pitchFamily="34" charset="0"/>
                <a:ea typeface="Calibri" pitchFamily="34" charset="-122"/>
                <a:cs typeface="Calibri" pitchFamily="34" charset="-120"/>
              </a:rPr>
              <a:t>DeBERTa-v3 broke on the Apple GPU</a:t>
            </a:r>
            <a:endParaRPr lang="en-US" sz="1550" dirty="0"/>
          </a:p>
        </p:txBody>
      </p:sp>
      <p:sp>
        <p:nvSpPr>
          <p:cNvPr id="13" name="Text 11"/>
          <p:cNvSpPr txBox="1"/>
          <p:nvPr/>
        </p:nvSpPr>
        <p:spPr>
          <a:xfrm>
            <a:off x="5897880" y="2971800"/>
            <a:ext cx="5623560" cy="960120"/>
          </a:xfrm>
          <a:prstGeom prst="rect">
            <a:avLst/>
          </a:prstGeom>
          <a:noFill/>
          <a:ln/>
        </p:spPr>
        <p:txBody>
          <a:bodyPr wrap="square" lIns="0" tIns="0" rIns="0" bIns="0" rtlCol="0" anchor="ctr"/>
          <a:lstStyle/>
          <a:p>
            <a:pPr indent="0" marL="0">
              <a:buNone/>
            </a:pPr>
            <a:r>
              <a:rPr lang="en-US" sz="1350" dirty="0">
                <a:solidFill>
                  <a:srgbClr val="374151"/>
                </a:solidFill>
                <a:latin typeface="Calibri" pitchFamily="34" charset="0"/>
                <a:ea typeface="Calibri" pitchFamily="34" charset="-122"/>
                <a:cs typeface="Calibri" pitchFamily="34" charset="-120"/>
              </a:rPr>
              <a:t>It produced NaN gradients on MPS and took about 89 s per step on the CPU. We switched to DistilBERT; the method stayed the same.</a:t>
            </a:r>
            <a:endParaRPr lang="en-US" sz="1350" dirty="0"/>
          </a:p>
        </p:txBody>
      </p:sp>
      <p:sp>
        <p:nvSpPr>
          <p:cNvPr id="14" name="Shape 12"/>
          <p:cNvSpPr/>
          <p:nvPr/>
        </p:nvSpPr>
        <p:spPr>
          <a:xfrm>
            <a:off x="548640" y="4151376"/>
            <a:ext cx="11155680" cy="1197864"/>
          </a:xfrm>
          <a:prstGeom prst="roundRect">
            <a:avLst>
              <a:gd name="adj" fmla="val 4580"/>
            </a:avLst>
          </a:prstGeom>
          <a:solidFill>
            <a:srgbClr val="F6F7FB"/>
          </a:solidFill>
          <a:ln w="12700">
            <a:solidFill>
              <a:srgbClr val="E4E7F2"/>
            </a:solidFill>
            <a:prstDash val="solid"/>
          </a:ln>
        </p:spPr>
      </p:sp>
      <p:sp>
        <p:nvSpPr>
          <p:cNvPr id="15" name="Shape 13"/>
          <p:cNvSpPr/>
          <p:nvPr/>
        </p:nvSpPr>
        <p:spPr>
          <a:xfrm>
            <a:off x="777240" y="4599432"/>
            <a:ext cx="310896" cy="310896"/>
          </a:xfrm>
          <a:prstGeom prst="ellipse">
            <a:avLst/>
          </a:prstGeom>
          <a:solidFill>
            <a:srgbClr val="D94F5C"/>
          </a:solidFill>
          <a:ln w="12700">
            <a:solidFill>
              <a:srgbClr val="D94F5C"/>
            </a:solidFill>
            <a:prstDash val="solid"/>
          </a:ln>
        </p:spPr>
      </p:sp>
      <p:sp>
        <p:nvSpPr>
          <p:cNvPr id="16" name="Text 14"/>
          <p:cNvSpPr txBox="1"/>
          <p:nvPr/>
        </p:nvSpPr>
        <p:spPr>
          <a:xfrm>
            <a:off x="1234440" y="4270248"/>
            <a:ext cx="4480560" cy="960120"/>
          </a:xfrm>
          <a:prstGeom prst="rect">
            <a:avLst/>
          </a:prstGeom>
          <a:noFill/>
          <a:ln/>
        </p:spPr>
        <p:txBody>
          <a:bodyPr wrap="square" lIns="0" tIns="0" rIns="0" bIns="0" rtlCol="0" anchor="ctr"/>
          <a:lstStyle/>
          <a:p>
            <a:pPr indent="0" marL="0">
              <a:buNone/>
            </a:pPr>
            <a:r>
              <a:rPr lang="en-US" sz="1550" b="1" dirty="0">
                <a:solidFill>
                  <a:srgbClr val="141B3D"/>
                </a:solidFill>
                <a:latin typeface="Calibri" pitchFamily="34" charset="0"/>
                <a:ea typeface="Calibri" pitchFamily="34" charset="-122"/>
                <a:cs typeface="Calibri" pitchFamily="34" charset="-120"/>
              </a:rPr>
              <a:t>GPU memory was not freed between runs</a:t>
            </a:r>
            <a:endParaRPr lang="en-US" sz="1550" dirty="0"/>
          </a:p>
        </p:txBody>
      </p:sp>
      <p:sp>
        <p:nvSpPr>
          <p:cNvPr id="17" name="Text 15"/>
          <p:cNvSpPr txBox="1"/>
          <p:nvPr/>
        </p:nvSpPr>
        <p:spPr>
          <a:xfrm>
            <a:off x="5897880" y="4270248"/>
            <a:ext cx="5623560" cy="960120"/>
          </a:xfrm>
          <a:prstGeom prst="rect">
            <a:avLst/>
          </a:prstGeom>
          <a:noFill/>
          <a:ln/>
        </p:spPr>
        <p:txBody>
          <a:bodyPr wrap="square" lIns="0" tIns="0" rIns="0" bIns="0" rtlCol="0" anchor="ctr"/>
          <a:lstStyle/>
          <a:p>
            <a:pPr indent="0" marL="0">
              <a:buNone/>
            </a:pPr>
            <a:r>
              <a:rPr lang="en-US" sz="1350" dirty="0">
                <a:solidFill>
                  <a:srgbClr val="374151"/>
                </a:solidFill>
                <a:latin typeface="Calibri" pitchFamily="34" charset="0"/>
                <a:ea typeface="Calibri" pitchFamily="34" charset="-122"/>
                <a:cs typeface="Calibri" pitchFamily="34" charset="-120"/>
              </a:rPr>
              <a:t>We trained one model per program run and moved the small summarizer to the CPU.</a:t>
            </a:r>
            <a:endParaRPr lang="en-US" sz="1350" dirty="0"/>
          </a:p>
        </p:txBody>
      </p:sp>
      <p:sp>
        <p:nvSpPr>
          <p:cNvPr id="18" name="Shape 16"/>
          <p:cNvSpPr/>
          <p:nvPr/>
        </p:nvSpPr>
        <p:spPr>
          <a:xfrm>
            <a:off x="548640" y="5449824"/>
            <a:ext cx="11155680" cy="1197864"/>
          </a:xfrm>
          <a:prstGeom prst="roundRect">
            <a:avLst>
              <a:gd name="adj" fmla="val 4580"/>
            </a:avLst>
          </a:prstGeom>
          <a:solidFill>
            <a:srgbClr val="F6F7FB"/>
          </a:solidFill>
          <a:ln w="12700">
            <a:solidFill>
              <a:srgbClr val="E4E7F2"/>
            </a:solidFill>
            <a:prstDash val="solid"/>
          </a:ln>
        </p:spPr>
      </p:sp>
      <p:sp>
        <p:nvSpPr>
          <p:cNvPr id="19" name="Shape 17"/>
          <p:cNvSpPr/>
          <p:nvPr/>
        </p:nvSpPr>
        <p:spPr>
          <a:xfrm>
            <a:off x="777240" y="5897880"/>
            <a:ext cx="310896" cy="310896"/>
          </a:xfrm>
          <a:prstGeom prst="ellipse">
            <a:avLst/>
          </a:prstGeom>
          <a:solidFill>
            <a:srgbClr val="D94F5C"/>
          </a:solidFill>
          <a:ln w="12700">
            <a:solidFill>
              <a:srgbClr val="D94F5C"/>
            </a:solidFill>
            <a:prstDash val="solid"/>
          </a:ln>
        </p:spPr>
      </p:sp>
      <p:sp>
        <p:nvSpPr>
          <p:cNvPr id="20" name="Text 18"/>
          <p:cNvSpPr txBox="1"/>
          <p:nvPr/>
        </p:nvSpPr>
        <p:spPr>
          <a:xfrm>
            <a:off x="1234440" y="5568696"/>
            <a:ext cx="4480560" cy="960120"/>
          </a:xfrm>
          <a:prstGeom prst="rect">
            <a:avLst/>
          </a:prstGeom>
          <a:noFill/>
          <a:ln/>
        </p:spPr>
        <p:txBody>
          <a:bodyPr wrap="square" lIns="0" tIns="0" rIns="0" bIns="0" rtlCol="0" anchor="ctr"/>
          <a:lstStyle/>
          <a:p>
            <a:pPr indent="0" marL="0">
              <a:buNone/>
            </a:pPr>
            <a:r>
              <a:rPr lang="en-US" sz="1550" b="1" dirty="0">
                <a:solidFill>
                  <a:srgbClr val="141B3D"/>
                </a:solidFill>
                <a:latin typeface="Calibri" pitchFamily="34" charset="0"/>
                <a:ea typeface="Calibri" pitchFamily="34" charset="-122"/>
                <a:cs typeface="Calibri" pitchFamily="34" charset="-120"/>
              </a:rPr>
              <a:t>CUAD has no plain-English answers</a:t>
            </a:r>
            <a:endParaRPr lang="en-US" sz="1550" dirty="0"/>
          </a:p>
        </p:txBody>
      </p:sp>
      <p:sp>
        <p:nvSpPr>
          <p:cNvPr id="21" name="Text 19"/>
          <p:cNvSpPr txBox="1"/>
          <p:nvPr/>
        </p:nvSpPr>
        <p:spPr>
          <a:xfrm>
            <a:off x="5897880" y="5568696"/>
            <a:ext cx="5623560" cy="960120"/>
          </a:xfrm>
          <a:prstGeom prst="rect">
            <a:avLst/>
          </a:prstGeom>
          <a:noFill/>
          <a:ln/>
        </p:spPr>
        <p:txBody>
          <a:bodyPr wrap="square" lIns="0" tIns="0" rIns="0" bIns="0" rtlCol="0" anchor="ctr"/>
          <a:lstStyle/>
          <a:p>
            <a:pPr indent="0" marL="0">
              <a:buNone/>
            </a:pPr>
            <a:r>
              <a:rPr lang="en-US" sz="1350" dirty="0">
                <a:solidFill>
                  <a:srgbClr val="374151"/>
                </a:solidFill>
                <a:latin typeface="Calibri" pitchFamily="34" charset="0"/>
                <a:ea typeface="Calibri" pitchFamily="34" charset="-122"/>
                <a:cs typeface="Calibri" pitchFamily="34" charset="-120"/>
              </a:rPr>
              <a:t>We wrote 41 one-sentence explanations, one per category, from the weaker party's side, and fine-tuned FLAN-T5 on them.</a:t>
            </a:r>
            <a:endParaRPr lang="en-US" sz="13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548640" y="109728"/>
            <a:ext cx="2286000" cy="301752"/>
          </a:xfrm>
          <a:prstGeom prst="roundRect">
            <a:avLst>
              <a:gd name="adj" fmla="val 45455"/>
            </a:avLst>
          </a:prstGeom>
          <a:solidFill>
            <a:srgbClr val="D94F5C"/>
          </a:solidFill>
          <a:ln w="12700">
            <a:solidFill>
              <a:srgbClr val="D94F5C"/>
            </a:solidFill>
            <a:prstDash val="solid"/>
          </a:ln>
        </p:spPr>
      </p:sp>
      <p:sp>
        <p:nvSpPr>
          <p:cNvPr id="3" name="Text 1"/>
          <p:cNvSpPr txBox="1"/>
          <p:nvPr/>
        </p:nvSpPr>
        <p:spPr>
          <a:xfrm>
            <a:off x="548640" y="109728"/>
            <a:ext cx="2286000" cy="301752"/>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PROBLEMS</a:t>
            </a:r>
            <a:endParaRPr lang="en-US" sz="1250" dirty="0"/>
          </a:p>
        </p:txBody>
      </p:sp>
      <p:sp>
        <p:nvSpPr>
          <p:cNvPr id="4" name="Text 2"/>
          <p:cNvSpPr txBox="1"/>
          <p:nvPr/>
        </p:nvSpPr>
        <p:spPr>
          <a:xfrm>
            <a:off x="563728" y="329184"/>
            <a:ext cx="11064240" cy="676656"/>
          </a:xfrm>
          <a:prstGeom prst="rect">
            <a:avLst/>
          </a:prstGeom>
          <a:noFill/>
          <a:ln/>
        </p:spPr>
        <p:txBody>
          <a:bodyPr wrap="square" rtlCol="0" anchor="ctr"/>
          <a:lstStyle/>
          <a:p>
            <a:pPr algn="ctr" indent="0" marL="0">
              <a:buNone/>
            </a:pPr>
            <a:r>
              <a:rPr lang="en-US" sz="3500" b="1" dirty="0">
                <a:solidFill>
                  <a:srgbClr val="141B3D"/>
                </a:solidFill>
                <a:latin typeface="Cambria" pitchFamily="34" charset="0"/>
                <a:ea typeface="Cambria" pitchFamily="34" charset="-122"/>
                <a:cs typeface="Cambria" pitchFamily="34" charset="-120"/>
              </a:rPr>
              <a:t>Problems we met while building the app</a:t>
            </a:r>
            <a:endParaRPr lang="en-US" sz="3500" dirty="0"/>
          </a:p>
        </p:txBody>
      </p:sp>
      <p:sp>
        <p:nvSpPr>
          <p:cNvPr id="5" name="Text 3"/>
          <p:cNvSpPr txBox="1"/>
          <p:nvPr/>
        </p:nvSpPr>
        <p:spPr>
          <a:xfrm>
            <a:off x="563728" y="1024128"/>
            <a:ext cx="11064240" cy="347472"/>
          </a:xfrm>
          <a:prstGeom prst="rect">
            <a:avLst/>
          </a:prstGeom>
          <a:noFill/>
          <a:ln/>
        </p:spPr>
        <p:txBody>
          <a:bodyPr wrap="square" rtlCol="0" anchor="ctr"/>
          <a:lstStyle/>
          <a:p>
            <a:pPr algn="ctr" indent="0" marL="0">
              <a:buNone/>
            </a:pPr>
            <a:r>
              <a:rPr lang="en-US" sz="1600" i="1" dirty="0">
                <a:solidFill>
                  <a:srgbClr val="6B7280"/>
                </a:solidFill>
                <a:latin typeface="Calibri" pitchFamily="34" charset="0"/>
                <a:ea typeface="Calibri" pitchFamily="34" charset="-122"/>
                <a:cs typeface="Calibri" pitchFamily="34" charset="-120"/>
              </a:rPr>
              <a:t>Found by testing the app on real inputs, then fixed and re-tested</a:t>
            </a:r>
            <a:endParaRPr lang="en-US" sz="1600" dirty="0"/>
          </a:p>
        </p:txBody>
      </p:sp>
      <p:sp>
        <p:nvSpPr>
          <p:cNvPr id="6" name="Shape 4"/>
          <p:cNvSpPr/>
          <p:nvPr/>
        </p:nvSpPr>
        <p:spPr>
          <a:xfrm>
            <a:off x="548640" y="1554480"/>
            <a:ext cx="11155680" cy="1197864"/>
          </a:xfrm>
          <a:prstGeom prst="roundRect">
            <a:avLst>
              <a:gd name="adj" fmla="val 4580"/>
            </a:avLst>
          </a:prstGeom>
          <a:solidFill>
            <a:srgbClr val="F6F7FB"/>
          </a:solidFill>
          <a:ln w="12700">
            <a:solidFill>
              <a:srgbClr val="E4E7F2"/>
            </a:solidFill>
            <a:prstDash val="solid"/>
          </a:ln>
        </p:spPr>
      </p:sp>
      <p:sp>
        <p:nvSpPr>
          <p:cNvPr id="7" name="Shape 5"/>
          <p:cNvSpPr/>
          <p:nvPr/>
        </p:nvSpPr>
        <p:spPr>
          <a:xfrm>
            <a:off x="777240" y="2002536"/>
            <a:ext cx="310896" cy="310896"/>
          </a:xfrm>
          <a:prstGeom prst="ellipse">
            <a:avLst/>
          </a:prstGeom>
          <a:solidFill>
            <a:srgbClr val="D94F5C"/>
          </a:solidFill>
          <a:ln w="12700">
            <a:solidFill>
              <a:srgbClr val="D94F5C"/>
            </a:solidFill>
            <a:prstDash val="solid"/>
          </a:ln>
        </p:spPr>
      </p:sp>
      <p:sp>
        <p:nvSpPr>
          <p:cNvPr id="8" name="Text 6"/>
          <p:cNvSpPr txBox="1"/>
          <p:nvPr/>
        </p:nvSpPr>
        <p:spPr>
          <a:xfrm>
            <a:off x="1234440" y="1673352"/>
            <a:ext cx="4480560" cy="960120"/>
          </a:xfrm>
          <a:prstGeom prst="rect">
            <a:avLst/>
          </a:prstGeom>
          <a:noFill/>
          <a:ln/>
        </p:spPr>
        <p:txBody>
          <a:bodyPr wrap="square" lIns="0" tIns="0" rIns="0" bIns="0" rtlCol="0" anchor="ctr"/>
          <a:lstStyle/>
          <a:p>
            <a:pPr indent="0" marL="0">
              <a:buNone/>
            </a:pPr>
            <a:r>
              <a:rPr lang="en-US" sz="1550" b="1" dirty="0">
                <a:solidFill>
                  <a:srgbClr val="141B3D"/>
                </a:solidFill>
                <a:latin typeface="Calibri" pitchFamily="34" charset="0"/>
                <a:ea typeface="Calibri" pitchFamily="34" charset="-122"/>
                <a:cs typeface="Calibri" pitchFamily="34" charset="-120"/>
              </a:rPr>
              <a:t>A list of 6 clauses gave 14 cards</a:t>
            </a:r>
            <a:endParaRPr lang="en-US" sz="1550" dirty="0"/>
          </a:p>
        </p:txBody>
      </p:sp>
      <p:sp>
        <p:nvSpPr>
          <p:cNvPr id="9" name="Text 7"/>
          <p:cNvSpPr txBox="1"/>
          <p:nvPr/>
        </p:nvSpPr>
        <p:spPr>
          <a:xfrm>
            <a:off x="5897880" y="1673352"/>
            <a:ext cx="5623560" cy="960120"/>
          </a:xfrm>
          <a:prstGeom prst="rect">
            <a:avLst/>
          </a:prstGeom>
          <a:noFill/>
          <a:ln/>
        </p:spPr>
        <p:txBody>
          <a:bodyPr wrap="square" lIns="0" tIns="0" rIns="0" bIns="0" rtlCol="0" anchor="ctr"/>
          <a:lstStyle/>
          <a:p>
            <a:pPr indent="0" marL="0">
              <a:buNone/>
            </a:pPr>
            <a:r>
              <a:rPr lang="en-US" sz="1350" dirty="0">
                <a:solidFill>
                  <a:srgbClr val="374151"/>
                </a:solidFill>
                <a:latin typeface="Calibri" pitchFamily="34" charset="0"/>
                <a:ea typeface="Calibri" pitchFamily="34" charset="-122"/>
                <a:cs typeface="Calibri" pitchFamily="34" charset="-120"/>
              </a:rPr>
              <a:t>We added a clause mode in which each paragraph gets exactly one category and one card. A contract with 18 numbered clauses now gives 18 cards.</a:t>
            </a:r>
            <a:endParaRPr lang="en-US" sz="1350" dirty="0"/>
          </a:p>
        </p:txBody>
      </p:sp>
      <p:sp>
        <p:nvSpPr>
          <p:cNvPr id="10" name="Shape 8"/>
          <p:cNvSpPr/>
          <p:nvPr/>
        </p:nvSpPr>
        <p:spPr>
          <a:xfrm>
            <a:off x="548640" y="2852928"/>
            <a:ext cx="11155680" cy="1197864"/>
          </a:xfrm>
          <a:prstGeom prst="roundRect">
            <a:avLst>
              <a:gd name="adj" fmla="val 4580"/>
            </a:avLst>
          </a:prstGeom>
          <a:solidFill>
            <a:srgbClr val="F6F7FB"/>
          </a:solidFill>
          <a:ln w="12700">
            <a:solidFill>
              <a:srgbClr val="E4E7F2"/>
            </a:solidFill>
            <a:prstDash val="solid"/>
          </a:ln>
        </p:spPr>
      </p:sp>
      <p:sp>
        <p:nvSpPr>
          <p:cNvPr id="11" name="Shape 9"/>
          <p:cNvSpPr/>
          <p:nvPr/>
        </p:nvSpPr>
        <p:spPr>
          <a:xfrm>
            <a:off x="777240" y="3300984"/>
            <a:ext cx="310896" cy="310896"/>
          </a:xfrm>
          <a:prstGeom prst="ellipse">
            <a:avLst/>
          </a:prstGeom>
          <a:solidFill>
            <a:srgbClr val="D94F5C"/>
          </a:solidFill>
          <a:ln w="12700">
            <a:solidFill>
              <a:srgbClr val="D94F5C"/>
            </a:solidFill>
            <a:prstDash val="solid"/>
          </a:ln>
        </p:spPr>
      </p:sp>
      <p:sp>
        <p:nvSpPr>
          <p:cNvPr id="12" name="Text 10"/>
          <p:cNvSpPr txBox="1"/>
          <p:nvPr/>
        </p:nvSpPr>
        <p:spPr>
          <a:xfrm>
            <a:off x="1234440" y="2971800"/>
            <a:ext cx="4480560" cy="960120"/>
          </a:xfrm>
          <a:prstGeom prst="rect">
            <a:avLst/>
          </a:prstGeom>
          <a:noFill/>
          <a:ln/>
        </p:spPr>
        <p:txBody>
          <a:bodyPr wrap="square" lIns="0" tIns="0" rIns="0" bIns="0" rtlCol="0" anchor="ctr"/>
          <a:lstStyle/>
          <a:p>
            <a:pPr indent="0" marL="0">
              <a:buNone/>
            </a:pPr>
            <a:r>
              <a:rPr lang="en-US" sz="1550" b="1" dirty="0">
                <a:solidFill>
                  <a:srgbClr val="141B3D"/>
                </a:solidFill>
                <a:latin typeface="Calibri" pitchFamily="34" charset="0"/>
                <a:ea typeface="Calibri" pitchFamily="34" charset="-122"/>
                <a:cs typeface="Calibri" pitchFamily="34" charset="-120"/>
              </a:rPr>
              <a:t>Scores were not comparable across categories</a:t>
            </a:r>
            <a:endParaRPr lang="en-US" sz="1550" dirty="0"/>
          </a:p>
        </p:txBody>
      </p:sp>
      <p:sp>
        <p:nvSpPr>
          <p:cNvPr id="13" name="Text 11"/>
          <p:cNvSpPr txBox="1"/>
          <p:nvPr/>
        </p:nvSpPr>
        <p:spPr>
          <a:xfrm>
            <a:off x="5897880" y="2971800"/>
            <a:ext cx="5623560" cy="960120"/>
          </a:xfrm>
          <a:prstGeom prst="rect">
            <a:avLst/>
          </a:prstGeom>
          <a:noFill/>
          <a:ln/>
        </p:spPr>
        <p:txBody>
          <a:bodyPr wrap="square" lIns="0" tIns="0" rIns="0" bIns="0" rtlCol="0" anchor="ctr"/>
          <a:lstStyle/>
          <a:p>
            <a:pPr indent="0" marL="0">
              <a:buNone/>
            </a:pPr>
            <a:r>
              <a:rPr lang="en-US" sz="1350" dirty="0">
                <a:solidFill>
                  <a:srgbClr val="374151"/>
                </a:solidFill>
                <a:latin typeface="Calibri" pitchFamily="34" charset="0"/>
                <a:ea typeface="Calibri" pitchFamily="34" charset="-122"/>
                <a:cs typeface="Calibri" pitchFamily="34" charset="-120"/>
              </a:rPr>
              <a:t>“Parties” scored about 0.98 on almost any clause. Each score is now adjusted against 1,586 training clauses, which raised correct categories from 9.6% to 42.3%.</a:t>
            </a:r>
            <a:endParaRPr lang="en-US" sz="1350" dirty="0"/>
          </a:p>
        </p:txBody>
      </p:sp>
      <p:sp>
        <p:nvSpPr>
          <p:cNvPr id="14" name="Shape 12"/>
          <p:cNvSpPr/>
          <p:nvPr/>
        </p:nvSpPr>
        <p:spPr>
          <a:xfrm>
            <a:off x="548640" y="4151376"/>
            <a:ext cx="11155680" cy="1197864"/>
          </a:xfrm>
          <a:prstGeom prst="roundRect">
            <a:avLst>
              <a:gd name="adj" fmla="val 4580"/>
            </a:avLst>
          </a:prstGeom>
          <a:solidFill>
            <a:srgbClr val="F6F7FB"/>
          </a:solidFill>
          <a:ln w="12700">
            <a:solidFill>
              <a:srgbClr val="E4E7F2"/>
            </a:solidFill>
            <a:prstDash val="solid"/>
          </a:ln>
        </p:spPr>
      </p:sp>
      <p:sp>
        <p:nvSpPr>
          <p:cNvPr id="15" name="Shape 13"/>
          <p:cNvSpPr/>
          <p:nvPr/>
        </p:nvSpPr>
        <p:spPr>
          <a:xfrm>
            <a:off x="777240" y="4599432"/>
            <a:ext cx="310896" cy="310896"/>
          </a:xfrm>
          <a:prstGeom prst="ellipse">
            <a:avLst/>
          </a:prstGeom>
          <a:solidFill>
            <a:srgbClr val="D94F5C"/>
          </a:solidFill>
          <a:ln w="12700">
            <a:solidFill>
              <a:srgbClr val="D94F5C"/>
            </a:solidFill>
            <a:prstDash val="solid"/>
          </a:ln>
        </p:spPr>
      </p:sp>
      <p:sp>
        <p:nvSpPr>
          <p:cNvPr id="16" name="Text 14"/>
          <p:cNvSpPr txBox="1"/>
          <p:nvPr/>
        </p:nvSpPr>
        <p:spPr>
          <a:xfrm>
            <a:off x="1234440" y="4270248"/>
            <a:ext cx="4480560" cy="960120"/>
          </a:xfrm>
          <a:prstGeom prst="rect">
            <a:avLst/>
          </a:prstGeom>
          <a:noFill/>
          <a:ln/>
        </p:spPr>
        <p:txBody>
          <a:bodyPr wrap="square" lIns="0" tIns="0" rIns="0" bIns="0" rtlCol="0" anchor="ctr"/>
          <a:lstStyle/>
          <a:p>
            <a:pPr indent="0" marL="0">
              <a:buNone/>
            </a:pPr>
            <a:r>
              <a:rPr lang="en-US" sz="1550" b="1" dirty="0">
                <a:solidFill>
                  <a:srgbClr val="141B3D"/>
                </a:solidFill>
                <a:latin typeface="Calibri" pitchFamily="34" charset="0"/>
                <a:ea typeface="Calibri" pitchFamily="34" charset="-122"/>
                <a:cs typeface="Calibri" pitchFamily="34" charset="-120"/>
              </a:rPr>
              <a:t>The quoted text was almost the same for every category</a:t>
            </a:r>
            <a:endParaRPr lang="en-US" sz="1550" dirty="0"/>
          </a:p>
        </p:txBody>
      </p:sp>
      <p:sp>
        <p:nvSpPr>
          <p:cNvPr id="17" name="Text 15"/>
          <p:cNvSpPr txBox="1"/>
          <p:nvPr/>
        </p:nvSpPr>
        <p:spPr>
          <a:xfrm>
            <a:off x="5897880" y="4270248"/>
            <a:ext cx="5623560" cy="960120"/>
          </a:xfrm>
          <a:prstGeom prst="rect">
            <a:avLst/>
          </a:prstGeom>
          <a:noFill/>
          <a:ln/>
        </p:spPr>
        <p:txBody>
          <a:bodyPr wrap="square" lIns="0" tIns="0" rIns="0" bIns="0" rtlCol="0" anchor="ctr"/>
          <a:lstStyle/>
          <a:p>
            <a:pPr indent="0" marL="0">
              <a:buNone/>
            </a:pPr>
            <a:r>
              <a:rPr lang="en-US" sz="1350" dirty="0">
                <a:solidFill>
                  <a:srgbClr val="374151"/>
                </a:solidFill>
                <a:latin typeface="Calibri" pitchFamily="34" charset="0"/>
                <a:ea typeface="Calibri" pitchFamily="34" charset="-122"/>
                <a:cs typeface="Calibri" pitchFamily="34" charset="-120"/>
              </a:rPr>
              <a:t>The presence model now picks the paragraph, and the span model only highlights the key phrase inside it.</a:t>
            </a:r>
            <a:endParaRPr lang="en-US" sz="1350" dirty="0"/>
          </a:p>
        </p:txBody>
      </p:sp>
      <p:sp>
        <p:nvSpPr>
          <p:cNvPr id="18" name="Shape 16"/>
          <p:cNvSpPr/>
          <p:nvPr/>
        </p:nvSpPr>
        <p:spPr>
          <a:xfrm>
            <a:off x="548640" y="5449824"/>
            <a:ext cx="11155680" cy="1197864"/>
          </a:xfrm>
          <a:prstGeom prst="roundRect">
            <a:avLst>
              <a:gd name="adj" fmla="val 4580"/>
            </a:avLst>
          </a:prstGeom>
          <a:solidFill>
            <a:srgbClr val="F6F7FB"/>
          </a:solidFill>
          <a:ln w="12700">
            <a:solidFill>
              <a:srgbClr val="E4E7F2"/>
            </a:solidFill>
            <a:prstDash val="solid"/>
          </a:ln>
        </p:spPr>
      </p:sp>
      <p:sp>
        <p:nvSpPr>
          <p:cNvPr id="19" name="Shape 17"/>
          <p:cNvSpPr/>
          <p:nvPr/>
        </p:nvSpPr>
        <p:spPr>
          <a:xfrm>
            <a:off x="777240" y="5897880"/>
            <a:ext cx="310896" cy="310896"/>
          </a:xfrm>
          <a:prstGeom prst="ellipse">
            <a:avLst/>
          </a:prstGeom>
          <a:solidFill>
            <a:srgbClr val="D94F5C"/>
          </a:solidFill>
          <a:ln w="12700">
            <a:solidFill>
              <a:srgbClr val="D94F5C"/>
            </a:solidFill>
            <a:prstDash val="solid"/>
          </a:ln>
        </p:spPr>
      </p:sp>
      <p:sp>
        <p:nvSpPr>
          <p:cNvPr id="20" name="Text 18"/>
          <p:cNvSpPr txBox="1"/>
          <p:nvPr/>
        </p:nvSpPr>
        <p:spPr>
          <a:xfrm>
            <a:off x="1234440" y="5568696"/>
            <a:ext cx="4480560" cy="960120"/>
          </a:xfrm>
          <a:prstGeom prst="rect">
            <a:avLst/>
          </a:prstGeom>
          <a:noFill/>
          <a:ln/>
        </p:spPr>
        <p:txBody>
          <a:bodyPr wrap="square" lIns="0" tIns="0" rIns="0" bIns="0" rtlCol="0" anchor="ctr"/>
          <a:lstStyle/>
          <a:p>
            <a:pPr indent="0" marL="0">
              <a:buNone/>
            </a:pPr>
            <a:r>
              <a:rPr lang="en-US" sz="1550" b="1" dirty="0">
                <a:solidFill>
                  <a:srgbClr val="141B3D"/>
                </a:solidFill>
                <a:latin typeface="Calibri" pitchFamily="34" charset="0"/>
                <a:ea typeface="Calibri" pitchFamily="34" charset="-122"/>
                <a:cs typeface="Calibri" pitchFamily="34" charset="-120"/>
              </a:rPr>
              <a:t>Very long contracts were slow</a:t>
            </a:r>
            <a:endParaRPr lang="en-US" sz="1550" dirty="0"/>
          </a:p>
        </p:txBody>
      </p:sp>
      <p:sp>
        <p:nvSpPr>
          <p:cNvPr id="21" name="Text 19"/>
          <p:cNvSpPr txBox="1"/>
          <p:nvPr/>
        </p:nvSpPr>
        <p:spPr>
          <a:xfrm>
            <a:off x="5897880" y="5568696"/>
            <a:ext cx="5623560" cy="960120"/>
          </a:xfrm>
          <a:prstGeom prst="rect">
            <a:avLst/>
          </a:prstGeom>
          <a:noFill/>
          <a:ln/>
        </p:spPr>
        <p:txBody>
          <a:bodyPr wrap="square" lIns="0" tIns="0" rIns="0" bIns="0" rtlCol="0" anchor="ctr"/>
          <a:lstStyle/>
          <a:p>
            <a:pPr indent="0" marL="0">
              <a:buNone/>
            </a:pPr>
            <a:r>
              <a:rPr lang="en-US" sz="1350" dirty="0">
                <a:solidFill>
                  <a:srgbClr val="374151"/>
                </a:solidFill>
                <a:latin typeface="Calibri" pitchFamily="34" charset="0"/>
                <a:ea typeface="Calibri" pitchFamily="34" charset="-122"/>
                <a:cs typeface="Calibri" pitchFamily="34" charset="-120"/>
              </a:rPr>
              <a:t>The app reads at most 30 windows (about 45,500 characters), so even the longest test contract takes 34.8 s. The app states this on screen.</a:t>
            </a:r>
            <a:endParaRPr lang="en-US" sz="13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548640" y="109728"/>
            <a:ext cx="2286000" cy="301752"/>
          </a:xfrm>
          <a:prstGeom prst="roundRect">
            <a:avLst>
              <a:gd name="adj" fmla="val 45455"/>
            </a:avLst>
          </a:prstGeom>
          <a:solidFill>
            <a:srgbClr val="CADCFC"/>
          </a:solidFill>
          <a:ln w="12700">
            <a:solidFill>
              <a:srgbClr val="CADCFC"/>
            </a:solidFill>
            <a:prstDash val="solid"/>
          </a:ln>
        </p:spPr>
      </p:sp>
      <p:sp>
        <p:nvSpPr>
          <p:cNvPr id="3" name="Text 1"/>
          <p:cNvSpPr txBox="1"/>
          <p:nvPr/>
        </p:nvSpPr>
        <p:spPr>
          <a:xfrm>
            <a:off x="548640" y="109728"/>
            <a:ext cx="2286000" cy="301752"/>
          </a:xfrm>
          <a:prstGeom prst="rect">
            <a:avLst/>
          </a:prstGeom>
          <a:noFill/>
          <a:ln/>
        </p:spPr>
        <p:txBody>
          <a:bodyPr wrap="square" lIns="0" tIns="0" rIns="0" bIns="0" rtlCol="0" anchor="ctr"/>
          <a:lstStyle/>
          <a:p>
            <a:pPr algn="ctr" indent="0" marL="0">
              <a:buNone/>
            </a:pPr>
            <a:r>
              <a:rPr lang="en-US" sz="1250" b="1" dirty="0">
                <a:solidFill>
                  <a:srgbClr val="1E2761"/>
                </a:solidFill>
                <a:latin typeface="Calibri" pitchFamily="34" charset="0"/>
                <a:ea typeface="Calibri" pitchFamily="34" charset="-122"/>
                <a:cs typeface="Calibri" pitchFamily="34" charset="-120"/>
              </a:rPr>
              <a:t>EVALUATION</a:t>
            </a:r>
            <a:endParaRPr lang="en-US" sz="1250" dirty="0"/>
          </a:p>
        </p:txBody>
      </p:sp>
      <p:sp>
        <p:nvSpPr>
          <p:cNvPr id="4" name="Text 2"/>
          <p:cNvSpPr txBox="1"/>
          <p:nvPr/>
        </p:nvSpPr>
        <p:spPr>
          <a:xfrm>
            <a:off x="563728" y="329184"/>
            <a:ext cx="11064240" cy="676656"/>
          </a:xfrm>
          <a:prstGeom prst="rect">
            <a:avLst/>
          </a:prstGeom>
          <a:noFill/>
          <a:ln/>
        </p:spPr>
        <p:txBody>
          <a:bodyPr wrap="square" rtlCol="0" anchor="ctr"/>
          <a:lstStyle/>
          <a:p>
            <a:pPr algn="ctr" indent="0" marL="0">
              <a:buNone/>
            </a:pPr>
            <a:r>
              <a:rPr lang="en-US" sz="3500" b="1" dirty="0">
                <a:solidFill>
                  <a:srgbClr val="141B3D"/>
                </a:solidFill>
                <a:latin typeface="Cambria" pitchFamily="34" charset="0"/>
                <a:ea typeface="Cambria" pitchFamily="34" charset="-122"/>
                <a:cs typeface="Cambria" pitchFamily="34" charset="-120"/>
              </a:rPr>
              <a:t>How we tested</a:t>
            </a:r>
            <a:endParaRPr lang="en-US" sz="3500" dirty="0"/>
          </a:p>
        </p:txBody>
      </p:sp>
      <p:sp>
        <p:nvSpPr>
          <p:cNvPr id="5" name="Text 3"/>
          <p:cNvSpPr txBox="1"/>
          <p:nvPr/>
        </p:nvSpPr>
        <p:spPr>
          <a:xfrm>
            <a:off x="563728" y="1024128"/>
            <a:ext cx="11064240" cy="347472"/>
          </a:xfrm>
          <a:prstGeom prst="rect">
            <a:avLst/>
          </a:prstGeom>
          <a:noFill/>
          <a:ln/>
        </p:spPr>
        <p:txBody>
          <a:bodyPr wrap="square" rtlCol="0" anchor="ctr"/>
          <a:lstStyle/>
          <a:p>
            <a:pPr algn="ctr" indent="0" marL="0">
              <a:buNone/>
            </a:pPr>
            <a:r>
              <a:rPr lang="en-US" sz="1600" i="1" dirty="0">
                <a:solidFill>
                  <a:srgbClr val="6B7280"/>
                </a:solidFill>
                <a:latin typeface="Calibri" pitchFamily="34" charset="0"/>
                <a:ea typeface="Calibri" pitchFamily="34" charset="-122"/>
                <a:cs typeface="Calibri" pitchFamily="34" charset="-120"/>
              </a:rPr>
              <a:t>Every number comes from contracts the models never saw</a:t>
            </a:r>
            <a:endParaRPr lang="en-US" sz="1600" dirty="0"/>
          </a:p>
        </p:txBody>
      </p:sp>
      <p:sp>
        <p:nvSpPr>
          <p:cNvPr id="6" name="Shape 4"/>
          <p:cNvSpPr/>
          <p:nvPr/>
        </p:nvSpPr>
        <p:spPr>
          <a:xfrm>
            <a:off x="882396" y="1554480"/>
            <a:ext cx="10424160" cy="868680"/>
          </a:xfrm>
          <a:prstGeom prst="roundRect">
            <a:avLst>
              <a:gd name="adj" fmla="val 7368"/>
            </a:avLst>
          </a:prstGeom>
          <a:solidFill>
            <a:srgbClr val="E8ECF7"/>
          </a:solidFill>
          <a:ln w="12700">
            <a:solidFill>
              <a:srgbClr val="E8ECF7"/>
            </a:solidFill>
            <a:prstDash val="solid"/>
          </a:ln>
        </p:spPr>
      </p:sp>
      <p:sp>
        <p:nvSpPr>
          <p:cNvPr id="7" name="Text 5"/>
          <p:cNvSpPr txBox="1"/>
          <p:nvPr/>
        </p:nvSpPr>
        <p:spPr>
          <a:xfrm>
            <a:off x="882396" y="1554480"/>
            <a:ext cx="10424160" cy="868680"/>
          </a:xfrm>
          <a:prstGeom prst="rect">
            <a:avLst/>
          </a:prstGeom>
          <a:noFill/>
          <a:ln/>
        </p:spPr>
        <p:txBody>
          <a:bodyPr wrap="square" lIns="0" tIns="0" rIns="0" bIns="0" rtlCol="0" anchor="ctr"/>
          <a:lstStyle/>
          <a:p>
            <a:pPr algn="ctr" indent="0" marL="0">
              <a:buNone/>
            </a:pPr>
            <a:r>
              <a:rPr lang="en-US" sz="1600" b="1" dirty="0">
                <a:solidFill>
                  <a:srgbClr val="141B3D"/>
                </a:solidFill>
                <a:latin typeface="Calibri" pitchFamily="34" charset="0"/>
                <a:ea typeface="Calibri" pitchFamily="34" charset="-122"/>
                <a:cs typeface="Calibri" pitchFamily="34" charset="-120"/>
              </a:rPr>
              <a:t>510 CUAD contracts</a:t>
            </a:r>
            <a:endParaRPr lang="en-US" sz="1600" dirty="0"/>
          </a:p>
        </p:txBody>
      </p:sp>
      <p:sp>
        <p:nvSpPr>
          <p:cNvPr id="8" name="Text 6"/>
          <p:cNvSpPr txBox="1"/>
          <p:nvPr/>
        </p:nvSpPr>
        <p:spPr>
          <a:xfrm>
            <a:off x="914400" y="2441448"/>
            <a:ext cx="10360152" cy="274320"/>
          </a:xfrm>
          <a:prstGeom prst="rect">
            <a:avLst/>
          </a:prstGeom>
          <a:noFill/>
          <a:ln/>
        </p:spPr>
        <p:txBody>
          <a:bodyPr wrap="square" lIns="0" tIns="0" rIns="0" bIns="0" rtlCol="0" anchor="ctr"/>
          <a:lstStyle/>
          <a:p>
            <a:pPr algn="ctr" indent="0" marL="0">
              <a:buNone/>
            </a:pPr>
            <a:r>
              <a:rPr lang="en-US" sz="1300" dirty="0">
                <a:solidFill>
                  <a:srgbClr val="6B7280"/>
                </a:solidFill>
                <a:latin typeface="Calibri" pitchFamily="34" charset="0"/>
                <a:ea typeface="Calibri" pitchFamily="34" charset="-122"/>
                <a:cs typeface="Calibri" pitchFamily="34" charset="-120"/>
              </a:rPr>
              <a:t>↓  split once by contract, seed 42</a:t>
            </a:r>
            <a:endParaRPr lang="en-US" sz="1300" dirty="0"/>
          </a:p>
        </p:txBody>
      </p:sp>
      <p:sp>
        <p:nvSpPr>
          <p:cNvPr id="9" name="Shape 7"/>
          <p:cNvSpPr/>
          <p:nvPr/>
        </p:nvSpPr>
        <p:spPr>
          <a:xfrm>
            <a:off x="2025396" y="2743200"/>
            <a:ext cx="8138160" cy="868680"/>
          </a:xfrm>
          <a:prstGeom prst="roundRect">
            <a:avLst>
              <a:gd name="adj" fmla="val 7368"/>
            </a:avLst>
          </a:prstGeom>
          <a:solidFill>
            <a:srgbClr val="CFD8EE"/>
          </a:solidFill>
          <a:ln w="12700">
            <a:solidFill>
              <a:srgbClr val="CFD8EE"/>
            </a:solidFill>
            <a:prstDash val="solid"/>
          </a:ln>
        </p:spPr>
      </p:sp>
      <p:sp>
        <p:nvSpPr>
          <p:cNvPr id="10" name="Text 8"/>
          <p:cNvSpPr txBox="1"/>
          <p:nvPr/>
        </p:nvSpPr>
        <p:spPr>
          <a:xfrm>
            <a:off x="2025396" y="2743200"/>
            <a:ext cx="8138160" cy="868680"/>
          </a:xfrm>
          <a:prstGeom prst="rect">
            <a:avLst/>
          </a:prstGeom>
          <a:noFill/>
          <a:ln/>
        </p:spPr>
        <p:txBody>
          <a:bodyPr wrap="square" lIns="0" tIns="0" rIns="0" bIns="0" rtlCol="0" anchor="ctr"/>
          <a:lstStyle/>
          <a:p>
            <a:pPr algn="ctr" indent="0" marL="0">
              <a:buNone/>
            </a:pPr>
            <a:r>
              <a:rPr lang="en-US" sz="1600" b="1" dirty="0">
                <a:solidFill>
                  <a:srgbClr val="141B3D"/>
                </a:solidFill>
                <a:latin typeface="Calibri" pitchFamily="34" charset="0"/>
                <a:ea typeface="Calibri" pitchFamily="34" charset="-122"/>
                <a:cs typeface="Calibri" pitchFamily="34" charset="-120"/>
              </a:rPr>
              <a:t>102 unseen test contracts  (408 used for training)</a:t>
            </a:r>
            <a:endParaRPr lang="en-US" sz="1600" dirty="0"/>
          </a:p>
        </p:txBody>
      </p:sp>
      <p:sp>
        <p:nvSpPr>
          <p:cNvPr id="11" name="Text 9"/>
          <p:cNvSpPr txBox="1"/>
          <p:nvPr/>
        </p:nvSpPr>
        <p:spPr>
          <a:xfrm>
            <a:off x="914400" y="3630168"/>
            <a:ext cx="10360152" cy="274320"/>
          </a:xfrm>
          <a:prstGeom prst="rect">
            <a:avLst/>
          </a:prstGeom>
          <a:noFill/>
          <a:ln/>
        </p:spPr>
        <p:txBody>
          <a:bodyPr wrap="square" lIns="0" tIns="0" rIns="0" bIns="0" rtlCol="0" anchor="ctr"/>
          <a:lstStyle/>
          <a:p>
            <a:pPr algn="ctr" indent="0" marL="0">
              <a:buNone/>
            </a:pPr>
            <a:r>
              <a:rPr lang="en-US" sz="1300" dirty="0">
                <a:solidFill>
                  <a:srgbClr val="6B7280"/>
                </a:solidFill>
                <a:latin typeface="Calibri" pitchFamily="34" charset="0"/>
                <a:ea typeface="Calibri" pitchFamily="34" charset="-122"/>
                <a:cs typeface="Calibri" pitchFamily="34" charset="-120"/>
              </a:rPr>
              <a:t>↓  a separate notebook loads the saved models</a:t>
            </a:r>
            <a:endParaRPr lang="en-US" sz="1300" dirty="0"/>
          </a:p>
        </p:txBody>
      </p:sp>
      <p:sp>
        <p:nvSpPr>
          <p:cNvPr id="12" name="Shape 10"/>
          <p:cNvSpPr/>
          <p:nvPr/>
        </p:nvSpPr>
        <p:spPr>
          <a:xfrm>
            <a:off x="3163824" y="3931920"/>
            <a:ext cx="5852160" cy="868680"/>
          </a:xfrm>
          <a:prstGeom prst="roundRect">
            <a:avLst>
              <a:gd name="adj" fmla="val 7368"/>
            </a:avLst>
          </a:prstGeom>
          <a:solidFill>
            <a:srgbClr val="1E2761"/>
          </a:solidFill>
          <a:ln w="12700">
            <a:solidFill>
              <a:srgbClr val="1E2761"/>
            </a:solidFill>
            <a:prstDash val="solid"/>
          </a:ln>
        </p:spPr>
      </p:sp>
      <p:sp>
        <p:nvSpPr>
          <p:cNvPr id="13" name="Text 11"/>
          <p:cNvSpPr txBox="1"/>
          <p:nvPr/>
        </p:nvSpPr>
        <p:spPr>
          <a:xfrm>
            <a:off x="3163824" y="3931920"/>
            <a:ext cx="5852160" cy="86868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4,182 presence decisions · 2,667 span windows · 150 clauses</a:t>
            </a:r>
            <a:endParaRPr lang="en-US" sz="1600" dirty="0"/>
          </a:p>
        </p:txBody>
      </p:sp>
      <p:sp>
        <p:nvSpPr>
          <p:cNvPr id="14" name="Text 12"/>
          <p:cNvSpPr txBox="1"/>
          <p:nvPr/>
        </p:nvSpPr>
        <p:spPr>
          <a:xfrm>
            <a:off x="822960" y="5074920"/>
            <a:ext cx="2377440" cy="868680"/>
          </a:xfrm>
          <a:prstGeom prst="rect">
            <a:avLst/>
          </a:prstGeom>
          <a:noFill/>
          <a:ln/>
        </p:spPr>
        <p:txBody>
          <a:bodyPr wrap="square" lIns="0" tIns="0" rIns="0" bIns="0" rtlCol="0" anchor="ctr"/>
          <a:lstStyle/>
          <a:p>
            <a:pPr indent="0" marL="0">
              <a:buNone/>
            </a:pPr>
            <a:r>
              <a:rPr lang="en-US" sz="4750" b="1" dirty="0">
                <a:solidFill>
                  <a:srgbClr val="1E2761"/>
                </a:solidFill>
                <a:latin typeface="Cambria" pitchFamily="34" charset="0"/>
                <a:ea typeface="Cambria" pitchFamily="34" charset="-122"/>
                <a:cs typeface="Cambria" pitchFamily="34" charset="-120"/>
              </a:rPr>
              <a:t>10,000</a:t>
            </a:r>
            <a:endParaRPr lang="en-US" sz="4750" dirty="0"/>
          </a:p>
        </p:txBody>
      </p:sp>
      <p:sp>
        <p:nvSpPr>
          <p:cNvPr id="15" name="Text 13"/>
          <p:cNvSpPr txBox="1"/>
          <p:nvPr/>
        </p:nvSpPr>
        <p:spPr>
          <a:xfrm>
            <a:off x="3291840" y="5138928"/>
            <a:ext cx="2926080" cy="777240"/>
          </a:xfrm>
          <a:prstGeom prst="rect">
            <a:avLst/>
          </a:prstGeom>
          <a:noFill/>
          <a:ln/>
        </p:spPr>
        <p:txBody>
          <a:bodyPr wrap="square" lIns="0" tIns="0" rIns="0" bIns="0" rtlCol="0" anchor="ctr"/>
          <a:lstStyle/>
          <a:p>
            <a:pPr indent="0" marL="0">
              <a:buNone/>
            </a:pPr>
            <a:r>
              <a:rPr lang="en-US" sz="1300" dirty="0">
                <a:solidFill>
                  <a:srgbClr val="374151"/>
                </a:solidFill>
                <a:latin typeface="Calibri" pitchFamily="34" charset="0"/>
                <a:ea typeface="Calibri" pitchFamily="34" charset="-122"/>
                <a:cs typeface="Calibri" pitchFamily="34" charset="-120"/>
              </a:rPr>
              <a:t>bootstrap resamples of whole contracts</a:t>
            </a:r>
            <a:endParaRPr lang="en-US" sz="1300" dirty="0"/>
          </a:p>
          <a:p>
            <a:pPr indent="0" marL="0">
              <a:buNone/>
            </a:pPr>
            <a:r>
              <a:rPr lang="en-US" sz="1300" dirty="0">
                <a:solidFill>
                  <a:srgbClr val="374151"/>
                </a:solidFill>
                <a:latin typeface="Calibri" pitchFamily="34" charset="0"/>
                <a:ea typeface="Calibri" pitchFamily="34" charset="-122"/>
                <a:cs typeface="Calibri" pitchFamily="34" charset="-120"/>
              </a:rPr>
              <a:t>for every 95% confidence interval</a:t>
            </a:r>
            <a:endParaRPr lang="en-US" sz="1300" dirty="0"/>
          </a:p>
        </p:txBody>
      </p:sp>
      <p:sp>
        <p:nvSpPr>
          <p:cNvPr id="16" name="Text 14"/>
          <p:cNvSpPr txBox="1"/>
          <p:nvPr/>
        </p:nvSpPr>
        <p:spPr>
          <a:xfrm>
            <a:off x="6309360" y="5029200"/>
            <a:ext cx="5303520" cy="1188720"/>
          </a:xfrm>
          <a:prstGeom prst="rect">
            <a:avLst/>
          </a:prstGeom>
          <a:noFill/>
          <a:ln/>
        </p:spPr>
        <p:txBody>
          <a:bodyPr wrap="square" rtlCol="0" anchor="ctr"/>
          <a:lstStyle/>
          <a:p>
            <a:pPr indent="0" marL="0">
              <a:buNone/>
            </a:pPr>
            <a:r>
              <a:rPr lang="en-US" sz="1300" dirty="0">
                <a:solidFill>
                  <a:srgbClr val="374151"/>
                </a:solidFill>
                <a:latin typeface="Calibri" pitchFamily="34" charset="0"/>
                <a:ea typeface="Calibri" pitchFamily="34" charset="-122"/>
                <a:cs typeface="Calibri" pitchFamily="34" charset="-120"/>
              </a:rPr>
              <a:t>Scores: micro-F1, accuracy, precision, recall and specificity for presence; token-F1 and exact match for clause text; ROUGE-L for explanations. We re-checked the main result with three seeds, the full training set and 20 different splits.</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548640" y="109728"/>
            <a:ext cx="2286000" cy="301752"/>
          </a:xfrm>
          <a:prstGeom prst="roundRect">
            <a:avLst>
              <a:gd name="adj" fmla="val 45455"/>
            </a:avLst>
          </a:prstGeom>
          <a:solidFill>
            <a:srgbClr val="CADCFC"/>
          </a:solidFill>
          <a:ln w="12700">
            <a:solidFill>
              <a:srgbClr val="CADCFC"/>
            </a:solidFill>
            <a:prstDash val="solid"/>
          </a:ln>
        </p:spPr>
      </p:sp>
      <p:sp>
        <p:nvSpPr>
          <p:cNvPr id="3" name="Text 1"/>
          <p:cNvSpPr txBox="1"/>
          <p:nvPr/>
        </p:nvSpPr>
        <p:spPr>
          <a:xfrm>
            <a:off x="548640" y="109728"/>
            <a:ext cx="2286000" cy="301752"/>
          </a:xfrm>
          <a:prstGeom prst="rect">
            <a:avLst/>
          </a:prstGeom>
          <a:noFill/>
          <a:ln/>
        </p:spPr>
        <p:txBody>
          <a:bodyPr wrap="square" lIns="0" tIns="0" rIns="0" bIns="0" rtlCol="0" anchor="ctr"/>
          <a:lstStyle/>
          <a:p>
            <a:pPr algn="ctr" indent="0" marL="0">
              <a:buNone/>
            </a:pPr>
            <a:r>
              <a:rPr lang="en-US" sz="1250" b="1" dirty="0">
                <a:solidFill>
                  <a:srgbClr val="1E2761"/>
                </a:solidFill>
                <a:latin typeface="Calibri" pitchFamily="34" charset="0"/>
                <a:ea typeface="Calibri" pitchFamily="34" charset="-122"/>
                <a:cs typeface="Calibri" pitchFamily="34" charset="-120"/>
              </a:rPr>
              <a:t>RESULTS</a:t>
            </a:r>
            <a:endParaRPr lang="en-US" sz="1250" dirty="0"/>
          </a:p>
        </p:txBody>
      </p:sp>
      <p:sp>
        <p:nvSpPr>
          <p:cNvPr id="4" name="Text 2"/>
          <p:cNvSpPr txBox="1"/>
          <p:nvPr/>
        </p:nvSpPr>
        <p:spPr>
          <a:xfrm>
            <a:off x="563728" y="329184"/>
            <a:ext cx="11064240" cy="676656"/>
          </a:xfrm>
          <a:prstGeom prst="rect">
            <a:avLst/>
          </a:prstGeom>
          <a:noFill/>
          <a:ln/>
        </p:spPr>
        <p:txBody>
          <a:bodyPr wrap="square" rtlCol="0" anchor="ctr"/>
          <a:lstStyle/>
          <a:p>
            <a:pPr algn="ctr" indent="0" marL="0">
              <a:buNone/>
            </a:pPr>
            <a:r>
              <a:rPr lang="en-US" sz="3500" b="1" dirty="0">
                <a:solidFill>
                  <a:srgbClr val="141B3D"/>
                </a:solidFill>
                <a:latin typeface="Cambria" pitchFamily="34" charset="0"/>
                <a:ea typeface="Cambria" pitchFamily="34" charset="-122"/>
                <a:cs typeface="Cambria" pitchFamily="34" charset="-120"/>
              </a:rPr>
              <a:t>Result 1: finding which clauses are present</a:t>
            </a:r>
            <a:endParaRPr lang="en-US" sz="3500" dirty="0"/>
          </a:p>
        </p:txBody>
      </p:sp>
      <p:sp>
        <p:nvSpPr>
          <p:cNvPr id="5" name="Text 3"/>
          <p:cNvSpPr txBox="1"/>
          <p:nvPr/>
        </p:nvSpPr>
        <p:spPr>
          <a:xfrm>
            <a:off x="563728" y="1024128"/>
            <a:ext cx="11064240" cy="347472"/>
          </a:xfrm>
          <a:prstGeom prst="rect">
            <a:avLst/>
          </a:prstGeom>
          <a:noFill/>
          <a:ln/>
        </p:spPr>
        <p:txBody>
          <a:bodyPr wrap="square" rtlCol="0" anchor="ctr"/>
          <a:lstStyle/>
          <a:p>
            <a:pPr algn="ctr" indent="0" marL="0">
              <a:buNone/>
            </a:pPr>
            <a:r>
              <a:rPr lang="en-US" sz="1600" i="1" dirty="0">
                <a:solidFill>
                  <a:srgbClr val="6B7280"/>
                </a:solidFill>
                <a:latin typeface="Calibri" pitchFamily="34" charset="0"/>
                <a:ea typeface="Calibri" pitchFamily="34" charset="-122"/>
                <a:cs typeface="Calibri" pitchFamily="34" charset="-120"/>
              </a:rPr>
              <a:t>Micro-F1 over 4,182 (contract, category) test decisions</a:t>
            </a:r>
            <a:endParaRPr lang="en-US" sz="1600" dirty="0"/>
          </a:p>
        </p:txBody>
      </p:sp>
      <p:sp>
        <p:nvSpPr>
          <p:cNvPr id="8" name="Text 4"/>
          <p:cNvSpPr txBox="1"/>
          <p:nvPr/>
        </p:nvSpPr>
        <p:spPr>
          <a:xfrm>
            <a:off x="3520440" y="5212080"/>
            <a:ext cx="3017520" cy="822960"/>
          </a:xfrm>
          <a:prstGeom prst="rect">
            <a:avLst/>
          </a:prstGeom>
          <a:noFill/>
          <a:ln/>
        </p:spPr>
        <p:txBody>
          <a:bodyPr wrap="square" lIns="0" tIns="0" rIns="0" bIns="0" rtlCol="0" anchor="ctr"/>
          <a:lstStyle/>
          <a:p>
            <a:pPr indent="0" marL="0">
              <a:buNone/>
            </a:pPr>
            <a:r>
              <a:rPr lang="en-US" sz="1300" i="1" dirty="0">
                <a:solidFill>
                  <a:srgbClr val="6B7280"/>
                </a:solidFill>
                <a:latin typeface="Calibri" pitchFamily="34" charset="0"/>
                <a:ea typeface="Calibri" pitchFamily="34" charset="-122"/>
                <a:cs typeface="Calibri" pitchFamily="34" charset="-120"/>
              </a:rPr>
              <a:t>Per-category F1, twelve</a:t>
            </a:r>
            <a:endParaRPr lang="en-US" sz="1300" dirty="0"/>
          </a:p>
          <a:p>
            <a:pPr indent="0" marL="0">
              <a:buNone/>
            </a:pPr>
            <a:r>
              <a:rPr lang="en-US" sz="1300" i="1" dirty="0">
                <a:solidFill>
                  <a:srgbClr val="6B7280"/>
                </a:solidFill>
                <a:latin typeface="Calibri" pitchFamily="34" charset="0"/>
                <a:ea typeface="Calibri" pitchFamily="34" charset="-122"/>
                <a:cs typeface="Calibri" pitchFamily="34" charset="-120"/>
              </a:rPr>
              <a:t>strongest categories (Fig. 5.3)</a:t>
            </a:r>
            <a:endParaRPr lang="en-US" sz="1300" dirty="0"/>
          </a:p>
        </p:txBody>
      </p:sp>
      <p:sp>
        <p:nvSpPr>
          <p:cNvPr id="9" name="Shape 5"/>
          <p:cNvSpPr/>
          <p:nvPr/>
        </p:nvSpPr>
        <p:spPr>
          <a:xfrm>
            <a:off x="6766560" y="1371600"/>
            <a:ext cx="4937760" cy="1463040"/>
          </a:xfrm>
          <a:prstGeom prst="roundRect">
            <a:avLst>
              <a:gd name="adj" fmla="val 4375"/>
            </a:avLst>
          </a:prstGeom>
          <a:solidFill>
            <a:srgbClr val="F6F7FB"/>
          </a:solidFill>
          <a:ln w="12700">
            <a:solidFill>
              <a:srgbClr val="E4E7F2"/>
            </a:solidFill>
            <a:prstDash val="solid"/>
          </a:ln>
        </p:spPr>
      </p:sp>
      <p:sp>
        <p:nvSpPr>
          <p:cNvPr id="10" name="Shape 6"/>
          <p:cNvSpPr/>
          <p:nvPr/>
        </p:nvSpPr>
        <p:spPr>
          <a:xfrm>
            <a:off x="6949440" y="1545336"/>
            <a:ext cx="256032" cy="256032"/>
          </a:xfrm>
          <a:prstGeom prst="ellipse">
            <a:avLst/>
          </a:prstGeom>
          <a:solidFill>
            <a:srgbClr val="4CAF82"/>
          </a:solidFill>
          <a:ln w="12700">
            <a:solidFill>
              <a:srgbClr val="4CAF82"/>
            </a:solidFill>
            <a:prstDash val="solid"/>
          </a:ln>
        </p:spPr>
      </p:sp>
      <p:sp>
        <p:nvSpPr>
          <p:cNvPr id="11" name="Text 7"/>
          <p:cNvSpPr txBox="1"/>
          <p:nvPr/>
        </p:nvSpPr>
        <p:spPr>
          <a:xfrm>
            <a:off x="7296912" y="1481328"/>
            <a:ext cx="4251960" cy="310896"/>
          </a:xfrm>
          <a:prstGeom prst="rect">
            <a:avLst/>
          </a:prstGeom>
          <a:noFill/>
          <a:ln/>
        </p:spPr>
        <p:txBody>
          <a:bodyPr wrap="square" lIns="0" tIns="0" rIns="0" bIns="0" rtlCol="0" anchor="ctr"/>
          <a:lstStyle/>
          <a:p>
            <a:pPr indent="0" marL="0">
              <a:buNone/>
            </a:pPr>
            <a:r>
              <a:rPr lang="en-US" sz="1550" b="1" dirty="0">
                <a:solidFill>
                  <a:srgbClr val="141B3D"/>
                </a:solidFill>
                <a:latin typeface="Calibri" pitchFamily="34" charset="0"/>
                <a:ea typeface="Calibri" pitchFamily="34" charset="-122"/>
                <a:cs typeface="Calibri" pitchFamily="34" charset="-120"/>
              </a:rPr>
              <a:t>Highest score: the AND-ensemble</a:t>
            </a:r>
            <a:endParaRPr lang="en-US" sz="1550" dirty="0"/>
          </a:p>
        </p:txBody>
      </p:sp>
      <p:sp>
        <p:nvSpPr>
          <p:cNvPr id="12" name="Text 8"/>
          <p:cNvSpPr txBox="1"/>
          <p:nvPr/>
        </p:nvSpPr>
        <p:spPr>
          <a:xfrm>
            <a:off x="6967728" y="1883664"/>
            <a:ext cx="4535424" cy="804672"/>
          </a:xfrm>
          <a:prstGeom prst="rect">
            <a:avLst/>
          </a:prstGeom>
          <a:noFill/>
          <a:ln/>
        </p:spPr>
        <p:txBody>
          <a:bodyPr wrap="square" lIns="0" tIns="0" rIns="0" bIns="0" rtlCol="0" anchor="ctr"/>
          <a:lstStyle/>
          <a:p>
            <a:pPr indent="0" marL="0">
              <a:buNone/>
            </a:pPr>
            <a:r>
              <a:rPr lang="en-US" sz="1350" dirty="0">
                <a:solidFill>
                  <a:srgbClr val="374151"/>
                </a:solidFill>
                <a:latin typeface="Calibri" pitchFamily="34" charset="0"/>
                <a:ea typeface="Calibri" pitchFamily="34" charset="-122"/>
                <a:cs typeface="Calibri" pitchFamily="34" charset="-120"/>
              </a:rPr>
              <a:t>Micro-F1 0.779 · accuracy 85.65% · precision 77.38% · recall 78.41% · specificity 89.10%. Its lead over TF-IDF is inside the 95% interval, so we call it a tie.</a:t>
            </a:r>
            <a:endParaRPr lang="en-US" sz="1350" dirty="0"/>
          </a:p>
        </p:txBody>
      </p:sp>
      <p:sp>
        <p:nvSpPr>
          <p:cNvPr id="13" name="Shape 9"/>
          <p:cNvSpPr/>
          <p:nvPr/>
        </p:nvSpPr>
        <p:spPr>
          <a:xfrm>
            <a:off x="6766560" y="2971800"/>
            <a:ext cx="4937760" cy="1463040"/>
          </a:xfrm>
          <a:prstGeom prst="roundRect">
            <a:avLst>
              <a:gd name="adj" fmla="val 4375"/>
            </a:avLst>
          </a:prstGeom>
          <a:solidFill>
            <a:srgbClr val="F6F7FB"/>
          </a:solidFill>
          <a:ln w="12700">
            <a:solidFill>
              <a:srgbClr val="E4E7F2"/>
            </a:solidFill>
            <a:prstDash val="solid"/>
          </a:ln>
        </p:spPr>
      </p:sp>
      <p:sp>
        <p:nvSpPr>
          <p:cNvPr id="14" name="Shape 10"/>
          <p:cNvSpPr/>
          <p:nvPr/>
        </p:nvSpPr>
        <p:spPr>
          <a:xfrm>
            <a:off x="6949440" y="3145536"/>
            <a:ext cx="256032" cy="256032"/>
          </a:xfrm>
          <a:prstGeom prst="ellipse">
            <a:avLst/>
          </a:prstGeom>
          <a:solidFill>
            <a:srgbClr val="D94F5C"/>
          </a:solidFill>
          <a:ln w="12700">
            <a:solidFill>
              <a:srgbClr val="D94F5C"/>
            </a:solidFill>
            <a:prstDash val="solid"/>
          </a:ln>
        </p:spPr>
      </p:sp>
      <p:sp>
        <p:nvSpPr>
          <p:cNvPr id="15" name="Text 11"/>
          <p:cNvSpPr txBox="1"/>
          <p:nvPr/>
        </p:nvSpPr>
        <p:spPr>
          <a:xfrm>
            <a:off x="7296912" y="3081528"/>
            <a:ext cx="4251960" cy="310896"/>
          </a:xfrm>
          <a:prstGeom prst="rect">
            <a:avLst/>
          </a:prstGeom>
          <a:noFill/>
          <a:ln/>
        </p:spPr>
        <p:txBody>
          <a:bodyPr wrap="square" lIns="0" tIns="0" rIns="0" bIns="0" rtlCol="0" anchor="ctr"/>
          <a:lstStyle/>
          <a:p>
            <a:pPr indent="0" marL="0">
              <a:buNone/>
            </a:pPr>
            <a:r>
              <a:rPr lang="en-US" sz="1550" b="1" dirty="0">
                <a:solidFill>
                  <a:srgbClr val="141B3D"/>
                </a:solidFill>
                <a:latin typeface="Calibri" pitchFamily="34" charset="0"/>
                <a:ea typeface="Calibri" pitchFamily="34" charset="-122"/>
                <a:cs typeface="Calibri" pitchFamily="34" charset="-120"/>
              </a:rPr>
              <a:t>A strong simple baseline</a:t>
            </a:r>
            <a:endParaRPr lang="en-US" sz="1550" dirty="0"/>
          </a:p>
        </p:txBody>
      </p:sp>
      <p:sp>
        <p:nvSpPr>
          <p:cNvPr id="16" name="Text 12"/>
          <p:cNvSpPr txBox="1"/>
          <p:nvPr/>
        </p:nvSpPr>
        <p:spPr>
          <a:xfrm>
            <a:off x="6967728" y="3483864"/>
            <a:ext cx="4535424" cy="804672"/>
          </a:xfrm>
          <a:prstGeom prst="rect">
            <a:avLst/>
          </a:prstGeom>
          <a:noFill/>
          <a:ln/>
        </p:spPr>
        <p:txBody>
          <a:bodyPr wrap="square" lIns="0" tIns="0" rIns="0" bIns="0" rtlCol="0" anchor="ctr"/>
          <a:lstStyle/>
          <a:p>
            <a:pPr indent="0" marL="0">
              <a:buNone/>
            </a:pPr>
            <a:r>
              <a:rPr lang="en-US" sz="1350" dirty="0">
                <a:solidFill>
                  <a:srgbClr val="374151"/>
                </a:solidFill>
                <a:latin typeface="Calibri" pitchFamily="34" charset="0"/>
                <a:ea typeface="Calibri" pitchFamily="34" charset="-122"/>
                <a:cs typeface="Calibri" pitchFamily="34" charset="-120"/>
              </a:rPr>
              <a:t>TF-IDF reaches 0.775 and beats the window transformer (0.692) by 0.082. The gap held with three seeds, all 53,662 windows and six pooling rules.</a:t>
            </a:r>
            <a:endParaRPr lang="en-US" sz="1350" dirty="0"/>
          </a:p>
        </p:txBody>
      </p:sp>
      <p:sp>
        <p:nvSpPr>
          <p:cNvPr id="17" name="Shape 13"/>
          <p:cNvSpPr/>
          <p:nvPr/>
        </p:nvSpPr>
        <p:spPr>
          <a:xfrm>
            <a:off x="6766560" y="4572000"/>
            <a:ext cx="4937760" cy="1737360"/>
          </a:xfrm>
          <a:prstGeom prst="roundRect">
            <a:avLst>
              <a:gd name="adj" fmla="val 3684"/>
            </a:avLst>
          </a:prstGeom>
          <a:solidFill>
            <a:srgbClr val="F6F7FB"/>
          </a:solidFill>
          <a:ln w="12700">
            <a:solidFill>
              <a:srgbClr val="E4E7F2"/>
            </a:solidFill>
            <a:prstDash val="solid"/>
          </a:ln>
        </p:spPr>
      </p:sp>
      <p:sp>
        <p:nvSpPr>
          <p:cNvPr id="18" name="Shape 14"/>
          <p:cNvSpPr/>
          <p:nvPr/>
        </p:nvSpPr>
        <p:spPr>
          <a:xfrm>
            <a:off x="6949440" y="4745736"/>
            <a:ext cx="256032" cy="256032"/>
          </a:xfrm>
          <a:prstGeom prst="ellipse">
            <a:avLst/>
          </a:prstGeom>
          <a:solidFill>
            <a:srgbClr val="E8A13A"/>
          </a:solidFill>
          <a:ln w="12700">
            <a:solidFill>
              <a:srgbClr val="E8A13A"/>
            </a:solidFill>
            <a:prstDash val="solid"/>
          </a:ln>
        </p:spPr>
      </p:sp>
      <p:sp>
        <p:nvSpPr>
          <p:cNvPr id="19" name="Text 15"/>
          <p:cNvSpPr txBox="1"/>
          <p:nvPr/>
        </p:nvSpPr>
        <p:spPr>
          <a:xfrm>
            <a:off x="7296912" y="4681728"/>
            <a:ext cx="4251960" cy="310896"/>
          </a:xfrm>
          <a:prstGeom prst="rect">
            <a:avLst/>
          </a:prstGeom>
          <a:noFill/>
          <a:ln/>
        </p:spPr>
        <p:txBody>
          <a:bodyPr wrap="square" lIns="0" tIns="0" rIns="0" bIns="0" rtlCol="0" anchor="ctr"/>
          <a:lstStyle/>
          <a:p>
            <a:pPr indent="0" marL="0">
              <a:buNone/>
            </a:pPr>
            <a:r>
              <a:rPr lang="en-US" sz="1550" b="1" dirty="0">
                <a:solidFill>
                  <a:srgbClr val="141B3D"/>
                </a:solidFill>
                <a:latin typeface="Calibri" pitchFamily="34" charset="0"/>
                <a:ea typeface="Calibri" pitchFamily="34" charset="-122"/>
                <a:cs typeface="Calibri" pitchFamily="34" charset="-120"/>
              </a:rPr>
              <a:t>Common clauses are almost solved</a:t>
            </a:r>
            <a:endParaRPr lang="en-US" sz="1550" dirty="0"/>
          </a:p>
        </p:txBody>
      </p:sp>
      <p:sp>
        <p:nvSpPr>
          <p:cNvPr id="20" name="Text 16"/>
          <p:cNvSpPr txBox="1"/>
          <p:nvPr/>
        </p:nvSpPr>
        <p:spPr>
          <a:xfrm>
            <a:off x="6967728" y="5084064"/>
            <a:ext cx="4535424" cy="1078992"/>
          </a:xfrm>
          <a:prstGeom prst="rect">
            <a:avLst/>
          </a:prstGeom>
          <a:noFill/>
          <a:ln/>
        </p:spPr>
        <p:txBody>
          <a:bodyPr wrap="square" lIns="0" tIns="0" rIns="0" bIns="0" rtlCol="0" anchor="ctr"/>
          <a:lstStyle/>
          <a:p>
            <a:pPr indent="0" marL="0">
              <a:buNone/>
            </a:pPr>
            <a:r>
              <a:rPr lang="en-US" sz="1350" dirty="0">
                <a:solidFill>
                  <a:srgbClr val="374151"/>
                </a:solidFill>
                <a:latin typeface="Calibri" pitchFamily="34" charset="0"/>
                <a:ea typeface="Calibri" pitchFamily="34" charset="-122"/>
                <a:cs typeface="Calibri" pitchFamily="34" charset="-120"/>
              </a:rPr>
              <a:t>Document Name 1.000, Parties 0.995, Agreement Date 0.963, Governing Law 0.931. The rarest categories have only 2 to 7 test examples, too few to learn reliably.</a:t>
            </a:r>
            <a:endParaRPr lang="en-US" sz="1350" dirty="0"/>
          </a:p>
        </p:txBody>
      </p:sp>
      <p:graphicFrame>
        <p:nvGraphicFramePr>
          <p:cNvPr id="21" name="Chart 20"/>
          <p:cNvGraphicFramePr>
            <a:graphicFrameLocks noGrp="1"/>
          </p:cNvGraphicFramePr>
          <p:nvPr/>
        </p:nvGraphicFramePr>
        <p:xfrm>
          <a:off x="548640" y="1371600"/>
          <a:ext cx="6035040" cy="3465576"/>
        </p:xfrm>
        <a:graphic>
          <a:graphicData uri="http://schemas.openxmlformats.org/drawingml/2006/chart">
            <c:chart xmlns:c="http://schemas.openxmlformats.org/drawingml/2006/chart" r:id="rId5"/>
          </a:graphicData>
        </a:graphic>
      </p:graphicFrame>
      <p:pic>
        <p:nvPicPr>
          <p:cNvPr id="22" name="Picture 21" descr="per_category_f1.png"/>
          <p:cNvPicPr>
            <a:picLocks noChangeAspect="1"/>
          </p:cNvPicPr>
          <p:nvPr/>
        </p:nvPicPr>
        <p:blipFill>
          <a:blip r:embed="rId6"/>
          <a:stretch>
            <a:fillRect/>
          </a:stretch>
        </p:blipFill>
        <p:spPr>
          <a:xfrm>
            <a:off x="548640" y="4893447"/>
            <a:ext cx="2788920" cy="1716258"/>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548640" y="109728"/>
            <a:ext cx="2286000" cy="301752"/>
          </a:xfrm>
          <a:prstGeom prst="roundRect">
            <a:avLst>
              <a:gd name="adj" fmla="val 45455"/>
            </a:avLst>
          </a:prstGeom>
          <a:solidFill>
            <a:srgbClr val="CADCFC"/>
          </a:solidFill>
          <a:ln w="12700">
            <a:solidFill>
              <a:srgbClr val="CADCFC"/>
            </a:solidFill>
            <a:prstDash val="solid"/>
          </a:ln>
        </p:spPr>
      </p:sp>
      <p:sp>
        <p:nvSpPr>
          <p:cNvPr id="3" name="Text 1"/>
          <p:cNvSpPr txBox="1"/>
          <p:nvPr/>
        </p:nvSpPr>
        <p:spPr>
          <a:xfrm>
            <a:off x="548640" y="109728"/>
            <a:ext cx="2286000" cy="301752"/>
          </a:xfrm>
          <a:prstGeom prst="rect">
            <a:avLst/>
          </a:prstGeom>
          <a:noFill/>
          <a:ln/>
        </p:spPr>
        <p:txBody>
          <a:bodyPr wrap="square" lIns="0" tIns="0" rIns="0" bIns="0" rtlCol="0" anchor="ctr"/>
          <a:lstStyle/>
          <a:p>
            <a:pPr algn="ctr" indent="0" marL="0">
              <a:buNone/>
            </a:pPr>
            <a:r>
              <a:rPr lang="en-US" sz="1250" b="1" dirty="0">
                <a:solidFill>
                  <a:srgbClr val="1E2761"/>
                </a:solidFill>
                <a:latin typeface="Calibri" pitchFamily="34" charset="0"/>
                <a:ea typeface="Calibri" pitchFamily="34" charset="-122"/>
                <a:cs typeface="Calibri" pitchFamily="34" charset="-120"/>
              </a:rPr>
              <a:t>RESULTS</a:t>
            </a:r>
            <a:endParaRPr lang="en-US" sz="1250" dirty="0"/>
          </a:p>
        </p:txBody>
      </p:sp>
      <p:sp>
        <p:nvSpPr>
          <p:cNvPr id="4" name="Text 2"/>
          <p:cNvSpPr txBox="1"/>
          <p:nvPr/>
        </p:nvSpPr>
        <p:spPr>
          <a:xfrm>
            <a:off x="563728" y="329184"/>
            <a:ext cx="11064240" cy="676656"/>
          </a:xfrm>
          <a:prstGeom prst="rect">
            <a:avLst/>
          </a:prstGeom>
          <a:noFill/>
          <a:ln/>
        </p:spPr>
        <p:txBody>
          <a:bodyPr wrap="square" rtlCol="0" anchor="ctr"/>
          <a:lstStyle/>
          <a:p>
            <a:pPr algn="ctr" indent="0" marL="0">
              <a:buNone/>
            </a:pPr>
            <a:r>
              <a:rPr lang="en-US" sz="3500" b="1" dirty="0">
                <a:solidFill>
                  <a:srgbClr val="141B3D"/>
                </a:solidFill>
                <a:latin typeface="Cambria" pitchFamily="34" charset="0"/>
                <a:ea typeface="Cambria" pitchFamily="34" charset="-122"/>
                <a:cs typeface="Cambria" pitchFamily="34" charset="-120"/>
              </a:rPr>
              <a:t>Result 2: clause text and plain English</a:t>
            </a:r>
            <a:endParaRPr lang="en-US" sz="3500" dirty="0"/>
          </a:p>
        </p:txBody>
      </p:sp>
      <p:sp>
        <p:nvSpPr>
          <p:cNvPr id="5" name="Text 3"/>
          <p:cNvSpPr txBox="1"/>
          <p:nvPr/>
        </p:nvSpPr>
        <p:spPr>
          <a:xfrm>
            <a:off x="563728" y="1024128"/>
            <a:ext cx="11064240" cy="347472"/>
          </a:xfrm>
          <a:prstGeom prst="rect">
            <a:avLst/>
          </a:prstGeom>
          <a:noFill/>
          <a:ln/>
        </p:spPr>
        <p:txBody>
          <a:bodyPr wrap="square" rtlCol="0" anchor="ctr"/>
          <a:lstStyle/>
          <a:p>
            <a:pPr algn="ctr" indent="0" marL="0">
              <a:buNone/>
            </a:pPr>
            <a:r>
              <a:rPr lang="en-US" sz="1600" i="1" dirty="0">
                <a:solidFill>
                  <a:srgbClr val="6B7280"/>
                </a:solidFill>
                <a:latin typeface="Calibri" pitchFamily="34" charset="0"/>
                <a:ea typeface="Calibri" pitchFamily="34" charset="-122"/>
                <a:cs typeface="Calibri" pitchFamily="34" charset="-120"/>
              </a:rPr>
              <a:t>How the span model and the summarizer do on unseen clauses</a:t>
            </a:r>
            <a:endParaRPr lang="en-US" sz="1600" dirty="0"/>
          </a:p>
        </p:txBody>
      </p:sp>
      <p:sp>
        <p:nvSpPr>
          <p:cNvPr id="6" name="Shape 4"/>
          <p:cNvSpPr/>
          <p:nvPr/>
        </p:nvSpPr>
        <p:spPr>
          <a:xfrm>
            <a:off x="548640" y="1600200"/>
            <a:ext cx="2286000" cy="1188720"/>
          </a:xfrm>
          <a:prstGeom prst="roundRect">
            <a:avLst>
              <a:gd name="adj" fmla="val 5385"/>
            </a:avLst>
          </a:prstGeom>
          <a:solidFill>
            <a:srgbClr val="F6F7FB"/>
          </a:solidFill>
          <a:ln w="12700">
            <a:solidFill>
              <a:srgbClr val="D9DEEC"/>
            </a:solidFill>
            <a:prstDash val="solid"/>
          </a:ln>
        </p:spPr>
      </p:sp>
      <p:sp>
        <p:nvSpPr>
          <p:cNvPr id="7" name="Text 5"/>
          <p:cNvSpPr txBox="1"/>
          <p:nvPr/>
        </p:nvSpPr>
        <p:spPr>
          <a:xfrm>
            <a:off x="640080" y="1691640"/>
            <a:ext cx="2103120" cy="1005840"/>
          </a:xfrm>
          <a:prstGeom prst="rect">
            <a:avLst/>
          </a:prstGeom>
          <a:noFill/>
          <a:ln/>
        </p:spPr>
        <p:txBody>
          <a:bodyPr wrap="square" lIns="0" tIns="0" rIns="0" bIns="0" rtlCol="0" anchor="ctr"/>
          <a:lstStyle/>
          <a:p>
            <a:pPr algn="ctr" indent="0" marL="0">
              <a:buNone/>
            </a:pPr>
            <a:r>
              <a:rPr lang="en-US" sz="1250" dirty="0">
                <a:solidFill>
                  <a:srgbClr val="374151"/>
                </a:solidFill>
                <a:latin typeface="Calibri" pitchFamily="34" charset="0"/>
                <a:ea typeface="Calibri" pitchFamily="34" charset="-122"/>
                <a:cs typeface="Calibri" pitchFamily="34" charset="-120"/>
              </a:rPr>
              <a:t>clause text</a:t>
            </a:r>
            <a:endParaRPr lang="en-US" sz="1250" dirty="0"/>
          </a:p>
          <a:p>
            <a:pPr algn="ctr" indent="0" marL="0">
              <a:buNone/>
            </a:pPr>
            <a:r>
              <a:rPr lang="en-US" sz="1250" dirty="0">
                <a:solidFill>
                  <a:srgbClr val="374151"/>
                </a:solidFill>
                <a:latin typeface="Calibri" pitchFamily="34" charset="0"/>
                <a:ea typeface="Calibri" pitchFamily="34" charset="-122"/>
                <a:cs typeface="Calibri" pitchFamily="34" charset="-120"/>
              </a:rPr>
              <a:t>“any attempted assignment … will be void”</a:t>
            </a:r>
            <a:endParaRPr lang="en-US" sz="1250" dirty="0"/>
          </a:p>
        </p:txBody>
      </p:sp>
      <p:sp>
        <p:nvSpPr>
          <p:cNvPr id="8" name="Text 6"/>
          <p:cNvSpPr txBox="1"/>
          <p:nvPr/>
        </p:nvSpPr>
        <p:spPr>
          <a:xfrm>
            <a:off x="2926080" y="2057400"/>
            <a:ext cx="219456" cy="365760"/>
          </a:xfrm>
          <a:prstGeom prst="rect">
            <a:avLst/>
          </a:prstGeom>
          <a:noFill/>
          <a:ln/>
        </p:spPr>
        <p:txBody>
          <a:bodyPr wrap="square" lIns="0" tIns="0" rIns="0" bIns="0" rtlCol="0" anchor="ctr"/>
          <a:lstStyle/>
          <a:p>
            <a:pPr algn="ctr" indent="0" marL="0">
              <a:buNone/>
            </a:pPr>
            <a:r>
              <a:rPr lang="en-US" sz="2500" dirty="0">
                <a:solidFill>
                  <a:srgbClr val="C3C9DC"/>
                </a:solidFill>
                <a:latin typeface="Calibri" pitchFamily="34" charset="0"/>
                <a:ea typeface="Calibri" pitchFamily="34" charset="-122"/>
                <a:cs typeface="Calibri" pitchFamily="34" charset="-120"/>
              </a:rPr>
              <a:t>›</a:t>
            </a:r>
            <a:endParaRPr lang="en-US" sz="2500" dirty="0"/>
          </a:p>
        </p:txBody>
      </p:sp>
      <p:sp>
        <p:nvSpPr>
          <p:cNvPr id="9" name="Shape 7"/>
          <p:cNvSpPr/>
          <p:nvPr/>
        </p:nvSpPr>
        <p:spPr>
          <a:xfrm>
            <a:off x="3383280" y="1600200"/>
            <a:ext cx="2286000" cy="1188720"/>
          </a:xfrm>
          <a:prstGeom prst="roundRect">
            <a:avLst>
              <a:gd name="adj" fmla="val 5385"/>
            </a:avLst>
          </a:prstGeom>
          <a:solidFill>
            <a:srgbClr val="1E2761"/>
          </a:solidFill>
          <a:ln w="12700">
            <a:solidFill>
              <a:srgbClr val="1E2761"/>
            </a:solidFill>
            <a:prstDash val="solid"/>
          </a:ln>
        </p:spPr>
      </p:sp>
      <p:sp>
        <p:nvSpPr>
          <p:cNvPr id="10" name="Text 8"/>
          <p:cNvSpPr txBox="1"/>
          <p:nvPr/>
        </p:nvSpPr>
        <p:spPr>
          <a:xfrm>
            <a:off x="3474720" y="1828800"/>
            <a:ext cx="2103120" cy="77724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FLAN-T5-small</a:t>
            </a:r>
            <a:endParaRPr lang="en-US" sz="1250" dirty="0"/>
          </a:p>
          <a:p>
            <a:pPr algn="ctr" indent="0" marL="0">
              <a:buNone/>
            </a:pPr>
            <a:r>
              <a:rPr lang="en-US" sz="1250" b="1" dirty="0">
                <a:solidFill>
                  <a:srgbClr val="FFFFFF"/>
                </a:solidFill>
                <a:latin typeface="Calibri" pitchFamily="34" charset="0"/>
                <a:ea typeface="Calibri" pitchFamily="34" charset="-122"/>
                <a:cs typeface="Calibri" pitchFamily="34" charset="-120"/>
              </a:rPr>
              <a:t>picks the category sentence</a:t>
            </a:r>
            <a:endParaRPr lang="en-US" sz="1250" dirty="0"/>
          </a:p>
        </p:txBody>
      </p:sp>
      <p:sp>
        <p:nvSpPr>
          <p:cNvPr id="11" name="Text 9"/>
          <p:cNvSpPr txBox="1"/>
          <p:nvPr/>
        </p:nvSpPr>
        <p:spPr>
          <a:xfrm>
            <a:off x="5760720" y="2057400"/>
            <a:ext cx="219456" cy="365760"/>
          </a:xfrm>
          <a:prstGeom prst="rect">
            <a:avLst/>
          </a:prstGeom>
          <a:noFill/>
          <a:ln/>
        </p:spPr>
        <p:txBody>
          <a:bodyPr wrap="square" lIns="0" tIns="0" rIns="0" bIns="0" rtlCol="0" anchor="ctr"/>
          <a:lstStyle/>
          <a:p>
            <a:pPr algn="ctr" indent="0" marL="0">
              <a:buNone/>
            </a:pPr>
            <a:r>
              <a:rPr lang="en-US" sz="2500" dirty="0">
                <a:solidFill>
                  <a:srgbClr val="C3C9DC"/>
                </a:solidFill>
                <a:latin typeface="Calibri" pitchFamily="34" charset="0"/>
                <a:ea typeface="Calibri" pitchFamily="34" charset="-122"/>
                <a:cs typeface="Calibri" pitchFamily="34" charset="-120"/>
              </a:rPr>
              <a:t>›</a:t>
            </a:r>
            <a:endParaRPr lang="en-US" sz="2500" dirty="0"/>
          </a:p>
        </p:txBody>
      </p:sp>
      <p:sp>
        <p:nvSpPr>
          <p:cNvPr id="12" name="Shape 10"/>
          <p:cNvSpPr/>
          <p:nvPr/>
        </p:nvSpPr>
        <p:spPr>
          <a:xfrm>
            <a:off x="6217920" y="1600200"/>
            <a:ext cx="3017520" cy="420624"/>
          </a:xfrm>
          <a:prstGeom prst="roundRect">
            <a:avLst>
              <a:gd name="adj" fmla="val 8696"/>
            </a:avLst>
          </a:prstGeom>
          <a:solidFill>
            <a:srgbClr val="EEF8F3"/>
          </a:solidFill>
          <a:ln w="12700">
            <a:solidFill>
              <a:srgbClr val="4CAF82"/>
            </a:solidFill>
            <a:prstDash val="solid"/>
          </a:ln>
        </p:spPr>
      </p:sp>
      <p:sp>
        <p:nvSpPr>
          <p:cNvPr id="13" name="Text 11"/>
          <p:cNvSpPr txBox="1"/>
          <p:nvPr/>
        </p:nvSpPr>
        <p:spPr>
          <a:xfrm>
            <a:off x="6309360" y="1600200"/>
            <a:ext cx="2880360" cy="420624"/>
          </a:xfrm>
          <a:prstGeom prst="rect">
            <a:avLst/>
          </a:prstGeom>
          <a:noFill/>
          <a:ln/>
        </p:spPr>
        <p:txBody>
          <a:bodyPr wrap="square" lIns="0" tIns="0" rIns="0" bIns="0" rtlCol="0" anchor="ctr"/>
          <a:lstStyle/>
          <a:p>
            <a:pPr indent="0" marL="0">
              <a:buNone/>
            </a:pPr>
            <a:r>
              <a:rPr lang="en-US" sz="1250" dirty="0">
                <a:solidFill>
                  <a:srgbClr val="141B3D"/>
                </a:solidFill>
                <a:latin typeface="Calibri" pitchFamily="34" charset="0"/>
                <a:ea typeface="Calibri" pitchFamily="34" charset="-122"/>
                <a:cs typeface="Calibri" pitchFamily="34" charset="-120"/>
              </a:rPr>
              <a:t>Anti-Assignment sentence</a:t>
            </a:r>
            <a:endParaRPr lang="en-US" sz="1250" dirty="0"/>
          </a:p>
        </p:txBody>
      </p:sp>
      <p:sp>
        <p:nvSpPr>
          <p:cNvPr id="14" name="Text 12"/>
          <p:cNvSpPr txBox="1"/>
          <p:nvPr/>
        </p:nvSpPr>
        <p:spPr>
          <a:xfrm>
            <a:off x="9372600" y="1600200"/>
            <a:ext cx="2331720" cy="420624"/>
          </a:xfrm>
          <a:prstGeom prst="rect">
            <a:avLst/>
          </a:prstGeom>
          <a:noFill/>
          <a:ln/>
        </p:spPr>
        <p:txBody>
          <a:bodyPr wrap="square" lIns="0" tIns="0" rIns="0" bIns="0" rtlCol="0" anchor="ctr"/>
          <a:lstStyle/>
          <a:p>
            <a:pPr indent="0" marL="0">
              <a:buNone/>
            </a:pPr>
            <a:r>
              <a:rPr lang="en-US" sz="1250" b="1" dirty="0">
                <a:solidFill>
                  <a:srgbClr val="4CAF82"/>
                </a:solidFill>
                <a:latin typeface="Calibri" pitchFamily="34" charset="0"/>
                <a:ea typeface="Calibri" pitchFamily="34" charset="-122"/>
                <a:cs typeface="Calibri" pitchFamily="34" charset="-120"/>
              </a:rPr>
              <a:t>right 70%</a:t>
            </a:r>
            <a:endParaRPr lang="en-US" sz="1250" dirty="0"/>
          </a:p>
        </p:txBody>
      </p:sp>
      <p:sp>
        <p:nvSpPr>
          <p:cNvPr id="15" name="Shape 13"/>
          <p:cNvSpPr/>
          <p:nvPr/>
        </p:nvSpPr>
        <p:spPr>
          <a:xfrm>
            <a:off x="6217920" y="2093976"/>
            <a:ext cx="3017520" cy="420624"/>
          </a:xfrm>
          <a:prstGeom prst="roundRect">
            <a:avLst>
              <a:gd name="adj" fmla="val 8696"/>
            </a:avLst>
          </a:prstGeom>
          <a:solidFill>
            <a:srgbClr val="F6F7FB"/>
          </a:solidFill>
          <a:ln w="12700">
            <a:solidFill>
              <a:srgbClr val="D9DEEC"/>
            </a:solidFill>
            <a:prstDash val="solid"/>
          </a:ln>
        </p:spPr>
      </p:sp>
      <p:sp>
        <p:nvSpPr>
          <p:cNvPr id="16" name="Text 14"/>
          <p:cNvSpPr txBox="1"/>
          <p:nvPr/>
        </p:nvSpPr>
        <p:spPr>
          <a:xfrm>
            <a:off x="6309360" y="2093976"/>
            <a:ext cx="2880360" cy="420624"/>
          </a:xfrm>
          <a:prstGeom prst="rect">
            <a:avLst/>
          </a:prstGeom>
          <a:noFill/>
          <a:ln/>
        </p:spPr>
        <p:txBody>
          <a:bodyPr wrap="square" lIns="0" tIns="0" rIns="0" bIns="0" rtlCol="0" anchor="ctr"/>
          <a:lstStyle/>
          <a:p>
            <a:pPr indent="0" marL="0">
              <a:buNone/>
            </a:pPr>
            <a:r>
              <a:rPr lang="en-US" sz="1250" dirty="0">
                <a:solidFill>
                  <a:srgbClr val="6B7280"/>
                </a:solidFill>
                <a:latin typeface="Calibri" pitchFamily="34" charset="0"/>
                <a:ea typeface="Calibri" pitchFamily="34" charset="-122"/>
                <a:cs typeface="Calibri" pitchFamily="34" charset="-120"/>
              </a:rPr>
              <a:t>Cap on Liability sentence</a:t>
            </a:r>
            <a:endParaRPr lang="en-US" sz="1250" dirty="0"/>
          </a:p>
        </p:txBody>
      </p:sp>
      <p:sp>
        <p:nvSpPr>
          <p:cNvPr id="17" name="Shape 15"/>
          <p:cNvSpPr/>
          <p:nvPr/>
        </p:nvSpPr>
        <p:spPr>
          <a:xfrm>
            <a:off x="6217920" y="2587752"/>
            <a:ext cx="3017520" cy="420624"/>
          </a:xfrm>
          <a:prstGeom prst="roundRect">
            <a:avLst>
              <a:gd name="adj" fmla="val 8696"/>
            </a:avLst>
          </a:prstGeom>
          <a:solidFill>
            <a:srgbClr val="FDF0F1"/>
          </a:solidFill>
          <a:ln w="12700">
            <a:solidFill>
              <a:srgbClr val="D94F5C"/>
            </a:solidFill>
            <a:prstDash val="solid"/>
          </a:ln>
        </p:spPr>
      </p:sp>
      <p:sp>
        <p:nvSpPr>
          <p:cNvPr id="18" name="Text 16"/>
          <p:cNvSpPr txBox="1"/>
          <p:nvPr/>
        </p:nvSpPr>
        <p:spPr>
          <a:xfrm>
            <a:off x="6309360" y="2587752"/>
            <a:ext cx="2880360" cy="420624"/>
          </a:xfrm>
          <a:prstGeom prst="rect">
            <a:avLst/>
          </a:prstGeom>
          <a:noFill/>
          <a:ln/>
        </p:spPr>
        <p:txBody>
          <a:bodyPr wrap="square" lIns="0" tIns="0" rIns="0" bIns="0" rtlCol="0" anchor="ctr"/>
          <a:lstStyle/>
          <a:p>
            <a:pPr indent="0" marL="0">
              <a:buNone/>
            </a:pPr>
            <a:r>
              <a:rPr lang="en-US" sz="1250" dirty="0">
                <a:solidFill>
                  <a:srgbClr val="141B3D"/>
                </a:solidFill>
                <a:latin typeface="Calibri" pitchFamily="34" charset="0"/>
                <a:ea typeface="Calibri" pitchFamily="34" charset="-122"/>
                <a:cs typeface="Calibri" pitchFamily="34" charset="-120"/>
              </a:rPr>
              <a:t>ROFR sentence</a:t>
            </a:r>
            <a:endParaRPr lang="en-US" sz="1250" dirty="0"/>
          </a:p>
        </p:txBody>
      </p:sp>
      <p:sp>
        <p:nvSpPr>
          <p:cNvPr id="19" name="Text 17"/>
          <p:cNvSpPr txBox="1"/>
          <p:nvPr/>
        </p:nvSpPr>
        <p:spPr>
          <a:xfrm>
            <a:off x="9372600" y="2587752"/>
            <a:ext cx="2331720" cy="420624"/>
          </a:xfrm>
          <a:prstGeom prst="rect">
            <a:avLst/>
          </a:prstGeom>
          <a:noFill/>
          <a:ln/>
        </p:spPr>
        <p:txBody>
          <a:bodyPr wrap="square" lIns="0" tIns="0" rIns="0" bIns="0" rtlCol="0" anchor="ctr"/>
          <a:lstStyle/>
          <a:p>
            <a:pPr indent="0" marL="0">
              <a:buNone/>
            </a:pPr>
            <a:r>
              <a:rPr lang="en-US" sz="1250" b="1" dirty="0">
                <a:solidFill>
                  <a:srgbClr val="D94F5C"/>
                </a:solidFill>
                <a:latin typeface="Calibri" pitchFamily="34" charset="0"/>
                <a:ea typeface="Calibri" pitchFamily="34" charset="-122"/>
                <a:cs typeface="Calibri" pitchFamily="34" charset="-120"/>
              </a:rPr>
              <a:t>other 30%</a:t>
            </a:r>
            <a:endParaRPr lang="en-US" sz="1250" dirty="0"/>
          </a:p>
        </p:txBody>
      </p:sp>
      <p:sp>
        <p:nvSpPr>
          <p:cNvPr id="20" name="Text 18"/>
          <p:cNvSpPr txBox="1"/>
          <p:nvPr/>
        </p:nvSpPr>
        <p:spPr>
          <a:xfrm>
            <a:off x="6217920" y="3090672"/>
            <a:ext cx="4206240" cy="274320"/>
          </a:xfrm>
          <a:prstGeom prst="rect">
            <a:avLst/>
          </a:prstGeom>
          <a:noFill/>
          <a:ln/>
        </p:spPr>
        <p:txBody>
          <a:bodyPr wrap="square" lIns="0" tIns="0" rIns="0" bIns="0" rtlCol="0" anchor="ctr"/>
          <a:lstStyle/>
          <a:p>
            <a:pPr indent="0" marL="0">
              <a:buNone/>
            </a:pPr>
            <a:r>
              <a:rPr lang="en-US" sz="1250" dirty="0">
                <a:solidFill>
                  <a:srgbClr val="6B7280"/>
                </a:solidFill>
                <a:latin typeface="Calibri" pitchFamily="34" charset="0"/>
                <a:ea typeface="Calibri" pitchFamily="34" charset="-122"/>
                <a:cs typeface="Calibri" pitchFamily="34" charset="-120"/>
              </a:rPr>
              <a:t>⋮  one of the 41 sentences we wrote</a:t>
            </a:r>
            <a:endParaRPr lang="en-US" sz="1250" dirty="0"/>
          </a:p>
        </p:txBody>
      </p:sp>
      <p:sp>
        <p:nvSpPr>
          <p:cNvPr id="21" name="Text 19"/>
          <p:cNvSpPr txBox="1"/>
          <p:nvPr/>
        </p:nvSpPr>
        <p:spPr>
          <a:xfrm>
            <a:off x="548640" y="3611880"/>
            <a:ext cx="3657600" cy="621792"/>
          </a:xfrm>
          <a:prstGeom prst="rect">
            <a:avLst/>
          </a:prstGeom>
          <a:noFill/>
          <a:ln/>
        </p:spPr>
        <p:txBody>
          <a:bodyPr wrap="square" lIns="0" tIns="0" rIns="0" bIns="0" rtlCol="0" anchor="ctr"/>
          <a:lstStyle/>
          <a:p>
            <a:pPr algn="ctr" indent="0" marL="0">
              <a:buNone/>
            </a:pPr>
            <a:r>
              <a:rPr lang="en-US" sz="3850" b="1" dirty="0">
                <a:solidFill>
                  <a:srgbClr val="1E2761"/>
                </a:solidFill>
                <a:latin typeface="Cambria" pitchFamily="34" charset="0"/>
                <a:ea typeface="Cambria" pitchFamily="34" charset="-122"/>
                <a:cs typeface="Cambria" pitchFamily="34" charset="-120"/>
              </a:rPr>
              <a:t>0.764</a:t>
            </a:r>
            <a:endParaRPr lang="en-US" sz="3850" dirty="0"/>
          </a:p>
        </p:txBody>
      </p:sp>
      <p:sp>
        <p:nvSpPr>
          <p:cNvPr id="22" name="Text 20"/>
          <p:cNvSpPr txBox="1"/>
          <p:nvPr/>
        </p:nvSpPr>
        <p:spPr>
          <a:xfrm>
            <a:off x="548640" y="4215384"/>
            <a:ext cx="3657600" cy="512064"/>
          </a:xfrm>
          <a:prstGeom prst="rect">
            <a:avLst/>
          </a:prstGeom>
          <a:noFill/>
          <a:ln/>
        </p:spPr>
        <p:txBody>
          <a:bodyPr wrap="square" lIns="0" tIns="0" rIns="0" bIns="0" rtlCol="0" anchor="ctr"/>
          <a:lstStyle/>
          <a:p>
            <a:pPr algn="ctr" indent="0" marL="0">
              <a:buNone/>
            </a:pPr>
            <a:r>
              <a:rPr lang="en-US" sz="1350" dirty="0">
                <a:solidFill>
                  <a:srgbClr val="6B7280"/>
                </a:solidFill>
                <a:latin typeface="Calibri" pitchFamily="34" charset="0"/>
                <a:ea typeface="Calibri" pitchFamily="34" charset="-122"/>
                <a:cs typeface="Calibri" pitchFamily="34" charset="-120"/>
              </a:rPr>
              <a:t>token-F1 of the clause text (95% CI 0.743 to 0.782)</a:t>
            </a:r>
            <a:endParaRPr lang="en-US" sz="1350" dirty="0"/>
          </a:p>
        </p:txBody>
      </p:sp>
      <p:sp>
        <p:nvSpPr>
          <p:cNvPr id="23" name="Text 21"/>
          <p:cNvSpPr txBox="1"/>
          <p:nvPr/>
        </p:nvSpPr>
        <p:spPr>
          <a:xfrm>
            <a:off x="4389120" y="3611880"/>
            <a:ext cx="3657600" cy="621792"/>
          </a:xfrm>
          <a:prstGeom prst="rect">
            <a:avLst/>
          </a:prstGeom>
          <a:noFill/>
          <a:ln/>
        </p:spPr>
        <p:txBody>
          <a:bodyPr wrap="square" lIns="0" tIns="0" rIns="0" bIns="0" rtlCol="0" anchor="ctr"/>
          <a:lstStyle/>
          <a:p>
            <a:pPr algn="ctr" indent="0" marL="0">
              <a:buNone/>
            </a:pPr>
            <a:r>
              <a:rPr lang="en-US" sz="3850" b="1" dirty="0">
                <a:solidFill>
                  <a:srgbClr val="1E2761"/>
                </a:solidFill>
                <a:latin typeface="Cambria" pitchFamily="34" charset="0"/>
                <a:ea typeface="Cambria" pitchFamily="34" charset="-122"/>
                <a:cs typeface="Cambria" pitchFamily="34" charset="-120"/>
              </a:rPr>
              <a:t>82.8%</a:t>
            </a:r>
            <a:endParaRPr lang="en-US" sz="3850" dirty="0"/>
          </a:p>
        </p:txBody>
      </p:sp>
      <p:sp>
        <p:nvSpPr>
          <p:cNvPr id="24" name="Text 22"/>
          <p:cNvSpPr txBox="1"/>
          <p:nvPr/>
        </p:nvSpPr>
        <p:spPr>
          <a:xfrm>
            <a:off x="4389120" y="4215384"/>
            <a:ext cx="3657600" cy="512064"/>
          </a:xfrm>
          <a:prstGeom prst="rect">
            <a:avLst/>
          </a:prstGeom>
          <a:noFill/>
          <a:ln/>
        </p:spPr>
        <p:txBody>
          <a:bodyPr wrap="square" lIns="0" tIns="0" rIns="0" bIns="0" rtlCol="0" anchor="ctr"/>
          <a:lstStyle/>
          <a:p>
            <a:pPr algn="ctr" indent="0" marL="0">
              <a:buNone/>
            </a:pPr>
            <a:r>
              <a:rPr lang="en-US" sz="1350" dirty="0">
                <a:solidFill>
                  <a:srgbClr val="6B7280"/>
                </a:solidFill>
                <a:latin typeface="Calibri" pitchFamily="34" charset="0"/>
                <a:ea typeface="Calibri" pitchFamily="34" charset="-122"/>
                <a:cs typeface="Calibri" pitchFamily="34" charset="-120"/>
              </a:rPr>
              <a:t>of answers overlap the real clause well (F1 ≥ 0.5)</a:t>
            </a:r>
            <a:endParaRPr lang="en-US" sz="1350" dirty="0"/>
          </a:p>
        </p:txBody>
      </p:sp>
      <p:sp>
        <p:nvSpPr>
          <p:cNvPr id="25" name="Text 23"/>
          <p:cNvSpPr txBox="1"/>
          <p:nvPr/>
        </p:nvSpPr>
        <p:spPr>
          <a:xfrm>
            <a:off x="8229600" y="3611880"/>
            <a:ext cx="3474720" cy="621792"/>
          </a:xfrm>
          <a:prstGeom prst="rect">
            <a:avLst/>
          </a:prstGeom>
          <a:noFill/>
          <a:ln/>
        </p:spPr>
        <p:txBody>
          <a:bodyPr wrap="square" lIns="0" tIns="0" rIns="0" bIns="0" rtlCol="0" anchor="ctr"/>
          <a:lstStyle/>
          <a:p>
            <a:pPr algn="ctr" indent="0" marL="0">
              <a:buNone/>
            </a:pPr>
            <a:r>
              <a:rPr lang="en-US" sz="3850" b="1" dirty="0">
                <a:solidFill>
                  <a:srgbClr val="1E2761"/>
                </a:solidFill>
                <a:latin typeface="Cambria" pitchFamily="34" charset="0"/>
                <a:ea typeface="Cambria" pitchFamily="34" charset="-122"/>
                <a:cs typeface="Cambria" pitchFamily="34" charset="-120"/>
              </a:rPr>
              <a:t>0.775</a:t>
            </a:r>
            <a:endParaRPr lang="en-US" sz="3850" dirty="0"/>
          </a:p>
        </p:txBody>
      </p:sp>
      <p:sp>
        <p:nvSpPr>
          <p:cNvPr id="26" name="Text 24"/>
          <p:cNvSpPr txBox="1"/>
          <p:nvPr/>
        </p:nvSpPr>
        <p:spPr>
          <a:xfrm>
            <a:off x="8229600" y="4215384"/>
            <a:ext cx="3474720" cy="512064"/>
          </a:xfrm>
          <a:prstGeom prst="rect">
            <a:avLst/>
          </a:prstGeom>
          <a:noFill/>
          <a:ln/>
        </p:spPr>
        <p:txBody>
          <a:bodyPr wrap="square" lIns="0" tIns="0" rIns="0" bIns="0" rtlCol="0" anchor="ctr"/>
          <a:lstStyle/>
          <a:p>
            <a:pPr algn="ctr" indent="0" marL="0">
              <a:buNone/>
            </a:pPr>
            <a:r>
              <a:rPr lang="en-US" sz="1350" dirty="0">
                <a:solidFill>
                  <a:srgbClr val="6B7280"/>
                </a:solidFill>
                <a:latin typeface="Calibri" pitchFamily="34" charset="0"/>
                <a:ea typeface="Calibri" pitchFamily="34" charset="-122"/>
                <a:cs typeface="Calibri" pitchFamily="34" charset="-120"/>
              </a:rPr>
              <a:t>ROUGE-L of the explanations against our 41 sentences</a:t>
            </a:r>
            <a:endParaRPr lang="en-US" sz="1350" dirty="0"/>
          </a:p>
        </p:txBody>
      </p:sp>
      <p:sp>
        <p:nvSpPr>
          <p:cNvPr id="27" name="Shape 25"/>
          <p:cNvSpPr/>
          <p:nvPr/>
        </p:nvSpPr>
        <p:spPr>
          <a:xfrm>
            <a:off x="548640" y="4937760"/>
            <a:ext cx="11155680" cy="1325880"/>
          </a:xfrm>
          <a:prstGeom prst="roundRect">
            <a:avLst>
              <a:gd name="adj" fmla="val 4828"/>
            </a:avLst>
          </a:prstGeom>
          <a:solidFill>
            <a:srgbClr val="F6F7FB"/>
          </a:solidFill>
          <a:ln w="12700">
            <a:solidFill>
              <a:srgbClr val="E4E7F2"/>
            </a:solidFill>
            <a:prstDash val="solid"/>
          </a:ln>
        </p:spPr>
      </p:sp>
      <p:sp>
        <p:nvSpPr>
          <p:cNvPr id="28" name="Shape 26"/>
          <p:cNvSpPr/>
          <p:nvPr/>
        </p:nvSpPr>
        <p:spPr>
          <a:xfrm>
            <a:off x="731520" y="5111496"/>
            <a:ext cx="256032" cy="256032"/>
          </a:xfrm>
          <a:prstGeom prst="ellipse">
            <a:avLst/>
          </a:prstGeom>
          <a:solidFill>
            <a:srgbClr val="1E2761"/>
          </a:solidFill>
          <a:ln w="12700">
            <a:solidFill>
              <a:srgbClr val="1E2761"/>
            </a:solidFill>
            <a:prstDash val="solid"/>
          </a:ln>
        </p:spPr>
      </p:sp>
      <p:sp>
        <p:nvSpPr>
          <p:cNvPr id="29" name="Text 27"/>
          <p:cNvSpPr txBox="1"/>
          <p:nvPr/>
        </p:nvSpPr>
        <p:spPr>
          <a:xfrm>
            <a:off x="1078992" y="5047488"/>
            <a:ext cx="10469880" cy="310896"/>
          </a:xfrm>
          <a:prstGeom prst="rect">
            <a:avLst/>
          </a:prstGeom>
          <a:noFill/>
          <a:ln/>
        </p:spPr>
        <p:txBody>
          <a:bodyPr wrap="square" lIns="0" tIns="0" rIns="0" bIns="0" rtlCol="0" anchor="ctr"/>
          <a:lstStyle/>
          <a:p>
            <a:pPr indent="0" marL="0">
              <a:buNone/>
            </a:pPr>
            <a:r>
              <a:rPr lang="en-US" sz="1550" b="1" dirty="0">
                <a:solidFill>
                  <a:srgbClr val="141B3D"/>
                </a:solidFill>
                <a:latin typeface="Calibri" pitchFamily="34" charset="0"/>
                <a:ea typeface="Calibri" pitchFamily="34" charset="-122"/>
                <a:cs typeface="Calibri" pitchFamily="34" charset="-120"/>
              </a:rPr>
              <a:t>How to read these numbers</a:t>
            </a:r>
            <a:endParaRPr lang="en-US" sz="1550" dirty="0"/>
          </a:p>
        </p:txBody>
      </p:sp>
      <p:sp>
        <p:nvSpPr>
          <p:cNvPr id="30" name="Text 28"/>
          <p:cNvSpPr txBox="1"/>
          <p:nvPr/>
        </p:nvSpPr>
        <p:spPr>
          <a:xfrm>
            <a:off x="749808" y="5449824"/>
            <a:ext cx="10753344" cy="667512"/>
          </a:xfrm>
          <a:prstGeom prst="rect">
            <a:avLst/>
          </a:prstGeom>
          <a:noFill/>
          <a:ln/>
        </p:spPr>
        <p:txBody>
          <a:bodyPr wrap="square" lIns="0" tIns="0" rIns="0" bIns="0" rtlCol="0" anchor="ctr"/>
          <a:lstStyle/>
          <a:p>
            <a:pPr indent="0" marL="0">
              <a:buNone/>
            </a:pPr>
            <a:r>
              <a:rPr lang="en-US" sz="1350" dirty="0">
                <a:solidFill>
                  <a:srgbClr val="374151"/>
                </a:solidFill>
                <a:latin typeface="Calibri" pitchFamily="34" charset="0"/>
                <a:ea typeface="Calibri" pitchFamily="34" charset="-122"/>
                <a:cs typeface="Calibri" pitchFamily="34" charset="-120"/>
              </a:rPr>
              <a:t>The span score is measured on windows that contain the clause, with a 67M-parameter model about ten times smaller than the best published CUAD model. The summarizer explains the category: it outputs one of our 41 sentences, which is why it scores only 0.116 against clause-specific references.</a:t>
            </a:r>
            <a:endParaRPr lang="en-US" sz="13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548640" y="109728"/>
            <a:ext cx="2286000" cy="301752"/>
          </a:xfrm>
          <a:prstGeom prst="roundRect">
            <a:avLst>
              <a:gd name="adj" fmla="val 45455"/>
            </a:avLst>
          </a:prstGeom>
          <a:solidFill>
            <a:srgbClr val="CADCFC"/>
          </a:solidFill>
          <a:ln w="12700">
            <a:solidFill>
              <a:srgbClr val="CADCFC"/>
            </a:solidFill>
            <a:prstDash val="solid"/>
          </a:ln>
        </p:spPr>
      </p:sp>
      <p:sp>
        <p:nvSpPr>
          <p:cNvPr id="3" name="Text 1"/>
          <p:cNvSpPr txBox="1"/>
          <p:nvPr/>
        </p:nvSpPr>
        <p:spPr>
          <a:xfrm>
            <a:off x="548640" y="109728"/>
            <a:ext cx="2286000" cy="301752"/>
          </a:xfrm>
          <a:prstGeom prst="rect">
            <a:avLst/>
          </a:prstGeom>
          <a:noFill/>
          <a:ln/>
        </p:spPr>
        <p:txBody>
          <a:bodyPr wrap="square" lIns="0" tIns="0" rIns="0" bIns="0" rtlCol="0" anchor="ctr"/>
          <a:lstStyle/>
          <a:p>
            <a:pPr algn="ctr" indent="0" marL="0">
              <a:buNone/>
            </a:pPr>
            <a:r>
              <a:rPr lang="en-US" sz="1250" b="1" dirty="0">
                <a:solidFill>
                  <a:srgbClr val="1E2761"/>
                </a:solidFill>
                <a:latin typeface="Calibri" pitchFamily="34" charset="0"/>
                <a:ea typeface="Calibri" pitchFamily="34" charset="-122"/>
                <a:cs typeface="Calibri" pitchFamily="34" charset="-120"/>
              </a:rPr>
              <a:t>RESULTS</a:t>
            </a:r>
            <a:endParaRPr lang="en-US" sz="1250" dirty="0"/>
          </a:p>
        </p:txBody>
      </p:sp>
      <p:sp>
        <p:nvSpPr>
          <p:cNvPr id="4" name="Text 2"/>
          <p:cNvSpPr txBox="1"/>
          <p:nvPr/>
        </p:nvSpPr>
        <p:spPr>
          <a:xfrm>
            <a:off x="563728" y="329184"/>
            <a:ext cx="11064240" cy="676656"/>
          </a:xfrm>
          <a:prstGeom prst="rect">
            <a:avLst/>
          </a:prstGeom>
          <a:noFill/>
          <a:ln/>
        </p:spPr>
        <p:txBody>
          <a:bodyPr wrap="square" rtlCol="0" anchor="ctr"/>
          <a:lstStyle/>
          <a:p>
            <a:pPr algn="ctr" indent="0" marL="0">
              <a:buNone/>
            </a:pPr>
            <a:r>
              <a:rPr lang="en-US" sz="3500" b="1" dirty="0">
                <a:solidFill>
                  <a:srgbClr val="141B3D"/>
                </a:solidFill>
                <a:latin typeface="Cambria" pitchFamily="34" charset="0"/>
                <a:ea typeface="Cambria" pitchFamily="34" charset="-122"/>
                <a:cs typeface="Cambria" pitchFamily="34" charset="-120"/>
              </a:rPr>
              <a:t>Result 3: Clausify, the working app</a:t>
            </a:r>
            <a:endParaRPr lang="en-US" sz="3500" dirty="0"/>
          </a:p>
        </p:txBody>
      </p:sp>
      <p:sp>
        <p:nvSpPr>
          <p:cNvPr id="5" name="Text 3"/>
          <p:cNvSpPr txBox="1"/>
          <p:nvPr/>
        </p:nvSpPr>
        <p:spPr>
          <a:xfrm>
            <a:off x="563728" y="1024128"/>
            <a:ext cx="11064240" cy="347472"/>
          </a:xfrm>
          <a:prstGeom prst="rect">
            <a:avLst/>
          </a:prstGeom>
          <a:noFill/>
          <a:ln/>
        </p:spPr>
        <p:txBody>
          <a:bodyPr wrap="square" rtlCol="0" anchor="ctr"/>
          <a:lstStyle/>
          <a:p>
            <a:pPr algn="ctr" indent="0" marL="0">
              <a:buNone/>
            </a:pPr>
            <a:r>
              <a:rPr lang="en-US" sz="1600" i="1" dirty="0">
                <a:solidFill>
                  <a:srgbClr val="6B7280"/>
                </a:solidFill>
                <a:latin typeface="Calibri" pitchFamily="34" charset="0"/>
                <a:ea typeface="Calibri" pitchFamily="34" charset="-122"/>
                <a:cs typeface="Calibri" pitchFamily="34" charset="-120"/>
              </a:rPr>
              <a:t>All the trained models running on any contract, with the risky clauses first</a:t>
            </a:r>
            <a:endParaRPr lang="en-US" sz="1600" dirty="0"/>
          </a:p>
        </p:txBody>
      </p:sp>
      <p:sp>
        <p:nvSpPr>
          <p:cNvPr id="7" name="Text 4"/>
          <p:cNvSpPr txBox="1"/>
          <p:nvPr/>
        </p:nvSpPr>
        <p:spPr>
          <a:xfrm>
            <a:off x="548640" y="3675888"/>
            <a:ext cx="3657600" cy="274320"/>
          </a:xfrm>
          <a:prstGeom prst="rect">
            <a:avLst/>
          </a:prstGeom>
          <a:noFill/>
          <a:ln/>
        </p:spPr>
        <p:txBody>
          <a:bodyPr wrap="square" lIns="0" tIns="0" rIns="0" bIns="0" rtlCol="0" anchor="ctr"/>
          <a:lstStyle/>
          <a:p>
            <a:pPr algn="ctr" indent="0" marL="0">
              <a:buNone/>
            </a:pPr>
            <a:r>
              <a:rPr lang="en-US" sz="1200" i="1" dirty="0">
                <a:solidFill>
                  <a:srgbClr val="6B7280"/>
                </a:solidFill>
                <a:latin typeface="Calibri" pitchFamily="34" charset="0"/>
                <a:ea typeface="Calibri" pitchFamily="34" charset="-122"/>
                <a:cs typeface="Calibri" pitchFamily="34" charset="-120"/>
              </a:rPr>
              <a:t>The risk-sorted report (Fig. 4.15)</a:t>
            </a:r>
            <a:endParaRPr lang="en-US" sz="1200" dirty="0"/>
          </a:p>
        </p:txBody>
      </p:sp>
      <p:sp>
        <p:nvSpPr>
          <p:cNvPr id="8" name="Shape 5"/>
          <p:cNvSpPr/>
          <p:nvPr/>
        </p:nvSpPr>
        <p:spPr>
          <a:xfrm>
            <a:off x="4434840" y="1371600"/>
            <a:ext cx="3566160" cy="1097280"/>
          </a:xfrm>
          <a:prstGeom prst="roundRect">
            <a:avLst>
              <a:gd name="adj" fmla="val 5833"/>
            </a:avLst>
          </a:prstGeom>
          <a:solidFill>
            <a:srgbClr val="F6F7FB"/>
          </a:solidFill>
          <a:ln w="12700">
            <a:solidFill>
              <a:srgbClr val="E4E7F2"/>
            </a:solidFill>
            <a:prstDash val="solid"/>
          </a:ln>
        </p:spPr>
      </p:sp>
      <p:sp>
        <p:nvSpPr>
          <p:cNvPr id="9" name="Shape 6"/>
          <p:cNvSpPr/>
          <p:nvPr/>
        </p:nvSpPr>
        <p:spPr>
          <a:xfrm>
            <a:off x="4617720" y="1545336"/>
            <a:ext cx="256032" cy="256032"/>
          </a:xfrm>
          <a:prstGeom prst="ellipse">
            <a:avLst/>
          </a:prstGeom>
          <a:solidFill>
            <a:srgbClr val="1E2761"/>
          </a:solidFill>
          <a:ln w="12700">
            <a:solidFill>
              <a:srgbClr val="1E2761"/>
            </a:solidFill>
            <a:prstDash val="solid"/>
          </a:ln>
        </p:spPr>
      </p:sp>
      <p:sp>
        <p:nvSpPr>
          <p:cNvPr id="10" name="Text 7"/>
          <p:cNvSpPr txBox="1"/>
          <p:nvPr/>
        </p:nvSpPr>
        <p:spPr>
          <a:xfrm>
            <a:off x="4965192" y="1481328"/>
            <a:ext cx="2880360" cy="310896"/>
          </a:xfrm>
          <a:prstGeom prst="rect">
            <a:avLst/>
          </a:prstGeom>
          <a:noFill/>
          <a:ln/>
        </p:spPr>
        <p:txBody>
          <a:bodyPr wrap="square" lIns="0" tIns="0" rIns="0" bIns="0" rtlCol="0" anchor="ctr"/>
          <a:lstStyle/>
          <a:p>
            <a:pPr indent="0" marL="0">
              <a:buNone/>
            </a:pPr>
            <a:r>
              <a:rPr lang="en-US" sz="1550" b="1" dirty="0">
                <a:solidFill>
                  <a:srgbClr val="141B3D"/>
                </a:solidFill>
                <a:latin typeface="Calibri" pitchFamily="34" charset="0"/>
                <a:ea typeface="Calibri" pitchFamily="34" charset="-122"/>
                <a:cs typeface="Calibri" pitchFamily="34" charset="-120"/>
              </a:rPr>
              <a:t>Speed, measured</a:t>
            </a:r>
            <a:endParaRPr lang="en-US" sz="1550" dirty="0"/>
          </a:p>
        </p:txBody>
      </p:sp>
      <p:sp>
        <p:nvSpPr>
          <p:cNvPr id="11" name="Text 8"/>
          <p:cNvSpPr txBox="1"/>
          <p:nvPr/>
        </p:nvSpPr>
        <p:spPr>
          <a:xfrm>
            <a:off x="4636008" y="1883664"/>
            <a:ext cx="3163824" cy="438912"/>
          </a:xfrm>
          <a:prstGeom prst="rect">
            <a:avLst/>
          </a:prstGeom>
          <a:noFill/>
          <a:ln/>
        </p:spPr>
        <p:txBody>
          <a:bodyPr wrap="square" lIns="0" tIns="0" rIns="0" bIns="0" rtlCol="0" anchor="ctr"/>
          <a:lstStyle/>
          <a:p>
            <a:pPr indent="0" marL="0">
              <a:buNone/>
            </a:pPr>
            <a:r>
              <a:rPr lang="en-US" sz="1350" dirty="0">
                <a:solidFill>
                  <a:srgbClr val="374151"/>
                </a:solidFill>
                <a:latin typeface="Calibri" pitchFamily="34" charset="0"/>
                <a:ea typeface="Calibri" pitchFamily="34" charset="-122"/>
                <a:cs typeface="Calibri" pitchFamily="34" charset="-120"/>
              </a:rPr>
              <a:t>Median contract 30.1 s, worst case 34.8 s on a CPU.</a:t>
            </a:r>
            <a:endParaRPr lang="en-US" sz="1350" dirty="0"/>
          </a:p>
        </p:txBody>
      </p:sp>
      <p:sp>
        <p:nvSpPr>
          <p:cNvPr id="12" name="Shape 9"/>
          <p:cNvSpPr/>
          <p:nvPr/>
        </p:nvSpPr>
        <p:spPr>
          <a:xfrm>
            <a:off x="8138160" y="1371600"/>
            <a:ext cx="3566160" cy="1097280"/>
          </a:xfrm>
          <a:prstGeom prst="roundRect">
            <a:avLst>
              <a:gd name="adj" fmla="val 5833"/>
            </a:avLst>
          </a:prstGeom>
          <a:solidFill>
            <a:srgbClr val="F6F7FB"/>
          </a:solidFill>
          <a:ln w="12700">
            <a:solidFill>
              <a:srgbClr val="E4E7F2"/>
            </a:solidFill>
            <a:prstDash val="solid"/>
          </a:ln>
        </p:spPr>
      </p:sp>
      <p:sp>
        <p:nvSpPr>
          <p:cNvPr id="13" name="Shape 10"/>
          <p:cNvSpPr/>
          <p:nvPr/>
        </p:nvSpPr>
        <p:spPr>
          <a:xfrm>
            <a:off x="8321040" y="1545336"/>
            <a:ext cx="256032" cy="256032"/>
          </a:xfrm>
          <a:prstGeom prst="ellipse">
            <a:avLst/>
          </a:prstGeom>
          <a:solidFill>
            <a:srgbClr val="4CAF82"/>
          </a:solidFill>
          <a:ln w="12700">
            <a:solidFill>
              <a:srgbClr val="4CAF82"/>
            </a:solidFill>
            <a:prstDash val="solid"/>
          </a:ln>
        </p:spPr>
      </p:sp>
      <p:sp>
        <p:nvSpPr>
          <p:cNvPr id="14" name="Text 11"/>
          <p:cNvSpPr txBox="1"/>
          <p:nvPr/>
        </p:nvSpPr>
        <p:spPr>
          <a:xfrm>
            <a:off x="8668512" y="1481328"/>
            <a:ext cx="2880360" cy="310896"/>
          </a:xfrm>
          <a:prstGeom prst="rect">
            <a:avLst/>
          </a:prstGeom>
          <a:noFill/>
          <a:ln/>
        </p:spPr>
        <p:txBody>
          <a:bodyPr wrap="square" lIns="0" tIns="0" rIns="0" bIns="0" rtlCol="0" anchor="ctr"/>
          <a:lstStyle/>
          <a:p>
            <a:pPr indent="0" marL="0">
              <a:buNone/>
            </a:pPr>
            <a:r>
              <a:rPr lang="en-US" sz="1550" b="1" dirty="0">
                <a:solidFill>
                  <a:srgbClr val="141B3D"/>
                </a:solidFill>
                <a:latin typeface="Calibri" pitchFamily="34" charset="0"/>
                <a:ea typeface="Calibri" pitchFamily="34" charset="-122"/>
                <a:cs typeface="Calibri" pitchFamily="34" charset="-120"/>
              </a:rPr>
              <a:t>Finds High-risk clauses</a:t>
            </a:r>
            <a:endParaRPr lang="en-US" sz="1550" dirty="0"/>
          </a:p>
        </p:txBody>
      </p:sp>
      <p:sp>
        <p:nvSpPr>
          <p:cNvPr id="15" name="Text 12"/>
          <p:cNvSpPr txBox="1"/>
          <p:nvPr/>
        </p:nvSpPr>
        <p:spPr>
          <a:xfrm>
            <a:off x="8339328" y="1883664"/>
            <a:ext cx="3163824" cy="438912"/>
          </a:xfrm>
          <a:prstGeom prst="rect">
            <a:avLst/>
          </a:prstGeom>
          <a:noFill/>
          <a:ln/>
        </p:spPr>
        <p:txBody>
          <a:bodyPr wrap="square" lIns="0" tIns="0" rIns="0" bIns="0" rtlCol="0" anchor="ctr"/>
          <a:lstStyle/>
          <a:p>
            <a:pPr indent="0" marL="0">
              <a:buNone/>
            </a:pPr>
            <a:r>
              <a:rPr lang="en-US" sz="1350" dirty="0">
                <a:solidFill>
                  <a:srgbClr val="374151"/>
                </a:solidFill>
                <a:latin typeface="Calibri" pitchFamily="34" charset="0"/>
                <a:ea typeface="Calibri" pitchFamily="34" charset="-122"/>
                <a:cs typeface="Calibri" pitchFamily="34" charset="-120"/>
              </a:rPr>
              <a:t>The default detector finds 84% of High-risk clauses.</a:t>
            </a:r>
            <a:endParaRPr lang="en-US" sz="1350" dirty="0"/>
          </a:p>
        </p:txBody>
      </p:sp>
      <p:sp>
        <p:nvSpPr>
          <p:cNvPr id="16" name="Shape 13"/>
          <p:cNvSpPr/>
          <p:nvPr/>
        </p:nvSpPr>
        <p:spPr>
          <a:xfrm>
            <a:off x="4434840" y="2606040"/>
            <a:ext cx="3566160" cy="1051560"/>
          </a:xfrm>
          <a:prstGeom prst="roundRect">
            <a:avLst>
              <a:gd name="adj" fmla="val 6087"/>
            </a:avLst>
          </a:prstGeom>
          <a:solidFill>
            <a:srgbClr val="F6F7FB"/>
          </a:solidFill>
          <a:ln w="12700">
            <a:solidFill>
              <a:srgbClr val="E4E7F2"/>
            </a:solidFill>
            <a:prstDash val="solid"/>
          </a:ln>
        </p:spPr>
      </p:sp>
      <p:sp>
        <p:nvSpPr>
          <p:cNvPr id="17" name="Shape 14"/>
          <p:cNvSpPr/>
          <p:nvPr/>
        </p:nvSpPr>
        <p:spPr>
          <a:xfrm>
            <a:off x="4617720" y="2779776"/>
            <a:ext cx="256032" cy="256032"/>
          </a:xfrm>
          <a:prstGeom prst="ellipse">
            <a:avLst/>
          </a:prstGeom>
          <a:solidFill>
            <a:srgbClr val="E8A13A"/>
          </a:solidFill>
          <a:ln w="12700">
            <a:solidFill>
              <a:srgbClr val="E8A13A"/>
            </a:solidFill>
            <a:prstDash val="solid"/>
          </a:ln>
        </p:spPr>
      </p:sp>
      <p:sp>
        <p:nvSpPr>
          <p:cNvPr id="18" name="Text 15"/>
          <p:cNvSpPr txBox="1"/>
          <p:nvPr/>
        </p:nvSpPr>
        <p:spPr>
          <a:xfrm>
            <a:off x="4965192" y="2715768"/>
            <a:ext cx="2880360" cy="310896"/>
          </a:xfrm>
          <a:prstGeom prst="rect">
            <a:avLst/>
          </a:prstGeom>
          <a:noFill/>
          <a:ln/>
        </p:spPr>
        <p:txBody>
          <a:bodyPr wrap="square" lIns="0" tIns="0" rIns="0" bIns="0" rtlCol="0" anchor="ctr"/>
          <a:lstStyle/>
          <a:p>
            <a:pPr indent="0" marL="0">
              <a:buNone/>
            </a:pPr>
            <a:r>
              <a:rPr lang="en-US" sz="1550" b="1" dirty="0">
                <a:solidFill>
                  <a:srgbClr val="141B3D"/>
                </a:solidFill>
                <a:latin typeface="Calibri" pitchFamily="34" charset="0"/>
                <a:ea typeface="Calibri" pitchFamily="34" charset="-122"/>
                <a:cs typeface="Calibri" pitchFamily="34" charset="-120"/>
              </a:rPr>
              <a:t>Clause mode</a:t>
            </a:r>
            <a:endParaRPr lang="en-US" sz="1550" dirty="0"/>
          </a:p>
        </p:txBody>
      </p:sp>
      <p:sp>
        <p:nvSpPr>
          <p:cNvPr id="19" name="Text 16"/>
          <p:cNvSpPr txBox="1"/>
          <p:nvPr/>
        </p:nvSpPr>
        <p:spPr>
          <a:xfrm>
            <a:off x="4636008" y="3118104"/>
            <a:ext cx="3163824" cy="393192"/>
          </a:xfrm>
          <a:prstGeom prst="rect">
            <a:avLst/>
          </a:prstGeom>
          <a:noFill/>
          <a:ln/>
        </p:spPr>
        <p:txBody>
          <a:bodyPr wrap="square" lIns="0" tIns="0" rIns="0" bIns="0" rtlCol="0" anchor="ctr"/>
          <a:lstStyle/>
          <a:p>
            <a:pPr indent="0" marL="0">
              <a:buNone/>
            </a:pPr>
            <a:r>
              <a:rPr lang="en-US" sz="1350" dirty="0">
                <a:solidFill>
                  <a:srgbClr val="374151"/>
                </a:solidFill>
                <a:latin typeface="Calibri" pitchFamily="34" charset="0"/>
                <a:ea typeface="Calibri" pitchFamily="34" charset="-122"/>
                <a:cs typeface="Calibri" pitchFamily="34" charset="-120"/>
              </a:rPr>
              <a:t>One card per clause: 18 numbered clauses give 18 cards.</a:t>
            </a:r>
            <a:endParaRPr lang="en-US" sz="1350" dirty="0"/>
          </a:p>
        </p:txBody>
      </p:sp>
      <p:sp>
        <p:nvSpPr>
          <p:cNvPr id="20" name="Shape 17"/>
          <p:cNvSpPr/>
          <p:nvPr/>
        </p:nvSpPr>
        <p:spPr>
          <a:xfrm>
            <a:off x="8138160" y="2606040"/>
            <a:ext cx="3566160" cy="1051560"/>
          </a:xfrm>
          <a:prstGeom prst="roundRect">
            <a:avLst>
              <a:gd name="adj" fmla="val 6087"/>
            </a:avLst>
          </a:prstGeom>
          <a:solidFill>
            <a:srgbClr val="F6F7FB"/>
          </a:solidFill>
          <a:ln w="12700">
            <a:solidFill>
              <a:srgbClr val="E4E7F2"/>
            </a:solidFill>
            <a:prstDash val="solid"/>
          </a:ln>
        </p:spPr>
      </p:sp>
      <p:sp>
        <p:nvSpPr>
          <p:cNvPr id="21" name="Shape 18"/>
          <p:cNvSpPr/>
          <p:nvPr/>
        </p:nvSpPr>
        <p:spPr>
          <a:xfrm>
            <a:off x="8321040" y="2779776"/>
            <a:ext cx="256032" cy="256032"/>
          </a:xfrm>
          <a:prstGeom prst="ellipse">
            <a:avLst/>
          </a:prstGeom>
          <a:solidFill>
            <a:srgbClr val="4CAF82"/>
          </a:solidFill>
          <a:ln w="12700">
            <a:solidFill>
              <a:srgbClr val="4CAF82"/>
            </a:solidFill>
            <a:prstDash val="solid"/>
          </a:ln>
        </p:spPr>
      </p:sp>
      <p:sp>
        <p:nvSpPr>
          <p:cNvPr id="22" name="Text 19"/>
          <p:cNvSpPr txBox="1"/>
          <p:nvPr/>
        </p:nvSpPr>
        <p:spPr>
          <a:xfrm>
            <a:off x="8668512" y="2715768"/>
            <a:ext cx="2880360" cy="310896"/>
          </a:xfrm>
          <a:prstGeom prst="rect">
            <a:avLst/>
          </a:prstGeom>
          <a:noFill/>
          <a:ln/>
        </p:spPr>
        <p:txBody>
          <a:bodyPr wrap="square" lIns="0" tIns="0" rIns="0" bIns="0" rtlCol="0" anchor="ctr"/>
          <a:lstStyle/>
          <a:p>
            <a:pPr indent="0" marL="0">
              <a:buNone/>
            </a:pPr>
            <a:r>
              <a:rPr lang="en-US" sz="1550" b="1" dirty="0">
                <a:solidFill>
                  <a:srgbClr val="141B3D"/>
                </a:solidFill>
                <a:latin typeface="Calibri" pitchFamily="34" charset="0"/>
                <a:ea typeface="Calibri" pitchFamily="34" charset="-122"/>
                <a:cs typeface="Calibri" pitchFamily="34" charset="-120"/>
              </a:rPr>
              <a:t>Private by design</a:t>
            </a:r>
            <a:endParaRPr lang="en-US" sz="1550" dirty="0"/>
          </a:p>
        </p:txBody>
      </p:sp>
      <p:sp>
        <p:nvSpPr>
          <p:cNvPr id="23" name="Text 20"/>
          <p:cNvSpPr txBox="1"/>
          <p:nvPr/>
        </p:nvSpPr>
        <p:spPr>
          <a:xfrm>
            <a:off x="8339328" y="3118104"/>
            <a:ext cx="3163824" cy="393192"/>
          </a:xfrm>
          <a:prstGeom prst="rect">
            <a:avLst/>
          </a:prstGeom>
          <a:noFill/>
          <a:ln/>
        </p:spPr>
        <p:txBody>
          <a:bodyPr wrap="square" lIns="0" tIns="0" rIns="0" bIns="0" rtlCol="0" anchor="ctr"/>
          <a:lstStyle/>
          <a:p>
            <a:pPr indent="0" marL="0">
              <a:buNone/>
            </a:pPr>
            <a:r>
              <a:rPr lang="en-US" sz="1350" dirty="0">
                <a:solidFill>
                  <a:srgbClr val="374151"/>
                </a:solidFill>
                <a:latin typeface="Calibri" pitchFamily="34" charset="0"/>
                <a:ea typeface="Calibri" pitchFamily="34" charset="-122"/>
                <a:cs typeface="Calibri" pitchFamily="34" charset="-120"/>
              </a:rPr>
              <a:t>Runs locally; the contract is never saved or sent anywhere.</a:t>
            </a:r>
            <a:endParaRPr lang="en-US" sz="1350" dirty="0"/>
          </a:p>
        </p:txBody>
      </p:sp>
      <p:sp>
        <p:nvSpPr>
          <p:cNvPr id="24" name="Text 21"/>
          <p:cNvSpPr txBox="1"/>
          <p:nvPr/>
        </p:nvSpPr>
        <p:spPr>
          <a:xfrm>
            <a:off x="548640" y="3977640"/>
            <a:ext cx="11155680" cy="310896"/>
          </a:xfrm>
          <a:prstGeom prst="rect">
            <a:avLst/>
          </a:prstGeom>
          <a:noFill/>
          <a:ln/>
        </p:spPr>
        <p:txBody>
          <a:bodyPr wrap="square" lIns="0" tIns="0" rIns="0" bIns="0" rtlCol="0" anchor="ctr"/>
          <a:lstStyle/>
          <a:p>
            <a:pPr indent="0" marL="0">
              <a:buNone/>
            </a:pPr>
            <a:r>
              <a:rPr lang="en-US" sz="1700" b="1" dirty="0">
                <a:solidFill>
                  <a:srgbClr val="141B3D"/>
                </a:solidFill>
                <a:latin typeface="Cambria" pitchFamily="34" charset="0"/>
                <a:ea typeface="Cambria" pitchFamily="34" charset="-122"/>
                <a:cs typeface="Cambria" pitchFamily="34" charset="-120"/>
              </a:rPr>
              <a:t>What the app does</a:t>
            </a:r>
            <a:endParaRPr lang="en-US" sz="1700" dirty="0"/>
          </a:p>
        </p:txBody>
      </p:sp>
      <p:sp>
        <p:nvSpPr>
          <p:cNvPr id="25" name="Shape 22"/>
          <p:cNvSpPr/>
          <p:nvPr/>
        </p:nvSpPr>
        <p:spPr>
          <a:xfrm>
            <a:off x="548640" y="4370832"/>
            <a:ext cx="5486400" cy="868680"/>
          </a:xfrm>
          <a:prstGeom prst="roundRect">
            <a:avLst>
              <a:gd name="adj" fmla="val 6316"/>
            </a:avLst>
          </a:prstGeom>
          <a:solidFill>
            <a:srgbClr val="F6F7FB"/>
          </a:solidFill>
          <a:ln w="12700">
            <a:solidFill>
              <a:srgbClr val="E4E7F2"/>
            </a:solidFill>
            <a:prstDash val="solid"/>
          </a:ln>
        </p:spPr>
      </p:sp>
      <p:sp>
        <p:nvSpPr>
          <p:cNvPr id="26" name="Shape 23"/>
          <p:cNvSpPr/>
          <p:nvPr/>
        </p:nvSpPr>
        <p:spPr>
          <a:xfrm>
            <a:off x="731520" y="4663440"/>
            <a:ext cx="256032" cy="256032"/>
          </a:xfrm>
          <a:prstGeom prst="ellipse">
            <a:avLst/>
          </a:prstGeom>
          <a:solidFill>
            <a:srgbClr val="4CAF82"/>
          </a:solidFill>
          <a:ln w="12700">
            <a:solidFill>
              <a:srgbClr val="4CAF82"/>
            </a:solidFill>
            <a:prstDash val="solid"/>
          </a:ln>
        </p:spPr>
      </p:sp>
      <p:sp>
        <p:nvSpPr>
          <p:cNvPr id="27" name="Text 24"/>
          <p:cNvSpPr txBox="1"/>
          <p:nvPr/>
        </p:nvSpPr>
        <p:spPr>
          <a:xfrm>
            <a:off x="1078992" y="4425696"/>
            <a:ext cx="4754880" cy="329184"/>
          </a:xfrm>
          <a:prstGeom prst="rect">
            <a:avLst/>
          </a:prstGeom>
          <a:noFill/>
          <a:ln/>
        </p:spPr>
        <p:txBody>
          <a:bodyPr wrap="square" lIns="0" tIns="0" rIns="0" bIns="0" rtlCol="0" anchor="ctr"/>
          <a:lstStyle/>
          <a:p>
            <a:pPr indent="0" marL="0">
              <a:buNone/>
            </a:pPr>
            <a:r>
              <a:rPr lang="en-US" sz="1400" b="1" dirty="0">
                <a:solidFill>
                  <a:srgbClr val="141B3D"/>
                </a:solidFill>
                <a:latin typeface="Calibri" pitchFamily="34" charset="0"/>
                <a:ea typeface="Calibri" pitchFamily="34" charset="-122"/>
                <a:cs typeface="Calibri" pitchFamily="34" charset="-120"/>
              </a:rPr>
              <a:t>Upload or paste</a:t>
            </a:r>
            <a:endParaRPr lang="en-US" sz="1400" dirty="0"/>
          </a:p>
        </p:txBody>
      </p:sp>
      <p:sp>
        <p:nvSpPr>
          <p:cNvPr id="28" name="Text 25"/>
          <p:cNvSpPr txBox="1"/>
          <p:nvPr/>
        </p:nvSpPr>
        <p:spPr>
          <a:xfrm>
            <a:off x="1078992" y="4754880"/>
            <a:ext cx="4800600" cy="438912"/>
          </a:xfrm>
          <a:prstGeom prst="rect">
            <a:avLst/>
          </a:prstGeom>
          <a:noFill/>
          <a:ln/>
        </p:spPr>
        <p:txBody>
          <a:bodyPr wrap="square" lIns="0" tIns="0" rIns="0" bIns="0" rtlCol="0" anchor="ctr"/>
          <a:lstStyle/>
          <a:p>
            <a:pPr indent="0" marL="0">
              <a:buNone/>
            </a:pPr>
            <a:r>
              <a:rPr lang="en-US" sz="1250" dirty="0">
                <a:solidFill>
                  <a:srgbClr val="374151"/>
                </a:solidFill>
                <a:latin typeface="Calibri" pitchFamily="34" charset="0"/>
                <a:ea typeface="Calibri" pitchFamily="34" charset="-122"/>
                <a:cs typeface="Calibri" pitchFamily="34" charset="-120"/>
              </a:rPr>
              <a:t>PDF, Word or text; whole contract, separate clauses, or Auto</a:t>
            </a:r>
            <a:endParaRPr lang="en-US" sz="1250" dirty="0"/>
          </a:p>
        </p:txBody>
      </p:sp>
      <p:sp>
        <p:nvSpPr>
          <p:cNvPr id="29" name="Shape 26"/>
          <p:cNvSpPr/>
          <p:nvPr/>
        </p:nvSpPr>
        <p:spPr>
          <a:xfrm>
            <a:off x="6263640" y="4370832"/>
            <a:ext cx="5486400" cy="868680"/>
          </a:xfrm>
          <a:prstGeom prst="roundRect">
            <a:avLst>
              <a:gd name="adj" fmla="val 6316"/>
            </a:avLst>
          </a:prstGeom>
          <a:solidFill>
            <a:srgbClr val="F6F7FB"/>
          </a:solidFill>
          <a:ln w="12700">
            <a:solidFill>
              <a:srgbClr val="E4E7F2"/>
            </a:solidFill>
            <a:prstDash val="solid"/>
          </a:ln>
        </p:spPr>
      </p:sp>
      <p:sp>
        <p:nvSpPr>
          <p:cNvPr id="30" name="Shape 27"/>
          <p:cNvSpPr/>
          <p:nvPr/>
        </p:nvSpPr>
        <p:spPr>
          <a:xfrm>
            <a:off x="6446520" y="4663440"/>
            <a:ext cx="256032" cy="256032"/>
          </a:xfrm>
          <a:prstGeom prst="ellipse">
            <a:avLst/>
          </a:prstGeom>
          <a:solidFill>
            <a:srgbClr val="4CAF82"/>
          </a:solidFill>
          <a:ln w="12700">
            <a:solidFill>
              <a:srgbClr val="4CAF82"/>
            </a:solidFill>
            <a:prstDash val="solid"/>
          </a:ln>
        </p:spPr>
      </p:sp>
      <p:sp>
        <p:nvSpPr>
          <p:cNvPr id="31" name="Text 28"/>
          <p:cNvSpPr txBox="1"/>
          <p:nvPr/>
        </p:nvSpPr>
        <p:spPr>
          <a:xfrm>
            <a:off x="6793992" y="4425696"/>
            <a:ext cx="4754880" cy="329184"/>
          </a:xfrm>
          <a:prstGeom prst="rect">
            <a:avLst/>
          </a:prstGeom>
          <a:noFill/>
          <a:ln/>
        </p:spPr>
        <p:txBody>
          <a:bodyPr wrap="square" lIns="0" tIns="0" rIns="0" bIns="0" rtlCol="0" anchor="ctr"/>
          <a:lstStyle/>
          <a:p>
            <a:pPr indent="0" marL="0">
              <a:buNone/>
            </a:pPr>
            <a:r>
              <a:rPr lang="en-US" sz="1400" b="1" dirty="0">
                <a:solidFill>
                  <a:srgbClr val="141B3D"/>
                </a:solidFill>
                <a:latin typeface="Calibri" pitchFamily="34" charset="0"/>
                <a:ea typeface="Calibri" pitchFamily="34" charset="-122"/>
                <a:cs typeface="Calibri" pitchFamily="34" charset="-120"/>
              </a:rPr>
              <a:t>Risk-sorted cards</a:t>
            </a:r>
            <a:endParaRPr lang="en-US" sz="1400" dirty="0"/>
          </a:p>
        </p:txBody>
      </p:sp>
      <p:sp>
        <p:nvSpPr>
          <p:cNvPr id="32" name="Text 29"/>
          <p:cNvSpPr txBox="1"/>
          <p:nvPr/>
        </p:nvSpPr>
        <p:spPr>
          <a:xfrm>
            <a:off x="6793992" y="4754880"/>
            <a:ext cx="4800600" cy="438912"/>
          </a:xfrm>
          <a:prstGeom prst="rect">
            <a:avLst/>
          </a:prstGeom>
          <a:noFill/>
          <a:ln/>
        </p:spPr>
        <p:txBody>
          <a:bodyPr wrap="square" lIns="0" tIns="0" rIns="0" bIns="0" rtlCol="0" anchor="ctr"/>
          <a:lstStyle/>
          <a:p>
            <a:pPr indent="0" marL="0">
              <a:buNone/>
            </a:pPr>
            <a:r>
              <a:rPr lang="en-US" sz="1250" dirty="0">
                <a:solidFill>
                  <a:srgbClr val="374151"/>
                </a:solidFill>
                <a:latin typeface="Calibri" pitchFamily="34" charset="0"/>
                <a:ea typeface="Calibri" pitchFamily="34" charset="-122"/>
                <a:cs typeface="Calibri" pitchFamily="34" charset="-120"/>
              </a:rPr>
              <a:t>category, risk level and reason, plain-English line, scores and quoted text</a:t>
            </a:r>
            <a:endParaRPr lang="en-US" sz="1250" dirty="0"/>
          </a:p>
        </p:txBody>
      </p:sp>
      <p:sp>
        <p:nvSpPr>
          <p:cNvPr id="33" name="Shape 30"/>
          <p:cNvSpPr/>
          <p:nvPr/>
        </p:nvSpPr>
        <p:spPr>
          <a:xfrm>
            <a:off x="548640" y="5330952"/>
            <a:ext cx="5486400" cy="868680"/>
          </a:xfrm>
          <a:prstGeom prst="roundRect">
            <a:avLst>
              <a:gd name="adj" fmla="val 6316"/>
            </a:avLst>
          </a:prstGeom>
          <a:solidFill>
            <a:srgbClr val="F6F7FB"/>
          </a:solidFill>
          <a:ln w="12700">
            <a:solidFill>
              <a:srgbClr val="E4E7F2"/>
            </a:solidFill>
            <a:prstDash val="solid"/>
          </a:ln>
        </p:spPr>
      </p:sp>
      <p:sp>
        <p:nvSpPr>
          <p:cNvPr id="34" name="Shape 31"/>
          <p:cNvSpPr/>
          <p:nvPr/>
        </p:nvSpPr>
        <p:spPr>
          <a:xfrm>
            <a:off x="731520" y="5623560"/>
            <a:ext cx="256032" cy="256032"/>
          </a:xfrm>
          <a:prstGeom prst="ellipse">
            <a:avLst/>
          </a:prstGeom>
          <a:solidFill>
            <a:srgbClr val="4CAF82"/>
          </a:solidFill>
          <a:ln w="12700">
            <a:solidFill>
              <a:srgbClr val="4CAF82"/>
            </a:solidFill>
            <a:prstDash val="solid"/>
          </a:ln>
        </p:spPr>
      </p:sp>
      <p:sp>
        <p:nvSpPr>
          <p:cNvPr id="35" name="Text 32"/>
          <p:cNvSpPr txBox="1"/>
          <p:nvPr/>
        </p:nvSpPr>
        <p:spPr>
          <a:xfrm>
            <a:off x="1078992" y="5385816"/>
            <a:ext cx="4754880" cy="329184"/>
          </a:xfrm>
          <a:prstGeom prst="rect">
            <a:avLst/>
          </a:prstGeom>
          <a:noFill/>
          <a:ln/>
        </p:spPr>
        <p:txBody>
          <a:bodyPr wrap="square" lIns="0" tIns="0" rIns="0" bIns="0" rtlCol="0" anchor="ctr"/>
          <a:lstStyle/>
          <a:p>
            <a:pPr indent="0" marL="0">
              <a:buNone/>
            </a:pPr>
            <a:r>
              <a:rPr lang="en-US" sz="1400" b="1" dirty="0">
                <a:solidFill>
                  <a:srgbClr val="141B3D"/>
                </a:solidFill>
                <a:latin typeface="Calibri" pitchFamily="34" charset="0"/>
                <a:ea typeface="Calibri" pitchFamily="34" charset="-122"/>
                <a:cs typeface="Calibri" pitchFamily="34" charset="-120"/>
              </a:rPr>
              <a:t>Highlighted contract</a:t>
            </a:r>
            <a:endParaRPr lang="en-US" sz="1400" dirty="0"/>
          </a:p>
        </p:txBody>
      </p:sp>
      <p:sp>
        <p:nvSpPr>
          <p:cNvPr id="36" name="Text 33"/>
          <p:cNvSpPr txBox="1"/>
          <p:nvPr/>
        </p:nvSpPr>
        <p:spPr>
          <a:xfrm>
            <a:off x="1078992" y="5715000"/>
            <a:ext cx="4800600" cy="438912"/>
          </a:xfrm>
          <a:prstGeom prst="rect">
            <a:avLst/>
          </a:prstGeom>
          <a:noFill/>
          <a:ln/>
        </p:spPr>
        <p:txBody>
          <a:bodyPr wrap="square" lIns="0" tIns="0" rIns="0" bIns="0" rtlCol="0" anchor="ctr"/>
          <a:lstStyle/>
          <a:p>
            <a:pPr indent="0" marL="0">
              <a:buNone/>
            </a:pPr>
            <a:r>
              <a:rPr lang="en-US" sz="1250" dirty="0">
                <a:solidFill>
                  <a:srgbClr val="374151"/>
                </a:solidFill>
                <a:latin typeface="Calibri" pitchFamily="34" charset="0"/>
                <a:ea typeface="Calibri" pitchFamily="34" charset="-122"/>
                <a:cs typeface="Calibri" pitchFamily="34" charset="-120"/>
              </a:rPr>
              <a:t>every clause found in its risk colour, plus a missing-protection checklist</a:t>
            </a:r>
            <a:endParaRPr lang="en-US" sz="1250" dirty="0"/>
          </a:p>
        </p:txBody>
      </p:sp>
      <p:sp>
        <p:nvSpPr>
          <p:cNvPr id="37" name="Shape 34"/>
          <p:cNvSpPr/>
          <p:nvPr/>
        </p:nvSpPr>
        <p:spPr>
          <a:xfrm>
            <a:off x="6263640" y="5330952"/>
            <a:ext cx="5486400" cy="868680"/>
          </a:xfrm>
          <a:prstGeom prst="roundRect">
            <a:avLst>
              <a:gd name="adj" fmla="val 6316"/>
            </a:avLst>
          </a:prstGeom>
          <a:solidFill>
            <a:srgbClr val="F6F7FB"/>
          </a:solidFill>
          <a:ln w="12700">
            <a:solidFill>
              <a:srgbClr val="E4E7F2"/>
            </a:solidFill>
            <a:prstDash val="solid"/>
          </a:ln>
        </p:spPr>
      </p:sp>
      <p:sp>
        <p:nvSpPr>
          <p:cNvPr id="38" name="Shape 35"/>
          <p:cNvSpPr/>
          <p:nvPr/>
        </p:nvSpPr>
        <p:spPr>
          <a:xfrm>
            <a:off x="6446520" y="5623560"/>
            <a:ext cx="256032" cy="256032"/>
          </a:xfrm>
          <a:prstGeom prst="ellipse">
            <a:avLst/>
          </a:prstGeom>
          <a:solidFill>
            <a:srgbClr val="4CAF82"/>
          </a:solidFill>
          <a:ln w="12700">
            <a:solidFill>
              <a:srgbClr val="4CAF82"/>
            </a:solidFill>
            <a:prstDash val="solid"/>
          </a:ln>
        </p:spPr>
      </p:sp>
      <p:sp>
        <p:nvSpPr>
          <p:cNvPr id="39" name="Text 36"/>
          <p:cNvSpPr txBox="1"/>
          <p:nvPr/>
        </p:nvSpPr>
        <p:spPr>
          <a:xfrm>
            <a:off x="6793992" y="5385816"/>
            <a:ext cx="4754880" cy="329184"/>
          </a:xfrm>
          <a:prstGeom prst="rect">
            <a:avLst/>
          </a:prstGeom>
          <a:noFill/>
          <a:ln/>
        </p:spPr>
        <p:txBody>
          <a:bodyPr wrap="square" lIns="0" tIns="0" rIns="0" bIns="0" rtlCol="0" anchor="ctr"/>
          <a:lstStyle/>
          <a:p>
            <a:pPr indent="0" marL="0">
              <a:buNone/>
            </a:pPr>
            <a:r>
              <a:rPr lang="en-US" sz="1400" b="1" dirty="0">
                <a:solidFill>
                  <a:srgbClr val="141B3D"/>
                </a:solidFill>
                <a:latin typeface="Calibri" pitchFamily="34" charset="0"/>
                <a:ea typeface="Calibri" pitchFamily="34" charset="-122"/>
                <a:cs typeface="Calibri" pitchFamily="34" charset="-120"/>
              </a:rPr>
              <a:t>Downloadable report</a:t>
            </a:r>
            <a:endParaRPr lang="en-US" sz="1400" dirty="0"/>
          </a:p>
        </p:txBody>
      </p:sp>
      <p:sp>
        <p:nvSpPr>
          <p:cNvPr id="40" name="Text 37"/>
          <p:cNvSpPr txBox="1"/>
          <p:nvPr/>
        </p:nvSpPr>
        <p:spPr>
          <a:xfrm>
            <a:off x="6793992" y="5715000"/>
            <a:ext cx="4800600" cy="438912"/>
          </a:xfrm>
          <a:prstGeom prst="rect">
            <a:avLst/>
          </a:prstGeom>
          <a:noFill/>
          <a:ln/>
        </p:spPr>
        <p:txBody>
          <a:bodyPr wrap="square" lIns="0" tIns="0" rIns="0" bIns="0" rtlCol="0" anchor="ctr"/>
          <a:lstStyle/>
          <a:p>
            <a:pPr indent="0" marL="0">
              <a:buNone/>
            </a:pPr>
            <a:r>
              <a:rPr lang="en-US" sz="1250" dirty="0">
                <a:solidFill>
                  <a:srgbClr val="374151"/>
                </a:solidFill>
                <a:latin typeface="Calibri" pitchFamily="34" charset="0"/>
                <a:ea typeface="Calibri" pitchFamily="34" charset="-122"/>
                <a:cs typeface="Calibri" pitchFamily="34" charset="-120"/>
              </a:rPr>
              <a:t>PDF and CSV files; 38 of 38 automated app tests pass</a:t>
            </a:r>
            <a:endParaRPr lang="en-US" sz="1250" dirty="0"/>
          </a:p>
        </p:txBody>
      </p:sp>
      <p:pic>
        <p:nvPicPr>
          <p:cNvPr id="41" name="Picture 40" descr="app_results.png"/>
          <p:cNvPicPr>
            <a:picLocks noChangeAspect="1"/>
          </p:cNvPicPr>
          <p:nvPr/>
        </p:nvPicPr>
        <p:blipFill>
          <a:blip r:embed="rId4"/>
          <a:stretch>
            <a:fillRect/>
          </a:stretch>
        </p:blipFill>
        <p:spPr>
          <a:xfrm>
            <a:off x="776039" y="1371600"/>
            <a:ext cx="3202802" cy="22860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548640" y="109728"/>
            <a:ext cx="2286000" cy="301752"/>
          </a:xfrm>
          <a:prstGeom prst="roundRect">
            <a:avLst>
              <a:gd name="adj" fmla="val 45455"/>
            </a:avLst>
          </a:prstGeom>
          <a:solidFill>
            <a:srgbClr val="1E2761"/>
          </a:solidFill>
          <a:ln w="12700">
            <a:solidFill>
              <a:srgbClr val="1E2761"/>
            </a:solidFill>
            <a:prstDash val="solid"/>
          </a:ln>
        </p:spPr>
      </p:sp>
      <p:sp>
        <p:nvSpPr>
          <p:cNvPr id="3" name="Text 1"/>
          <p:cNvSpPr txBox="1"/>
          <p:nvPr/>
        </p:nvSpPr>
        <p:spPr>
          <a:xfrm>
            <a:off x="548640" y="109728"/>
            <a:ext cx="2286000" cy="301752"/>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DISCUSSION</a:t>
            </a:r>
            <a:endParaRPr lang="en-US" sz="1250" dirty="0"/>
          </a:p>
        </p:txBody>
      </p:sp>
      <p:sp>
        <p:nvSpPr>
          <p:cNvPr id="4" name="Text 2"/>
          <p:cNvSpPr txBox="1"/>
          <p:nvPr/>
        </p:nvSpPr>
        <p:spPr>
          <a:xfrm>
            <a:off x="563728" y="329184"/>
            <a:ext cx="11064240" cy="676656"/>
          </a:xfrm>
          <a:prstGeom prst="rect">
            <a:avLst/>
          </a:prstGeom>
          <a:noFill/>
          <a:ln/>
        </p:spPr>
        <p:txBody>
          <a:bodyPr wrap="square" rtlCol="0" anchor="ctr"/>
          <a:lstStyle/>
          <a:p>
            <a:pPr algn="ctr" indent="0" marL="0">
              <a:buNone/>
            </a:pPr>
            <a:r>
              <a:rPr lang="en-US" sz="3500" b="1" dirty="0">
                <a:solidFill>
                  <a:srgbClr val="141B3D"/>
                </a:solidFill>
                <a:latin typeface="Cambria" pitchFamily="34" charset="0"/>
                <a:ea typeface="Cambria" pitchFamily="34" charset="-122"/>
                <a:cs typeface="Cambria" pitchFamily="34" charset="-120"/>
              </a:rPr>
              <a:t>Conclusion and next steps</a:t>
            </a:r>
            <a:endParaRPr lang="en-US" sz="3500" dirty="0"/>
          </a:p>
        </p:txBody>
      </p:sp>
      <p:sp>
        <p:nvSpPr>
          <p:cNvPr id="5" name="Text 3"/>
          <p:cNvSpPr txBox="1"/>
          <p:nvPr/>
        </p:nvSpPr>
        <p:spPr>
          <a:xfrm>
            <a:off x="563728" y="1024128"/>
            <a:ext cx="11064240" cy="347472"/>
          </a:xfrm>
          <a:prstGeom prst="rect">
            <a:avLst/>
          </a:prstGeom>
          <a:noFill/>
          <a:ln/>
        </p:spPr>
        <p:txBody>
          <a:bodyPr wrap="square" rtlCol="0" anchor="ctr"/>
          <a:lstStyle/>
          <a:p>
            <a:pPr algn="ctr" indent="0" marL="0">
              <a:buNone/>
            </a:pPr>
            <a:r>
              <a:rPr lang="en-US" sz="1600" i="1" dirty="0">
                <a:solidFill>
                  <a:srgbClr val="6B7280"/>
                </a:solidFill>
                <a:latin typeface="Calibri" pitchFamily="34" charset="0"/>
                <a:ea typeface="Calibri" pitchFamily="34" charset="-122"/>
                <a:cs typeface="Calibri" pitchFamily="34" charset="-120"/>
              </a:rPr>
              <a:t>What the project delivered, and what we would do next</a:t>
            </a:r>
            <a:endParaRPr lang="en-US" sz="1600" dirty="0"/>
          </a:p>
        </p:txBody>
      </p:sp>
      <p:sp>
        <p:nvSpPr>
          <p:cNvPr id="6" name="Text 4"/>
          <p:cNvSpPr txBox="1"/>
          <p:nvPr/>
        </p:nvSpPr>
        <p:spPr>
          <a:xfrm>
            <a:off x="548640" y="1325880"/>
            <a:ext cx="5486400" cy="310896"/>
          </a:xfrm>
          <a:prstGeom prst="rect">
            <a:avLst/>
          </a:prstGeom>
          <a:noFill/>
          <a:ln/>
        </p:spPr>
        <p:txBody>
          <a:bodyPr wrap="square" lIns="0" tIns="0" rIns="0" bIns="0" rtlCol="0" anchor="ctr"/>
          <a:lstStyle/>
          <a:p>
            <a:pPr indent="0" marL="0">
              <a:buNone/>
            </a:pPr>
            <a:r>
              <a:rPr lang="en-US" sz="1700" b="1" dirty="0">
                <a:solidFill>
                  <a:srgbClr val="4CAF82"/>
                </a:solidFill>
                <a:latin typeface="Cambria" pitchFamily="34" charset="0"/>
                <a:ea typeface="Cambria" pitchFamily="34" charset="-122"/>
                <a:cs typeface="Cambria" pitchFamily="34" charset="-120"/>
              </a:rPr>
              <a:t>What we achieved</a:t>
            </a:r>
            <a:endParaRPr lang="en-US" sz="1700" dirty="0"/>
          </a:p>
        </p:txBody>
      </p:sp>
      <p:sp>
        <p:nvSpPr>
          <p:cNvPr id="7" name="Shape 5"/>
          <p:cNvSpPr/>
          <p:nvPr/>
        </p:nvSpPr>
        <p:spPr>
          <a:xfrm>
            <a:off x="548640" y="1709928"/>
            <a:ext cx="5486400" cy="1060704"/>
          </a:xfrm>
          <a:prstGeom prst="roundRect">
            <a:avLst>
              <a:gd name="adj" fmla="val 5172"/>
            </a:avLst>
          </a:prstGeom>
          <a:solidFill>
            <a:srgbClr val="EEF8F3"/>
          </a:solidFill>
          <a:ln w="12700">
            <a:solidFill>
              <a:srgbClr val="CDEBDF"/>
            </a:solidFill>
            <a:prstDash val="solid"/>
          </a:ln>
        </p:spPr>
      </p:sp>
      <p:sp>
        <p:nvSpPr>
          <p:cNvPr id="8" name="Text 6"/>
          <p:cNvSpPr txBox="1"/>
          <p:nvPr/>
        </p:nvSpPr>
        <p:spPr>
          <a:xfrm>
            <a:off x="713232" y="1801368"/>
            <a:ext cx="5157216" cy="493776"/>
          </a:xfrm>
          <a:prstGeom prst="rect">
            <a:avLst/>
          </a:prstGeom>
          <a:noFill/>
          <a:ln/>
        </p:spPr>
        <p:txBody>
          <a:bodyPr wrap="square" lIns="0" tIns="0" rIns="0" bIns="0" rtlCol="0" anchor="ctr"/>
          <a:lstStyle/>
          <a:p>
            <a:pPr indent="0" marL="0">
              <a:buNone/>
            </a:pPr>
            <a:r>
              <a:rPr lang="en-US" sz="1400" b="1" dirty="0">
                <a:solidFill>
                  <a:srgbClr val="141B3D"/>
                </a:solidFill>
                <a:latin typeface="Calibri" pitchFamily="34" charset="0"/>
                <a:ea typeface="Calibri" pitchFamily="34" charset="-122"/>
                <a:cs typeface="Calibri" pitchFamily="34" charset="-120"/>
              </a:rPr>
              <a:t>A complete system, tested on unseen contracts</a:t>
            </a:r>
            <a:endParaRPr lang="en-US" sz="1400" dirty="0"/>
          </a:p>
        </p:txBody>
      </p:sp>
      <p:sp>
        <p:nvSpPr>
          <p:cNvPr id="9" name="Text 7"/>
          <p:cNvSpPr txBox="1"/>
          <p:nvPr/>
        </p:nvSpPr>
        <p:spPr>
          <a:xfrm>
            <a:off x="713232" y="2295144"/>
            <a:ext cx="5157216" cy="420624"/>
          </a:xfrm>
          <a:prstGeom prst="rect">
            <a:avLst/>
          </a:prstGeom>
          <a:noFill/>
          <a:ln/>
        </p:spPr>
        <p:txBody>
          <a:bodyPr wrap="square" lIns="0" tIns="0" rIns="0" bIns="0" rtlCol="0" anchor="ctr"/>
          <a:lstStyle/>
          <a:p>
            <a:pPr indent="0" marL="0">
              <a:buNone/>
            </a:pPr>
            <a:r>
              <a:rPr lang="en-US" sz="1300" dirty="0">
                <a:solidFill>
                  <a:srgbClr val="374151"/>
                </a:solidFill>
                <a:latin typeface="Calibri" pitchFamily="34" charset="0"/>
                <a:ea typeface="Calibri" pitchFamily="34" charset="-122"/>
                <a:cs typeface="Calibri" pitchFamily="34" charset="-120"/>
              </a:rPr>
              <a:t>presence, clause text, risk level and plain English for 41 clause types</a:t>
            </a:r>
            <a:endParaRPr lang="en-US" sz="1300" dirty="0"/>
          </a:p>
        </p:txBody>
      </p:sp>
      <p:sp>
        <p:nvSpPr>
          <p:cNvPr id="10" name="Shape 8"/>
          <p:cNvSpPr/>
          <p:nvPr/>
        </p:nvSpPr>
        <p:spPr>
          <a:xfrm>
            <a:off x="548640" y="2880360"/>
            <a:ext cx="5486400" cy="1060704"/>
          </a:xfrm>
          <a:prstGeom prst="roundRect">
            <a:avLst>
              <a:gd name="adj" fmla="val 5172"/>
            </a:avLst>
          </a:prstGeom>
          <a:solidFill>
            <a:srgbClr val="EEF8F3"/>
          </a:solidFill>
          <a:ln w="12700">
            <a:solidFill>
              <a:srgbClr val="CDEBDF"/>
            </a:solidFill>
            <a:prstDash val="solid"/>
          </a:ln>
        </p:spPr>
      </p:sp>
      <p:sp>
        <p:nvSpPr>
          <p:cNvPr id="11" name="Text 9"/>
          <p:cNvSpPr txBox="1"/>
          <p:nvPr/>
        </p:nvSpPr>
        <p:spPr>
          <a:xfrm>
            <a:off x="713232" y="2971800"/>
            <a:ext cx="5157216" cy="493776"/>
          </a:xfrm>
          <a:prstGeom prst="rect">
            <a:avLst/>
          </a:prstGeom>
          <a:noFill/>
          <a:ln/>
        </p:spPr>
        <p:txBody>
          <a:bodyPr wrap="square" lIns="0" tIns="0" rIns="0" bIns="0" rtlCol="0" anchor="ctr"/>
          <a:lstStyle/>
          <a:p>
            <a:pPr indent="0" marL="0">
              <a:buNone/>
            </a:pPr>
            <a:r>
              <a:rPr lang="en-US" sz="1400" b="1" dirty="0">
                <a:solidFill>
                  <a:srgbClr val="141B3D"/>
                </a:solidFill>
                <a:latin typeface="Calibri" pitchFamily="34" charset="0"/>
                <a:ea typeface="Calibri" pitchFamily="34" charset="-122"/>
                <a:cs typeface="Calibri" pitchFamily="34" charset="-120"/>
              </a:rPr>
              <a:t>A strong result on finding clauses</a:t>
            </a:r>
            <a:endParaRPr lang="en-US" sz="1400" dirty="0"/>
          </a:p>
        </p:txBody>
      </p:sp>
      <p:sp>
        <p:nvSpPr>
          <p:cNvPr id="12" name="Text 10"/>
          <p:cNvSpPr txBox="1"/>
          <p:nvPr/>
        </p:nvSpPr>
        <p:spPr>
          <a:xfrm>
            <a:off x="713232" y="3465576"/>
            <a:ext cx="5157216" cy="420624"/>
          </a:xfrm>
          <a:prstGeom prst="rect">
            <a:avLst/>
          </a:prstGeom>
          <a:noFill/>
          <a:ln/>
        </p:spPr>
        <p:txBody>
          <a:bodyPr wrap="square" lIns="0" tIns="0" rIns="0" bIns="0" rtlCol="0" anchor="ctr"/>
          <a:lstStyle/>
          <a:p>
            <a:pPr indent="0" marL="0">
              <a:buNone/>
            </a:pPr>
            <a:r>
              <a:rPr lang="en-US" sz="1300" dirty="0">
                <a:solidFill>
                  <a:srgbClr val="374151"/>
                </a:solidFill>
                <a:latin typeface="Calibri" pitchFamily="34" charset="0"/>
                <a:ea typeface="Calibri" pitchFamily="34" charset="-122"/>
                <a:cs typeface="Calibri" pitchFamily="34" charset="-120"/>
              </a:rPr>
              <a:t>AND-ensemble micro-F1 0.779 and accuracy 85.65%; TF-IDF 0.775 is a strong baseline</a:t>
            </a:r>
            <a:endParaRPr lang="en-US" sz="1300" dirty="0"/>
          </a:p>
        </p:txBody>
      </p:sp>
      <p:sp>
        <p:nvSpPr>
          <p:cNvPr id="13" name="Shape 11"/>
          <p:cNvSpPr/>
          <p:nvPr/>
        </p:nvSpPr>
        <p:spPr>
          <a:xfrm>
            <a:off x="548640" y="4050792"/>
            <a:ext cx="5486400" cy="1060704"/>
          </a:xfrm>
          <a:prstGeom prst="roundRect">
            <a:avLst>
              <a:gd name="adj" fmla="val 5172"/>
            </a:avLst>
          </a:prstGeom>
          <a:solidFill>
            <a:srgbClr val="EEF8F3"/>
          </a:solidFill>
          <a:ln w="12700">
            <a:solidFill>
              <a:srgbClr val="CDEBDF"/>
            </a:solidFill>
            <a:prstDash val="solid"/>
          </a:ln>
        </p:spPr>
      </p:sp>
      <p:sp>
        <p:nvSpPr>
          <p:cNvPr id="14" name="Text 12"/>
          <p:cNvSpPr txBox="1"/>
          <p:nvPr/>
        </p:nvSpPr>
        <p:spPr>
          <a:xfrm>
            <a:off x="713232" y="4142232"/>
            <a:ext cx="5157216" cy="493776"/>
          </a:xfrm>
          <a:prstGeom prst="rect">
            <a:avLst/>
          </a:prstGeom>
          <a:noFill/>
          <a:ln/>
        </p:spPr>
        <p:txBody>
          <a:bodyPr wrap="square" lIns="0" tIns="0" rIns="0" bIns="0" rtlCol="0" anchor="ctr"/>
          <a:lstStyle/>
          <a:p>
            <a:pPr indent="0" marL="0">
              <a:buNone/>
            </a:pPr>
            <a:r>
              <a:rPr lang="en-US" sz="1400" b="1" dirty="0">
                <a:solidFill>
                  <a:srgbClr val="141B3D"/>
                </a:solidFill>
                <a:latin typeface="Calibri" pitchFamily="34" charset="0"/>
                <a:ea typeface="Calibri" pitchFamily="34" charset="-122"/>
                <a:cs typeface="Calibri" pitchFamily="34" charset="-120"/>
              </a:rPr>
              <a:t>Accurate clause text</a:t>
            </a:r>
            <a:endParaRPr lang="en-US" sz="1400" dirty="0"/>
          </a:p>
        </p:txBody>
      </p:sp>
      <p:sp>
        <p:nvSpPr>
          <p:cNvPr id="15" name="Text 13"/>
          <p:cNvSpPr txBox="1"/>
          <p:nvPr/>
        </p:nvSpPr>
        <p:spPr>
          <a:xfrm>
            <a:off x="713232" y="4636008"/>
            <a:ext cx="5157216" cy="420624"/>
          </a:xfrm>
          <a:prstGeom prst="rect">
            <a:avLst/>
          </a:prstGeom>
          <a:noFill/>
          <a:ln/>
        </p:spPr>
        <p:txBody>
          <a:bodyPr wrap="square" lIns="0" tIns="0" rIns="0" bIns="0" rtlCol="0" anchor="ctr"/>
          <a:lstStyle/>
          <a:p>
            <a:pPr indent="0" marL="0">
              <a:buNone/>
            </a:pPr>
            <a:r>
              <a:rPr lang="en-US" sz="1300" dirty="0">
                <a:solidFill>
                  <a:srgbClr val="374151"/>
                </a:solidFill>
                <a:latin typeface="Calibri" pitchFamily="34" charset="0"/>
                <a:ea typeface="Calibri" pitchFamily="34" charset="-122"/>
                <a:cs typeface="Calibri" pitchFamily="34" charset="-120"/>
              </a:rPr>
              <a:t>token-F1 0.764, with 82.8% good overlap when the window holds the clause</a:t>
            </a:r>
            <a:endParaRPr lang="en-US" sz="1300" dirty="0"/>
          </a:p>
        </p:txBody>
      </p:sp>
      <p:sp>
        <p:nvSpPr>
          <p:cNvPr id="16" name="Shape 14"/>
          <p:cNvSpPr/>
          <p:nvPr/>
        </p:nvSpPr>
        <p:spPr>
          <a:xfrm>
            <a:off x="548640" y="5221224"/>
            <a:ext cx="5486400" cy="1060704"/>
          </a:xfrm>
          <a:prstGeom prst="roundRect">
            <a:avLst>
              <a:gd name="adj" fmla="val 5172"/>
            </a:avLst>
          </a:prstGeom>
          <a:solidFill>
            <a:srgbClr val="EEF8F3"/>
          </a:solidFill>
          <a:ln w="12700">
            <a:solidFill>
              <a:srgbClr val="CDEBDF"/>
            </a:solidFill>
            <a:prstDash val="solid"/>
          </a:ln>
        </p:spPr>
      </p:sp>
      <p:sp>
        <p:nvSpPr>
          <p:cNvPr id="17" name="Text 15"/>
          <p:cNvSpPr txBox="1"/>
          <p:nvPr/>
        </p:nvSpPr>
        <p:spPr>
          <a:xfrm>
            <a:off x="713232" y="5312664"/>
            <a:ext cx="5157216" cy="493776"/>
          </a:xfrm>
          <a:prstGeom prst="rect">
            <a:avLst/>
          </a:prstGeom>
          <a:noFill/>
          <a:ln/>
        </p:spPr>
        <p:txBody>
          <a:bodyPr wrap="square" lIns="0" tIns="0" rIns="0" bIns="0" rtlCol="0" anchor="ctr"/>
          <a:lstStyle/>
          <a:p>
            <a:pPr indent="0" marL="0">
              <a:buNone/>
            </a:pPr>
            <a:r>
              <a:rPr lang="en-US" sz="1400" b="1" dirty="0">
                <a:solidFill>
                  <a:srgbClr val="141B3D"/>
                </a:solidFill>
                <a:latin typeface="Calibri" pitchFamily="34" charset="0"/>
                <a:ea typeface="Calibri" pitchFamily="34" charset="-122"/>
                <a:cs typeface="Calibri" pitchFamily="34" charset="-120"/>
              </a:rPr>
              <a:t>A working, tested app</a:t>
            </a:r>
            <a:endParaRPr lang="en-US" sz="1400" dirty="0"/>
          </a:p>
        </p:txBody>
      </p:sp>
      <p:sp>
        <p:nvSpPr>
          <p:cNvPr id="18" name="Text 16"/>
          <p:cNvSpPr txBox="1"/>
          <p:nvPr/>
        </p:nvSpPr>
        <p:spPr>
          <a:xfrm>
            <a:off x="713232" y="5806440"/>
            <a:ext cx="5157216" cy="420624"/>
          </a:xfrm>
          <a:prstGeom prst="rect">
            <a:avLst/>
          </a:prstGeom>
          <a:noFill/>
          <a:ln/>
        </p:spPr>
        <p:txBody>
          <a:bodyPr wrap="square" lIns="0" tIns="0" rIns="0" bIns="0" rtlCol="0" anchor="ctr"/>
          <a:lstStyle/>
          <a:p>
            <a:pPr indent="0" marL="0">
              <a:buNone/>
            </a:pPr>
            <a:r>
              <a:rPr lang="en-US" sz="1300" dirty="0">
                <a:solidFill>
                  <a:srgbClr val="374151"/>
                </a:solidFill>
                <a:latin typeface="Calibri" pitchFamily="34" charset="0"/>
                <a:ea typeface="Calibri" pitchFamily="34" charset="-122"/>
                <a:cs typeface="Calibri" pitchFamily="34" charset="-120"/>
              </a:rPr>
              <a:t>Clausify runs locally in about 30 s per contract; 38 of 38 tests pass</a:t>
            </a:r>
            <a:endParaRPr lang="en-US" sz="1300" dirty="0"/>
          </a:p>
        </p:txBody>
      </p:sp>
      <p:sp>
        <p:nvSpPr>
          <p:cNvPr id="19" name="Text 17"/>
          <p:cNvSpPr txBox="1"/>
          <p:nvPr/>
        </p:nvSpPr>
        <p:spPr>
          <a:xfrm>
            <a:off x="6263640" y="1325880"/>
            <a:ext cx="5440680" cy="310896"/>
          </a:xfrm>
          <a:prstGeom prst="rect">
            <a:avLst/>
          </a:prstGeom>
          <a:noFill/>
          <a:ln/>
        </p:spPr>
        <p:txBody>
          <a:bodyPr wrap="square" lIns="0" tIns="0" rIns="0" bIns="0"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Next steps</a:t>
            </a:r>
            <a:endParaRPr lang="en-US" sz="1700" dirty="0"/>
          </a:p>
        </p:txBody>
      </p:sp>
      <p:sp>
        <p:nvSpPr>
          <p:cNvPr id="20" name="Shape 18"/>
          <p:cNvSpPr/>
          <p:nvPr/>
        </p:nvSpPr>
        <p:spPr>
          <a:xfrm>
            <a:off x="6263640" y="1709928"/>
            <a:ext cx="5440680" cy="841248"/>
          </a:xfrm>
          <a:prstGeom prst="roundRect">
            <a:avLst>
              <a:gd name="adj" fmla="val 6522"/>
            </a:avLst>
          </a:prstGeom>
          <a:solidFill>
            <a:srgbClr val="E8ECF7"/>
          </a:solidFill>
          <a:ln w="12700">
            <a:solidFill>
              <a:srgbClr val="CFD8EE"/>
            </a:solidFill>
            <a:prstDash val="solid"/>
          </a:ln>
        </p:spPr>
      </p:sp>
      <p:sp>
        <p:nvSpPr>
          <p:cNvPr id="21" name="Text 19"/>
          <p:cNvSpPr txBox="1"/>
          <p:nvPr/>
        </p:nvSpPr>
        <p:spPr>
          <a:xfrm>
            <a:off x="6428232" y="1755648"/>
            <a:ext cx="5120640" cy="384048"/>
          </a:xfrm>
          <a:prstGeom prst="rect">
            <a:avLst/>
          </a:prstGeom>
          <a:noFill/>
          <a:ln/>
        </p:spPr>
        <p:txBody>
          <a:bodyPr wrap="square" lIns="0" tIns="0" rIns="0" bIns="0" rtlCol="0" anchor="ctr"/>
          <a:lstStyle/>
          <a:p>
            <a:pPr indent="0" marL="0">
              <a:buNone/>
            </a:pPr>
            <a:r>
              <a:rPr lang="en-US" sz="1400" b="1" dirty="0">
                <a:solidFill>
                  <a:srgbClr val="141B3D"/>
                </a:solidFill>
                <a:latin typeface="Calibri" pitchFamily="34" charset="0"/>
                <a:ea typeface="Calibri" pitchFamily="34" charset="-122"/>
                <a:cs typeface="Calibri" pitchFamily="34" charset="-120"/>
              </a:rPr>
              <a:t>Lawyer review of the risk table</a:t>
            </a:r>
            <a:endParaRPr lang="en-US" sz="1400" dirty="0"/>
          </a:p>
        </p:txBody>
      </p:sp>
      <p:sp>
        <p:nvSpPr>
          <p:cNvPr id="22" name="Text 20"/>
          <p:cNvSpPr txBox="1"/>
          <p:nvPr/>
        </p:nvSpPr>
        <p:spPr>
          <a:xfrm>
            <a:off x="6428232" y="2130552"/>
            <a:ext cx="5120640" cy="384048"/>
          </a:xfrm>
          <a:prstGeom prst="rect">
            <a:avLst/>
          </a:prstGeom>
          <a:noFill/>
          <a:ln/>
        </p:spPr>
        <p:txBody>
          <a:bodyPr wrap="square" lIns="0" tIns="0" rIns="0" bIns="0" rtlCol="0" anchor="ctr"/>
          <a:lstStyle/>
          <a:p>
            <a:pPr indent="0" marL="0">
              <a:buNone/>
            </a:pPr>
            <a:r>
              <a:rPr lang="en-US" sz="1300" dirty="0">
                <a:solidFill>
                  <a:srgbClr val="374151"/>
                </a:solidFill>
                <a:latin typeface="Calibri" pitchFamily="34" charset="0"/>
                <a:ea typeface="Calibri" pitchFamily="34" charset="-122"/>
                <a:cs typeface="Calibri" pitchFamily="34" charset="-120"/>
              </a:rPr>
              <a:t>two or three reviewers, with agreement measured by kappa</a:t>
            </a:r>
            <a:endParaRPr lang="en-US" sz="1300" dirty="0"/>
          </a:p>
        </p:txBody>
      </p:sp>
      <p:sp>
        <p:nvSpPr>
          <p:cNvPr id="23" name="Shape 21"/>
          <p:cNvSpPr/>
          <p:nvPr/>
        </p:nvSpPr>
        <p:spPr>
          <a:xfrm>
            <a:off x="6263640" y="2642616"/>
            <a:ext cx="5440680" cy="841248"/>
          </a:xfrm>
          <a:prstGeom prst="roundRect">
            <a:avLst>
              <a:gd name="adj" fmla="val 6522"/>
            </a:avLst>
          </a:prstGeom>
          <a:solidFill>
            <a:srgbClr val="E8ECF7"/>
          </a:solidFill>
          <a:ln w="12700">
            <a:solidFill>
              <a:srgbClr val="CFD8EE"/>
            </a:solidFill>
            <a:prstDash val="solid"/>
          </a:ln>
        </p:spPr>
      </p:sp>
      <p:sp>
        <p:nvSpPr>
          <p:cNvPr id="24" name="Text 22"/>
          <p:cNvSpPr txBox="1"/>
          <p:nvPr/>
        </p:nvSpPr>
        <p:spPr>
          <a:xfrm>
            <a:off x="6428232" y="2688336"/>
            <a:ext cx="5120640" cy="384048"/>
          </a:xfrm>
          <a:prstGeom prst="rect">
            <a:avLst/>
          </a:prstGeom>
          <a:noFill/>
          <a:ln/>
        </p:spPr>
        <p:txBody>
          <a:bodyPr wrap="square" lIns="0" tIns="0" rIns="0" bIns="0" rtlCol="0" anchor="ctr"/>
          <a:lstStyle/>
          <a:p>
            <a:pPr indent="0" marL="0">
              <a:buNone/>
            </a:pPr>
            <a:r>
              <a:rPr lang="en-US" sz="1400" b="1" dirty="0">
                <a:solidFill>
                  <a:srgbClr val="141B3D"/>
                </a:solidFill>
                <a:latin typeface="Calibri" pitchFamily="34" charset="0"/>
                <a:ea typeface="Calibri" pitchFamily="34" charset="-122"/>
                <a:cs typeface="Calibri" pitchFamily="34" charset="-120"/>
              </a:rPr>
              <a:t>Calibrate the confidence score</a:t>
            </a:r>
            <a:endParaRPr lang="en-US" sz="1400" dirty="0"/>
          </a:p>
        </p:txBody>
      </p:sp>
      <p:sp>
        <p:nvSpPr>
          <p:cNvPr id="25" name="Text 23"/>
          <p:cNvSpPr txBox="1"/>
          <p:nvPr/>
        </p:nvSpPr>
        <p:spPr>
          <a:xfrm>
            <a:off x="6428232" y="3063240"/>
            <a:ext cx="5120640" cy="384048"/>
          </a:xfrm>
          <a:prstGeom prst="rect">
            <a:avLst/>
          </a:prstGeom>
          <a:noFill/>
          <a:ln/>
        </p:spPr>
        <p:txBody>
          <a:bodyPr wrap="square" lIns="0" tIns="0" rIns="0" bIns="0" rtlCol="0" anchor="ctr"/>
          <a:lstStyle/>
          <a:p>
            <a:pPr indent="0" marL="0">
              <a:buNone/>
            </a:pPr>
            <a:r>
              <a:rPr lang="en-US" sz="1300" dirty="0">
                <a:solidFill>
                  <a:srgbClr val="374151"/>
                </a:solidFill>
                <a:latin typeface="Calibri" pitchFamily="34" charset="0"/>
                <a:ea typeface="Calibri" pitchFamily="34" charset="-122"/>
                <a:cs typeface="Calibri" pitchFamily="34" charset="-120"/>
              </a:rPr>
              <a:t>fit it on a validation split so the bar reads as a probability</a:t>
            </a:r>
            <a:endParaRPr lang="en-US" sz="1300" dirty="0"/>
          </a:p>
        </p:txBody>
      </p:sp>
      <p:sp>
        <p:nvSpPr>
          <p:cNvPr id="26" name="Shape 24"/>
          <p:cNvSpPr/>
          <p:nvPr/>
        </p:nvSpPr>
        <p:spPr>
          <a:xfrm>
            <a:off x="6263640" y="3575304"/>
            <a:ext cx="5440680" cy="841248"/>
          </a:xfrm>
          <a:prstGeom prst="roundRect">
            <a:avLst>
              <a:gd name="adj" fmla="val 6522"/>
            </a:avLst>
          </a:prstGeom>
          <a:solidFill>
            <a:srgbClr val="E8ECF7"/>
          </a:solidFill>
          <a:ln w="12700">
            <a:solidFill>
              <a:srgbClr val="CFD8EE"/>
            </a:solidFill>
            <a:prstDash val="solid"/>
          </a:ln>
        </p:spPr>
      </p:sp>
      <p:sp>
        <p:nvSpPr>
          <p:cNvPr id="27" name="Text 25"/>
          <p:cNvSpPr txBox="1"/>
          <p:nvPr/>
        </p:nvSpPr>
        <p:spPr>
          <a:xfrm>
            <a:off x="6428232" y="3621024"/>
            <a:ext cx="5120640" cy="384048"/>
          </a:xfrm>
          <a:prstGeom prst="rect">
            <a:avLst/>
          </a:prstGeom>
          <a:noFill/>
          <a:ln/>
        </p:spPr>
        <p:txBody>
          <a:bodyPr wrap="square" lIns="0" tIns="0" rIns="0" bIns="0" rtlCol="0" anchor="ctr"/>
          <a:lstStyle/>
          <a:p>
            <a:pPr indent="0" marL="0">
              <a:buNone/>
            </a:pPr>
            <a:r>
              <a:rPr lang="en-US" sz="1400" b="1" dirty="0">
                <a:solidFill>
                  <a:srgbClr val="141B3D"/>
                </a:solidFill>
                <a:latin typeface="Calibri" pitchFamily="34" charset="0"/>
                <a:ea typeface="Calibri" pitchFamily="34" charset="-122"/>
                <a:cs typeface="Calibri" pitchFamily="34" charset="-120"/>
              </a:rPr>
              <a:t>A user study</a:t>
            </a:r>
            <a:endParaRPr lang="en-US" sz="1400" dirty="0"/>
          </a:p>
        </p:txBody>
      </p:sp>
      <p:sp>
        <p:nvSpPr>
          <p:cNvPr id="28" name="Text 26"/>
          <p:cNvSpPr txBox="1"/>
          <p:nvPr/>
        </p:nvSpPr>
        <p:spPr>
          <a:xfrm>
            <a:off x="6428232" y="3995928"/>
            <a:ext cx="5120640" cy="384048"/>
          </a:xfrm>
          <a:prstGeom prst="rect">
            <a:avLst/>
          </a:prstGeom>
          <a:noFill/>
          <a:ln/>
        </p:spPr>
        <p:txBody>
          <a:bodyPr wrap="square" lIns="0" tIns="0" rIns="0" bIns="0" rtlCol="0" anchor="ctr"/>
          <a:lstStyle/>
          <a:p>
            <a:pPr indent="0" marL="0">
              <a:buNone/>
            </a:pPr>
            <a:r>
              <a:rPr lang="en-US" sz="1300" dirty="0">
                <a:solidFill>
                  <a:srgbClr val="374151"/>
                </a:solidFill>
                <a:latin typeface="Calibri" pitchFamily="34" charset="0"/>
                <a:ea typeface="Calibri" pitchFamily="34" charset="-122"/>
                <a:cs typeface="Calibri" pitchFamily="34" charset="-120"/>
              </a:rPr>
              <a:t>5 to 10 non-lawyers, measuring time and clauses found</a:t>
            </a:r>
            <a:endParaRPr lang="en-US" sz="1300" dirty="0"/>
          </a:p>
        </p:txBody>
      </p:sp>
      <p:sp>
        <p:nvSpPr>
          <p:cNvPr id="29" name="Shape 27"/>
          <p:cNvSpPr/>
          <p:nvPr/>
        </p:nvSpPr>
        <p:spPr>
          <a:xfrm>
            <a:off x="6263640" y="4507992"/>
            <a:ext cx="5440680" cy="841248"/>
          </a:xfrm>
          <a:prstGeom prst="roundRect">
            <a:avLst>
              <a:gd name="adj" fmla="val 6522"/>
            </a:avLst>
          </a:prstGeom>
          <a:solidFill>
            <a:srgbClr val="E8ECF7"/>
          </a:solidFill>
          <a:ln w="12700">
            <a:solidFill>
              <a:srgbClr val="CFD8EE"/>
            </a:solidFill>
            <a:prstDash val="solid"/>
          </a:ln>
        </p:spPr>
      </p:sp>
      <p:sp>
        <p:nvSpPr>
          <p:cNvPr id="30" name="Text 28"/>
          <p:cNvSpPr txBox="1"/>
          <p:nvPr/>
        </p:nvSpPr>
        <p:spPr>
          <a:xfrm>
            <a:off x="6428232" y="4553712"/>
            <a:ext cx="5120640" cy="384048"/>
          </a:xfrm>
          <a:prstGeom prst="rect">
            <a:avLst/>
          </a:prstGeom>
          <a:noFill/>
          <a:ln/>
        </p:spPr>
        <p:txBody>
          <a:bodyPr wrap="square" lIns="0" tIns="0" rIns="0" bIns="0" rtlCol="0" anchor="ctr"/>
          <a:lstStyle/>
          <a:p>
            <a:pPr indent="0" marL="0">
              <a:buNone/>
            </a:pPr>
            <a:r>
              <a:rPr lang="en-US" sz="1400" b="1" dirty="0">
                <a:solidFill>
                  <a:srgbClr val="141B3D"/>
                </a:solidFill>
                <a:latin typeface="Calibri" pitchFamily="34" charset="0"/>
                <a:ea typeface="Calibri" pitchFamily="34" charset="-122"/>
                <a:cs typeface="Calibri" pitchFamily="34" charset="-120"/>
              </a:rPr>
              <a:t>Explanations for each clause</a:t>
            </a:r>
            <a:endParaRPr lang="en-US" sz="1400" dirty="0"/>
          </a:p>
        </p:txBody>
      </p:sp>
      <p:sp>
        <p:nvSpPr>
          <p:cNvPr id="31" name="Text 29"/>
          <p:cNvSpPr txBox="1"/>
          <p:nvPr/>
        </p:nvSpPr>
        <p:spPr>
          <a:xfrm>
            <a:off x="6428232" y="4928616"/>
            <a:ext cx="5120640" cy="384048"/>
          </a:xfrm>
          <a:prstGeom prst="rect">
            <a:avLst/>
          </a:prstGeom>
          <a:noFill/>
          <a:ln/>
        </p:spPr>
        <p:txBody>
          <a:bodyPr wrap="square" lIns="0" tIns="0" rIns="0" bIns="0" rtlCol="0" anchor="ctr"/>
          <a:lstStyle/>
          <a:p>
            <a:pPr indent="0" marL="0">
              <a:buNone/>
            </a:pPr>
            <a:r>
              <a:rPr lang="en-US" sz="1300" dirty="0">
                <a:solidFill>
                  <a:srgbClr val="374151"/>
                </a:solidFill>
                <a:latin typeface="Calibri" pitchFamily="34" charset="0"/>
                <a:ea typeface="Calibri" pitchFamily="34" charset="-122"/>
                <a:cs typeface="Calibri" pitchFamily="34" charset="-120"/>
              </a:rPr>
              <a:t>grow the 150-clause trial set into a few thousand targets</a:t>
            </a:r>
            <a:endParaRPr lang="en-US" sz="1300" dirty="0"/>
          </a:p>
        </p:txBody>
      </p:sp>
      <p:sp>
        <p:nvSpPr>
          <p:cNvPr id="32" name="Shape 30"/>
          <p:cNvSpPr/>
          <p:nvPr/>
        </p:nvSpPr>
        <p:spPr>
          <a:xfrm>
            <a:off x="6263640" y="5440680"/>
            <a:ext cx="5440680" cy="841248"/>
          </a:xfrm>
          <a:prstGeom prst="roundRect">
            <a:avLst>
              <a:gd name="adj" fmla="val 6522"/>
            </a:avLst>
          </a:prstGeom>
          <a:solidFill>
            <a:srgbClr val="E8ECF7"/>
          </a:solidFill>
          <a:ln w="12700">
            <a:solidFill>
              <a:srgbClr val="CFD8EE"/>
            </a:solidFill>
            <a:prstDash val="solid"/>
          </a:ln>
        </p:spPr>
      </p:sp>
      <p:sp>
        <p:nvSpPr>
          <p:cNvPr id="33" name="Text 31"/>
          <p:cNvSpPr txBox="1"/>
          <p:nvPr/>
        </p:nvSpPr>
        <p:spPr>
          <a:xfrm>
            <a:off x="6428232" y="5486400"/>
            <a:ext cx="5120640" cy="384048"/>
          </a:xfrm>
          <a:prstGeom prst="rect">
            <a:avLst/>
          </a:prstGeom>
          <a:noFill/>
          <a:ln/>
        </p:spPr>
        <p:txBody>
          <a:bodyPr wrap="square" lIns="0" tIns="0" rIns="0" bIns="0" rtlCol="0" anchor="ctr"/>
          <a:lstStyle/>
          <a:p>
            <a:pPr indent="0" marL="0">
              <a:buNone/>
            </a:pPr>
            <a:r>
              <a:rPr lang="en-US" sz="1400" b="1" dirty="0">
                <a:solidFill>
                  <a:srgbClr val="141B3D"/>
                </a:solidFill>
                <a:latin typeface="Calibri" pitchFamily="34" charset="0"/>
                <a:ea typeface="Calibri" pitchFamily="34" charset="-122"/>
                <a:cs typeface="Calibri" pitchFamily="34" charset="-120"/>
              </a:rPr>
              <a:t>Beyond CUAD</a:t>
            </a:r>
            <a:endParaRPr lang="en-US" sz="1400" dirty="0"/>
          </a:p>
        </p:txBody>
      </p:sp>
      <p:sp>
        <p:nvSpPr>
          <p:cNvPr id="34" name="Text 32"/>
          <p:cNvSpPr txBox="1"/>
          <p:nvPr/>
        </p:nvSpPr>
        <p:spPr>
          <a:xfrm>
            <a:off x="6428232" y="5861304"/>
            <a:ext cx="5120640" cy="384048"/>
          </a:xfrm>
          <a:prstGeom prst="rect">
            <a:avLst/>
          </a:prstGeom>
          <a:noFill/>
          <a:ln/>
        </p:spPr>
        <p:txBody>
          <a:bodyPr wrap="square" lIns="0" tIns="0" rIns="0" bIns="0" rtlCol="0" anchor="ctr"/>
          <a:lstStyle/>
          <a:p>
            <a:pPr indent="0" marL="0">
              <a:buNone/>
            </a:pPr>
            <a:r>
              <a:rPr lang="en-US" sz="1300" dirty="0">
                <a:solidFill>
                  <a:srgbClr val="374151"/>
                </a:solidFill>
                <a:latin typeface="Calibri" pitchFamily="34" charset="0"/>
                <a:ea typeface="Calibri" pitchFamily="34" charset="-122"/>
                <a:cs typeface="Calibri" pitchFamily="34" charset="-120"/>
              </a:rPr>
              <a:t>larger models on a GPU, and contracts from Bangladesh</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Clause Detection, Category-Level Risk Prioritization and Plain-Language Explanation on CUAD</dc:title>
  <dc:subject>PptxGenJS Presentation</dc:subject>
  <dc:creator>Jerin Aktar, Afnan Mazumdar, Shoyeb Hasan Sayem</dc:creator>
  <cp:lastModifiedBy>Jerin Aktar, Afnan Mazumdar, Shoyeb Hasan Sayem</cp:lastModifiedBy>
  <cp:revision>1</cp:revision>
  <dcterms:created xsi:type="dcterms:W3CDTF">2026-09-28T17:24:00Z</dcterms:created>
  <dcterms:modified xsi:type="dcterms:W3CDTF">2026-09-28T17:24:00Z</dcterms:modified>
</cp:coreProperties>
</file>
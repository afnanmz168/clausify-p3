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200">
                <a:solidFill>
                  <a:srgbClr val="6B7280"/>
                </a:solidFill>
              </a:defRPr>
            </a:pPr>
          </a:p>
        </c:txPr>
        <c:crossAx val="-2068027336"/>
        <c:crosses val="autoZero"/>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Sheet1!$B$2:$B$6</c:f>
              <c:numCache>
                <c:formatCode>General</c:formatCode>
                <c:ptCount val="5"/>
                <c:pt idx="0">
                  <c:v>0</c:v>
                </c:pt>
                <c:pt idx="1">
                  <c:v>0</c:v>
                </c:pt>
                <c:pt idx="2">
                  <c:v>0.718</c:v>
                </c:pt>
                <c:pt idx="3">
                  <c:v>0</c:v>
                </c:pt>
                <c:pt idx="4">
                  <c:v>0.779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Sheet1!$C$2:$C$6</c:f>
              <c:numCache>
                <c:formatCode>General</c:formatCode>
                <c:ptCount val="5"/>
                <c:pt idx="0">
                  <c:v>0</c:v>
                </c:pt>
                <c:pt idx="1">
                  <c:v>0</c:v>
                </c:pt>
                <c:pt idx="2">
                  <c:v>0</c:v>
                </c:pt>
                <c:pt idx="3">
                  <c:v>0.775</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Sheet1!$D$2:$D$6</c:f>
              <c:numCache>
                <c:formatCode>General</c:formatCode>
                <c:ptCount val="5"/>
                <c:pt idx="0">
                  <c:v>0.692</c:v>
                </c:pt>
                <c:pt idx="1">
                  <c:v>0.692</c:v>
                </c:pt>
                <c:pt idx="2">
                  <c:v>0</c:v>
                </c:pt>
                <c:pt idx="3">
                  <c:v>0</c:v>
                </c:pt>
                <c:pt idx="4">
                  <c:v>0</c:v>
                </c:pt>
              </c:numCache>
            </c:numRef>
          </c:val>
        </c:ser>
        <c:dLbls>
          <c:numFmt formatCode="0.000;;;"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4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200">
                <a:solidFill>
                  <a:srgbClr val="6B7280"/>
                </a:solidFill>
              </a:defRPr>
            </a:pPr>
          </a:p>
        </c:txPr>
        <c:crossAx val="-2068027336"/>
        <c:crosses val="autoZero"/>
        <c:majorUnit val="0.2"/>
      </c:valAx>
    </c:plotArea>
    <c:dispBlanksAs val="gap"/>
  </c:chart>
  <c:spPr>
    <a:noFill/>
    <a:ln>
      <a:noFill/>
    </a:ln>
  </c:spPr>
  <c:txPr>
    <a:bodyPr/>
    <a:lstStyle/>
    <a:p>
      <a:pPr>
        <a:defRPr sz="13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project builds a system that reads a contract for the person signing it: it finds which of CUAD's 41 clause types are present, shows the clause text, gives each one a High, Medium or Low risk level with a plain-English line, and runs in an app called Clausify. We cover the data, the pipeline, training, the problems we solved, how we tested,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categories. We split by whole contract, 408 for training and 102 for testing, so no clause from a training contract can leak into the test. The chart shows train and test have almost the same share of each category (32.0% vs 32.2% positive overall).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presence step reads every window and takes the highest window score for the whole contract; this is multiple-instance learning. A word-based TF-IDF model reads the whole contract, and the AND rule needs both to agree. Then the span model finds the text, the risk table adds the level, and FLAN-T5 adds a plain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were trained only on the 408 training contracts, with standard fine-tuning settings. We trained the simple TF-IDF baseline first so every neural model had a fair score to beat.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AND-ensemble has the highest micro-F1, 0.779, with balanced precision and recall. Statistically it ties with the TF-IDF baseline (bootstrap interval -0.0037 to +0.0115). The clear result is that the simple whole-document model beats the window transformer by 0.082, and that gap survived every check.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Risk is set per category with five written questions, so anyone can check or challenge a level. Eight categories are High, 22 Medium and 11 Low. A lawyer has not reviewed the table yet; that is our first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app problem was found by testing with real inputs. The clause-mode numbers come from 721 test-split clauses; the app shows them under every clause-mode result. 38 automated checks now cover these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Example: for an anti-assignment clause the app shows 'You cannot transfer this contract to someone else without permission.' Exact match is 35.5%, lower than overlap, because the exact start and end of a legal clause are often debatable.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resample whole contracts, not single decisions, because the 41 decisions from one contract move together. Nothing was tuned on the test set, and the test notebook only loads saved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delivered a complete, tested system and a working app. The next steps make it more trustworthy: a lawyer review of the risk table, a calibrated confidence score, a user study, explanations written for each clause, and contracts from outside CUAD.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contracts are long: about 33,000 characters for a typical one. The parts that matter, such as unlimited liability, IP assignment or a non-compete, are short and easy to miss. Lawyers are expensive, so many people sign without help. CUAD only finds clause text; we add a risk level, a plain-English line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with clear fixes. The window design came from a measurement, not a guess: a search-first design could never reach more than 64% of clauses, below what the simple baseline already finds.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the trained models on a pasted or uploaded contract. By default it uses DistilBERT alone, which finds 84% of High-risk clauses (recall 0.841); the AND-ensemble is available as a setting. The notice on screen says it is not legal advice and that scores are model scores.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four objectives map onto the four steps of the system: presence, clause text, risk with plain English, and a fair test followed by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Cleaning was about format, not wrong values: empty cells, lists stored as text, and one column name with an extra space. We then built one row per contract and category, and cut each contract into overlapping windows for the transformer.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and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Why we built a system that reads a contract for the person signing it</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long</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typical CUAD contract has about 33,000 characters (5,000 words); the longest has more than 338,000.</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Lawyers are expensive</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full review takes hours and costs money that freelancers and small businesses often cannot pay, so many people sign without understanding the risks.</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CUAD only finds the text</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Given a category, the CUAD benchmark finds the clause. It does not say how risky the clause is or what it means in plain words.</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What we add</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risk level for every clause category, a one-sentence plain-English explanation, and Clausify, an app that shows the risky clauses first.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INTRODUCTION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Objectives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goals, which the rest of this talk follows</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which clauses are present</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For each of the 41 CUAD categories, decide whether a contract has a clause of that type, and compare a transformer with a strong word-based baseline.</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 the exact clause text</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Extract the words of each clause found, treated as a question-answering task in the style of SQuAD.</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Show the risk in plain English</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Give each clause found a High, Medium or Low level with a reason, and a one-sentence explanation.</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Test fairly, then build the app</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Test every model on 102 contracts never seen in training, then put all the models into the Clausify web app.</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CUAD dataset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510 real business contracts, marked by legal experts for 41 clause categories</a:t>
            </a:r>
            <a:endParaRPr lang="en-US" sz="17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contracts</a:t>
            </a:r>
            <a:endParaRPr lang="en-US" sz="15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clause categories</a:t>
            </a:r>
            <a:endParaRPr lang="en-US" sz="15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median contract (chars)</a:t>
            </a:r>
            <a:endParaRPr lang="en-US" sz="15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median clause (chars)</a:t>
            </a:r>
            <a:endParaRPr lang="en-US" sz="15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Per-category positive rate, train vs test (Fig. 4.8)</a:t>
            </a:r>
            <a:endParaRPr lang="en-US" sz="14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Contract-level 80/20 split</a:t>
            </a:r>
            <a:endParaRPr lang="en-US" sz="16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408 training and 102 test contracts, seed 42, used by all three models. No clause from a training contract can reach the test set.</a:t>
            </a:r>
            <a:endParaRPr lang="en-US" sz="15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Very uneven categories</a:t>
            </a:r>
            <a:endParaRPr lang="en-US" sz="16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From 100% of contracts (Document Name) down to 2.5% (Source Code Escrow). The median category appears in 23% of contracts.</a:t>
            </a:r>
            <a:endParaRPr lang="en-US" sz="15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small, fixed dataset</a:t>
            </a:r>
            <a:endParaRPr lang="en-US" sz="16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experts' marking reportedly cost about $2M, so the data cannot be grown. We start from pre-trained models and guard against over-fitting.</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DATA</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From two CUAD files to examples the models can learn from</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1</a:t>
            </a:r>
            <a:endParaRPr lang="en-US" sz="15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Clean the labels</a:t>
            </a:r>
            <a:endParaRPr lang="en-US" sz="16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Empty cells mean the category is absent, clause lists stored as text are parsed, and blank answers are dropped. Expert values are kept as they are.</a:t>
            </a:r>
            <a:endParaRPr lang="en-US" sz="15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2</a:t>
            </a:r>
            <a:endParaRPr lang="en-US" sz="15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Fix a column-name typo</a:t>
            </a:r>
            <a:endParaRPr lang="en-US" sz="16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answer column has an extra space in its name, so columns are paired by position instead of by name.</a:t>
            </a:r>
            <a:endParaRPr lang="en-US" sz="15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3</a:t>
            </a:r>
            <a:endParaRPr lang="en-US" sz="15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One row per (contract, category)</a:t>
            </a:r>
            <a:endParaRPr lang="en-US" sz="16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510 × 41 = 20,910 labelled rows, of which 32.1% are positive.</a:t>
            </a:r>
            <a:endParaRPr lang="en-US" sz="15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4</a:t>
            </a:r>
            <a:endParaRPr lang="en-US" sz="15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Cut contracts into windows</a:t>
            </a:r>
            <a:endParaRPr lang="en-US" sz="16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2,000-character windows every 1,500 characters. The 500-character overlap is longer than the median clause, giving 53,662 training windows (39.2% positive).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Four steps, from raw text to a risk-sorted report</a:t>
            </a:r>
            <a:endParaRPr lang="en-US" sz="17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700" b="1" dirty="0">
                <a:solidFill>
                  <a:srgbClr val="6B7280"/>
                </a:solidFill>
                <a:latin typeface="Cambria" pitchFamily="34" charset="0"/>
                <a:ea typeface="Cambria" pitchFamily="34" charset="-122"/>
                <a:cs typeface="Cambria" pitchFamily="34" charset="-120"/>
              </a:rPr>
              <a:t>Contract</a:t>
            </a:r>
            <a:endParaRPr lang="en-US" sz="17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pasted text, PDF or Word</a:t>
            </a:r>
            <a:endParaRPr lang="en-US" sz="15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1 Presence</a:t>
            </a:r>
            <a:endParaRPr lang="en-US" sz="17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TF-IDF + windowed DistilBERT</a:t>
            </a:r>
            <a:endParaRPr lang="en-US" sz="15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2 Span</a:t>
            </a:r>
            <a:endParaRPr lang="en-US" sz="17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DistilBERT-QA</a:t>
            </a:r>
            <a:endParaRPr lang="en-US" sz="15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3 Risk</a:t>
            </a:r>
            <a:endParaRPr lang="en-US" sz="17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41-category risk table</a:t>
            </a:r>
            <a:endParaRPr lang="en-US" sz="15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4 Explanation</a:t>
            </a:r>
            <a:endParaRPr lang="en-US" sz="17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500" dirty="0">
                <a:solidFill>
                  <a:srgbClr val="374151"/>
                </a:solidFill>
                <a:latin typeface="Calibri" pitchFamily="34" charset="0"/>
                <a:ea typeface="Calibri" pitchFamily="34" charset="-122"/>
                <a:cs typeface="Calibri" pitchFamily="34" charset="-120"/>
              </a:rPr>
              <a:t>FLAN-T5-small</a:t>
            </a:r>
            <a:endParaRPr lang="en-US" sz="15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which of 41 types?</a:t>
            </a:r>
            <a:endParaRPr lang="en-US" sz="15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the clause text</a:t>
            </a:r>
            <a:endParaRPr lang="en-US" sz="15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High / Medium / Low</a:t>
            </a:r>
            <a:endParaRPr lang="en-US" sz="15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one plain sentence</a:t>
            </a:r>
            <a:endParaRPr lang="en-US" sz="15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450" dirty="0">
                <a:solidFill>
                  <a:srgbClr val="D94F5C"/>
                </a:solidFill>
                <a:latin typeface="Calibri" pitchFamily="34" charset="0"/>
                <a:ea typeface="Calibri" pitchFamily="34" charset="-122"/>
                <a:cs typeface="Calibri" pitchFamily="34" charset="-120"/>
              </a:rPr>
              <a:t>the clause, 196 chars</a:t>
            </a:r>
            <a:endParaRPr lang="en-US" sz="14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1</a:t>
            </a:r>
            <a:endParaRPr lang="en-US" sz="14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0.04</a:t>
            </a:r>
            <a:endParaRPr lang="en-US" sz="14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2</a:t>
            </a:r>
            <a:endParaRPr lang="en-US" sz="14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0.11</a:t>
            </a:r>
            <a:endParaRPr lang="en-US" sz="14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450" dirty="0">
                <a:solidFill>
                  <a:srgbClr val="6B7280"/>
                </a:solidFill>
                <a:latin typeface="Calibri" pitchFamily="34" charset="0"/>
                <a:ea typeface="Calibri" pitchFamily="34" charset="-122"/>
                <a:cs typeface="Calibri" pitchFamily="34" charset="-120"/>
              </a:rPr>
              <a:t>window 3</a:t>
            </a:r>
            <a:endParaRPr lang="en-US" sz="14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450" dirty="0">
                <a:solidFill>
                  <a:srgbClr val="C3C9DC"/>
                </a:solidFill>
                <a:latin typeface="Calibri" pitchFamily="34" charset="0"/>
                <a:ea typeface="Calibri" pitchFamily="34" charset="-122"/>
                <a:cs typeface="Calibri" pitchFamily="34" charset="-120"/>
              </a:rPr>
              <a:t>0.07</a:t>
            </a:r>
            <a:endParaRPr lang="en-US" sz="14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450" dirty="0">
                <a:solidFill>
                  <a:srgbClr val="2E7D5B"/>
                </a:solidFill>
                <a:latin typeface="Calibri" pitchFamily="34" charset="0"/>
                <a:ea typeface="Calibri" pitchFamily="34" charset="-122"/>
                <a:cs typeface="Calibri" pitchFamily="34" charset="-120"/>
              </a:rPr>
              <a:t>window 4</a:t>
            </a:r>
            <a:endParaRPr lang="en-US" sz="14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0.91</a:t>
            </a:r>
            <a:endParaRPr lang="en-US" sz="14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22 windows for a median contract, 226 for the longest</a:t>
            </a:r>
            <a:endParaRPr lang="en-US" sz="14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max = 0.91</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 present</a:t>
            </a:r>
            <a:endParaRPr lang="en-US" sz="16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Every clause is covered</a:t>
            </a:r>
            <a:endParaRPr lang="en-US" sz="16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Windows overlap by 500 characters, more than the median clause, so no clause falls between two windows.</a:t>
            </a:r>
            <a:endParaRPr lang="en-US" sz="15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Two models must agree</a:t>
            </a:r>
            <a:endParaRPr lang="en-US" sz="16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A category is reported only when TF-IDF and DistilBERT both score at least 0.5, which removes many false alarms.</a:t>
            </a:r>
            <a:endParaRPr lang="en-US" sz="15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Measured before training: a “search first” design could find at most 64.0% of clauses, so we read every window instead.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PIPELINE</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risk layer</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 fixed level for each of the 41 categories, judged from the weaker party's side</a:t>
            </a:r>
            <a:endParaRPr lang="en-US" sz="17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Number of categories at each risk level (full table in Appendix A)</a:t>
            </a:r>
            <a:endParaRPr lang="en-US" sz="14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Five questions per category</a:t>
            </a:r>
            <a:endParaRPr lang="en-US" sz="16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Money at risk? Can it be undone? Limits on future freedom? One-sided? Does it last after the contract?</a:t>
            </a:r>
            <a:endParaRPr lang="en-US" sz="15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rule</a:t>
            </a:r>
            <a:endParaRPr lang="en-US" sz="16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no money limit, cannot be undone, or limits freedom later. Low: only records a fact. Medium: the rest.</a:t>
            </a:r>
            <a:endParaRPr lang="en-US" sz="15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Examples, with a one-line reason shown in the app</a:t>
            </a:r>
            <a:endParaRPr lang="en-US" sz="16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5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450" i="1" dirty="0">
                <a:solidFill>
                  <a:srgbClr val="374151"/>
                </a:solidFill>
                <a:latin typeface="Calibri" pitchFamily="34" charset="0"/>
                <a:ea typeface="Calibri" pitchFamily="34" charset="-122"/>
                <a:cs typeface="Calibri" pitchFamily="34" charset="-120"/>
              </a:rPr>
              <a:t>The weaker party is the side with less power over the wording, usually the side that did not write the contract. A lookup table can be checked line by line and never changes between versions.</a:t>
            </a:r>
            <a:endParaRPr lang="en-US" sz="14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TRAINING</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three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One Apple M4 laptop, standard settings, and the same 80/20 split for every model</a:t>
            </a:r>
            <a:endParaRPr lang="en-US" sz="17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Presence</a:t>
            </a:r>
            <a:endParaRPr lang="en-US" sz="14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 · 24,000 windows · LR 2e-5</a:t>
            </a:r>
            <a:endParaRPr lang="en-US" sz="14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≈50 min</a:t>
            </a:r>
            <a:endParaRPr lang="en-US" sz="15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Span</a:t>
            </a:r>
            <a:endParaRPr lang="en-US" sz="14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DistilBERT-QA · 8,000 examples · LR 3e-5</a:t>
            </a:r>
            <a:endParaRPr lang="en-US" sz="14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≈26 min</a:t>
            </a:r>
            <a:endParaRPr lang="en-US" sz="15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450" b="1" dirty="0">
                <a:solidFill>
                  <a:srgbClr val="141B3D"/>
                </a:solidFill>
                <a:latin typeface="Calibri" pitchFamily="34" charset="0"/>
                <a:ea typeface="Calibri" pitchFamily="34" charset="-122"/>
                <a:cs typeface="Calibri" pitchFamily="34" charset="-120"/>
              </a:rPr>
              <a:t>Explanation</a:t>
            </a:r>
            <a:endParaRPr lang="en-US" sz="14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FLAN-T5-small · 4,000 pairs · CPU · LR 3e-4</a:t>
            </a:r>
            <a:endParaRPr lang="en-US" sz="14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550" b="1" dirty="0">
                <a:solidFill>
                  <a:srgbClr val="141B3D"/>
                </a:solidFill>
                <a:latin typeface="Cambria" pitchFamily="34" charset="0"/>
                <a:ea typeface="Cambria" pitchFamily="34" charset="-122"/>
                <a:cs typeface="Cambria" pitchFamily="34" charset="-120"/>
              </a:rPr>
              <a:t>≈13 min</a:t>
            </a:r>
            <a:endParaRPr lang="en-US" sz="15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Learning rate: linear decay, no warm-up, clipping at 1.0 (Fig. 4.9)</a:t>
            </a:r>
            <a:endParaRPr lang="en-US" sz="14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500" i="1" dirty="0">
                <a:solidFill>
                  <a:srgbClr val="374151"/>
                </a:solidFill>
                <a:latin typeface="Calibri" pitchFamily="34" charset="0"/>
                <a:ea typeface="Calibri" pitchFamily="34" charset="-122"/>
                <a:cs typeface="Calibri" pitchFamily="34" charset="-120"/>
              </a:rPr>
              <a:t>Apple M4, 16 GB, Metal (MPS), no CUDA, two epochs each. Re-training in October 2026 reproduced the August scores to within 0.003.</a:t>
            </a:r>
            <a:endParaRPr lang="en-US" sz="15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Baseline first</a:t>
            </a:r>
            <a:endParaRPr lang="en-US" sz="16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TF-IDF (20,000 word and word-pair features) with one logistic-regression model per category. Trains in under a minute; micro-F1 0.775.</a:t>
            </a:r>
            <a:endParaRPr lang="en-US" sz="15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Healthy training</a:t>
            </a:r>
            <a:endParaRPr lang="en-US" sz="16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Presence loss fell from 0.57 to 0.26 and validation loss from 0.275 to 0.254, close to it, so no over-fitting. Summarizer loss 1.17 to 0.08.</a:t>
            </a:r>
            <a:endParaRPr lang="en-US" sz="15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Nothing tuned on the test set</a:t>
            </a:r>
            <a:endParaRPr lang="en-US" sz="16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Every setting is a standard default or fixed by reasoning before training. Presence kept 5% of its training windows for validation; the test set never chose anything.</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Each one had a measured cause and a fix</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Contracts are 16× too long for a transformer</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Read every overlapping window and keep the highest score. A “search first” design was measured first and rejected: it could reach only 64% of clauses.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DeBERTa-v3 broke on the Apple GPU</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It produced NaN gradients on MPS and took about 89 s per step on the CPU. We switched to DistilBERT; the method stayed the same.</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GPU memory was not freed between runs</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trained one model per program run and moved the small summarizer to the CPU.</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CUAD has no plain-English answers</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wrote 41 one-sentence explanations, one per category, from the weaker party's side, and fine-tuned FLAN-T5 on them.</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PROBLEMS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Found by testing the app on real inputs, then fixed and re-tested</a:t>
            </a:r>
            <a:endParaRPr lang="en-US" sz="17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list of 6 clauses gave 14 cards</a:t>
            </a:r>
            <a:endParaRPr lang="en-US" sz="16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We added a clause mode in which each paragraph gets exactly one category and one card. A contract with 18 numbered clauses now gives 18 cards.</a:t>
            </a:r>
            <a:endParaRPr lang="en-US" sz="15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Scores were not comparable across categories</a:t>
            </a:r>
            <a:endParaRPr lang="en-US" sz="16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“Parties” scored about 0.98 on almost any clause. Each score is now adjusted against 1,586 training clauses, which raised correct categories from 9.6% to 42.3%.</a:t>
            </a:r>
            <a:endParaRPr lang="en-US" sz="15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The quoted text was almost the same for every category</a:t>
            </a:r>
            <a:endParaRPr lang="en-US" sz="16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presence model now picks the paragraph, and the span model only highlights the key phrase inside it.</a:t>
            </a:r>
            <a:endParaRPr lang="en-US" sz="15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Very long contracts were slow</a:t>
            </a:r>
            <a:endParaRPr lang="en-US" sz="16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34.8 s. The app states this on screen.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EVALUATION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7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510 CUAD contracts</a:t>
            </a:r>
            <a:endParaRPr lang="en-US" sz="17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split once by contract, seed 42</a:t>
            </a:r>
            <a:endParaRPr lang="en-US" sz="15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700" b="1" dirty="0">
                <a:solidFill>
                  <a:srgbClr val="141B3D"/>
                </a:solidFill>
                <a:latin typeface="Calibri" pitchFamily="34" charset="0"/>
                <a:ea typeface="Calibri" pitchFamily="34" charset="-122"/>
                <a:cs typeface="Calibri" pitchFamily="34" charset="-120"/>
              </a:rPr>
              <a:t>102 unseen test contracts  (408 used for training)</a:t>
            </a:r>
            <a:endParaRPr lang="en-US" sz="17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  a separate notebook loads the saved models</a:t>
            </a:r>
            <a:endParaRPr lang="en-US" sz="15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4,182 presence decisions · 2,667 span windows · 150 clauses</a:t>
            </a:r>
            <a:endParaRPr lang="en-US" sz="17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bootstrap resamples of contracts</a:t>
            </a:r>
            <a:endParaRPr lang="en-US" sz="1500" dirty="0"/>
          </a:p>
          <a:p>
            <a:pPr indent="0" marL="0">
              <a:buNone/>
            </a:pPr>
            <a:r>
              <a:rPr lang="en-US" sz="1500" dirty="0">
                <a:solidFill>
                  <a:srgbClr val="374151"/>
                </a:solidFill>
                <a:latin typeface="Calibri" pitchFamily="34" charset="0"/>
                <a:ea typeface="Calibri" pitchFamily="34" charset="-122"/>
                <a:cs typeface="Calibri" pitchFamily="34" charset="-120"/>
              </a:rPr>
              <a:t>for every 95% confidence interval</a:t>
            </a:r>
            <a:endParaRPr lang="en-US" sz="15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500" dirty="0">
                <a:solidFill>
                  <a:srgbClr val="374151"/>
                </a:solidFill>
                <a:latin typeface="Calibri" pitchFamily="34" charset="0"/>
                <a:ea typeface="Calibri" pitchFamily="34" charset="-122"/>
                <a:cs typeface="Calibri" pitchFamily="34" charset="-120"/>
              </a:rPr>
              <a:t>Scores: micro-F1, accuracy, precision, recall and specificity for presence; token-F1 and exact match for clause text; ROUGE-L for explanations. We re-checked the main result with three seeds, the full training set and 20 different splits.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Micro-F1 over 4,182 (contract, category) test decisions</a:t>
            </a:r>
            <a:endParaRPr lang="en-US" sz="17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Per-category F1, twelve</a:t>
            </a:r>
            <a:endParaRPr lang="en-US" sz="1500" dirty="0"/>
          </a:p>
          <a:p>
            <a:pPr indent="0" marL="0">
              <a:buNone/>
            </a:pPr>
            <a:r>
              <a:rPr lang="en-US" sz="1500" i="1" dirty="0">
                <a:solidFill>
                  <a:srgbClr val="6B7280"/>
                </a:solidFill>
                <a:latin typeface="Calibri" pitchFamily="34" charset="0"/>
                <a:ea typeface="Calibri" pitchFamily="34" charset="-122"/>
                <a:cs typeface="Calibri" pitchFamily="34" charset="-120"/>
              </a:rPr>
              <a:t>strongest categories (Fig. 5.3)</a:t>
            </a:r>
            <a:endParaRPr lang="en-US" sz="15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Highest score: the AND-ensemble</a:t>
            </a:r>
            <a:endParaRPr lang="en-US" sz="16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Micro-F1 0.779 · accuracy 85.65% · precision 77.38% · recall 78.41% · specificity 89.10%. Its lead over TF-IDF is inside the 95% interval, so we call it a tie.</a:t>
            </a:r>
            <a:endParaRPr lang="en-US" sz="15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A strong simple baseline</a:t>
            </a:r>
            <a:endParaRPr lang="en-US" sz="16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TF-IDF reaches 0.775 and beats the window transformer (0.692) by 0.082. The gap held with three seeds, all 53,662 windows and six pooling rules.</a:t>
            </a:r>
            <a:endParaRPr lang="en-US" sz="15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Common clauses are almost solved</a:t>
            </a:r>
            <a:endParaRPr lang="en-US" sz="16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Document Name 1.000, Parties 0.995, Agreement Date 0.963, Governing Law 0.931. The rarest categories have only 2 to 7 test examples, too few to learn reliably.</a:t>
            </a:r>
            <a:endParaRPr lang="en-US" sz="15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plain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How the span model and the summarizer do on unseen clauses</a:t>
            </a:r>
            <a:endParaRPr lang="en-US" sz="17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450" dirty="0">
                <a:solidFill>
                  <a:srgbClr val="374151"/>
                </a:solidFill>
                <a:latin typeface="Calibri" pitchFamily="34" charset="0"/>
                <a:ea typeface="Calibri" pitchFamily="34" charset="-122"/>
                <a:cs typeface="Calibri" pitchFamily="34" charset="-120"/>
              </a:rPr>
              <a:t>clause text</a:t>
            </a:r>
            <a:endParaRPr lang="en-US" sz="1450" dirty="0"/>
          </a:p>
          <a:p>
            <a:pPr algn="ctr" indent="0" marL="0">
              <a:buNone/>
            </a:pPr>
            <a:r>
              <a:rPr lang="en-US" sz="1450" dirty="0">
                <a:solidFill>
                  <a:srgbClr val="374151"/>
                </a:solidFill>
                <a:latin typeface="Calibri" pitchFamily="34" charset="0"/>
                <a:ea typeface="Calibri" pitchFamily="34" charset="-122"/>
                <a:cs typeface="Calibri" pitchFamily="34" charset="-120"/>
              </a:rPr>
              <a:t>“any attempted assignment … will be void”</a:t>
            </a:r>
            <a:endParaRPr lang="en-US" sz="14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FLAN-T5-small</a:t>
            </a:r>
            <a:endParaRPr lang="en-US" sz="1450" dirty="0"/>
          </a:p>
          <a:p>
            <a:pPr algn="ctr" indent="0" marL="0">
              <a:buNone/>
            </a:pPr>
            <a:r>
              <a:rPr lang="en-US" sz="1450" b="1" dirty="0">
                <a:solidFill>
                  <a:srgbClr val="FFFFFF"/>
                </a:solidFill>
                <a:latin typeface="Calibri" pitchFamily="34" charset="0"/>
                <a:ea typeface="Calibri" pitchFamily="34" charset="-122"/>
                <a:cs typeface="Calibri" pitchFamily="34" charset="-120"/>
              </a:rPr>
              <a:t>picks the category sentence</a:t>
            </a:r>
            <a:endParaRPr lang="en-US" sz="14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Anti-Assignment sentence</a:t>
            </a:r>
            <a:endParaRPr lang="en-US" sz="14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450" b="1" dirty="0">
                <a:solidFill>
                  <a:srgbClr val="4CAF82"/>
                </a:solidFill>
                <a:latin typeface="Calibri" pitchFamily="34" charset="0"/>
                <a:ea typeface="Calibri" pitchFamily="34" charset="-122"/>
                <a:cs typeface="Calibri" pitchFamily="34" charset="-120"/>
              </a:rPr>
              <a:t>right 70%</a:t>
            </a:r>
            <a:endParaRPr lang="en-US" sz="14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Cap on Liability sentence</a:t>
            </a:r>
            <a:endParaRPr lang="en-US" sz="14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450" dirty="0">
                <a:solidFill>
                  <a:srgbClr val="141B3D"/>
                </a:solidFill>
                <a:latin typeface="Calibri" pitchFamily="34" charset="0"/>
                <a:ea typeface="Calibri" pitchFamily="34" charset="-122"/>
                <a:cs typeface="Calibri" pitchFamily="34" charset="-120"/>
              </a:rPr>
              <a:t>ROFR sentence</a:t>
            </a:r>
            <a:endParaRPr lang="en-US" sz="14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450" b="1" dirty="0">
                <a:solidFill>
                  <a:srgbClr val="D94F5C"/>
                </a:solidFill>
                <a:latin typeface="Calibri" pitchFamily="34" charset="0"/>
                <a:ea typeface="Calibri" pitchFamily="34" charset="-122"/>
                <a:cs typeface="Calibri" pitchFamily="34" charset="-120"/>
              </a:rPr>
              <a:t>other 30%</a:t>
            </a:r>
            <a:endParaRPr lang="en-US" sz="14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  one of the 41 sentences we wrote</a:t>
            </a:r>
            <a:endParaRPr lang="en-US" sz="14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token-F1 of the clause text</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95% CI 0.743 to 0.782</a:t>
            </a:r>
            <a:endParaRPr lang="en-US" sz="15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of answers overlap the real clause</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well (token-F1 ≥ 0.5)</a:t>
            </a:r>
            <a:endParaRPr lang="en-US" sz="15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550" dirty="0">
                <a:solidFill>
                  <a:srgbClr val="6B7280"/>
                </a:solidFill>
                <a:latin typeface="Calibri" pitchFamily="34" charset="0"/>
                <a:ea typeface="Calibri" pitchFamily="34" charset="-122"/>
                <a:cs typeface="Calibri" pitchFamily="34" charset="-120"/>
              </a:rPr>
              <a:t>ROUGE-L of the explanations</a:t>
            </a:r>
            <a:endParaRPr lang="en-US" sz="1550" dirty="0"/>
          </a:p>
          <a:p>
            <a:pPr algn="ctr" indent="0" marL="0">
              <a:buNone/>
            </a:pPr>
            <a:r>
              <a:rPr lang="en-US" sz="1550" dirty="0">
                <a:solidFill>
                  <a:srgbClr val="6B7280"/>
                </a:solidFill>
                <a:latin typeface="Calibri" pitchFamily="34" charset="0"/>
                <a:ea typeface="Calibri" pitchFamily="34" charset="-122"/>
                <a:cs typeface="Calibri" pitchFamily="34" charset="-120"/>
              </a:rPr>
              <a:t>against our 41 sentences</a:t>
            </a:r>
            <a:endParaRPr lang="en-US" sz="15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How to read these numbers</a:t>
            </a:r>
            <a:endParaRPr lang="en-US" sz="16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span score is measured on windows that contain the clause, with a 67M-parameter model about ten times smaller than the best published CUAD model. The summarizer explains the category: it outputs one of our 41 sentences, which is why it scores only 0.116 against clause-specific references.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1E2761"/>
                </a:solidFill>
                <a:latin typeface="Calibri" pitchFamily="34" charset="0"/>
                <a:ea typeface="Calibri" pitchFamily="34" charset="-122"/>
                <a:cs typeface="Calibri" pitchFamily="34" charset="-120"/>
              </a:rPr>
              <a:t>RESULTS</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All the trained models running on any contract, with the risky clauses first</a:t>
            </a:r>
            <a:endParaRPr lang="en-US" sz="17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The risk-sorted report (Fig. 4.15)</a:t>
            </a:r>
            <a:endParaRPr lang="en-US" sz="14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Speed, measured</a:t>
            </a:r>
            <a:endParaRPr lang="en-US" sz="16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Median contract 30.1 s, worst case 34.8 s on a CPU.</a:t>
            </a:r>
            <a:endParaRPr lang="en-US" sz="15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Finds High-risk clauses</a:t>
            </a:r>
            <a:endParaRPr lang="en-US" sz="16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The default detector finds 84% of High-risk clauses.</a:t>
            </a:r>
            <a:endParaRPr lang="en-US" sz="15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Clause mode</a:t>
            </a:r>
            <a:endParaRPr lang="en-US" sz="16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One card per clause: 18 numbered clauses give 18 cards.</a:t>
            </a:r>
            <a:endParaRPr lang="en-US" sz="15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650" b="1" dirty="0">
                <a:solidFill>
                  <a:srgbClr val="141B3D"/>
                </a:solidFill>
                <a:latin typeface="Calibri" pitchFamily="34" charset="0"/>
                <a:ea typeface="Calibri" pitchFamily="34" charset="-122"/>
                <a:cs typeface="Calibri" pitchFamily="34" charset="-120"/>
              </a:rPr>
              <a:t>Private by design</a:t>
            </a:r>
            <a:endParaRPr lang="en-US" sz="16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550" dirty="0">
                <a:solidFill>
                  <a:srgbClr val="374151"/>
                </a:solidFill>
                <a:latin typeface="Calibri" pitchFamily="34" charset="0"/>
                <a:ea typeface="Calibri" pitchFamily="34" charset="-122"/>
                <a:cs typeface="Calibri" pitchFamily="34" charset="-120"/>
              </a:rPr>
              <a:t>Runs locally; the contract is never saved or sent anywhere.</a:t>
            </a:r>
            <a:endParaRPr lang="en-US" sz="15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800" b="1" dirty="0">
                <a:solidFill>
                  <a:srgbClr val="141B3D"/>
                </a:solidFill>
                <a:latin typeface="Cambria" pitchFamily="34" charset="0"/>
                <a:ea typeface="Cambria" pitchFamily="34" charset="-122"/>
                <a:cs typeface="Cambria" pitchFamily="34" charset="-120"/>
              </a:rPr>
              <a:t>What the app does</a:t>
            </a:r>
            <a:endParaRPr lang="en-US" sz="18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Upload or paste</a:t>
            </a:r>
            <a:endParaRPr lang="en-US" sz="16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Word or text; whole contract, separate clauses, or Auto</a:t>
            </a:r>
            <a:endParaRPr lang="en-US" sz="14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Risk-sorted cards</a:t>
            </a:r>
            <a:endParaRPr lang="en-US" sz="16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category, risk level and reason, plain-English line, scores and quoted text</a:t>
            </a:r>
            <a:endParaRPr lang="en-US" sz="14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Highlighted contract</a:t>
            </a:r>
            <a:endParaRPr lang="en-US" sz="16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every clause found in its risk colour, plus a missing-protection checklist</a:t>
            </a:r>
            <a:endParaRPr lang="en-US" sz="14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Downloadable report</a:t>
            </a:r>
            <a:endParaRPr lang="en-US" sz="16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450" dirty="0">
                <a:solidFill>
                  <a:srgbClr val="374151"/>
                </a:solidFill>
                <a:latin typeface="Calibri" pitchFamily="34" charset="0"/>
                <a:ea typeface="Calibri" pitchFamily="34" charset="-122"/>
                <a:cs typeface="Calibri" pitchFamily="34" charset="-120"/>
              </a:rPr>
              <a:t>PDF and CSV files; 38 of 38 automated app tests pass</a:t>
            </a:r>
            <a:endParaRPr lang="en-US" sz="14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DISCUSSION</a:t>
            </a:r>
            <a:endParaRPr lang="en-US" sz="14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700" i="1" dirty="0">
                <a:solidFill>
                  <a:srgbClr val="6B7280"/>
                </a:solidFill>
                <a:latin typeface="Calibri" pitchFamily="34" charset="0"/>
                <a:ea typeface="Calibri" pitchFamily="34" charset="-122"/>
                <a:cs typeface="Calibri" pitchFamily="34" charset="-120"/>
              </a:rPr>
              <a:t>What the project delivered, and what we would do next</a:t>
            </a:r>
            <a:endParaRPr lang="en-US" sz="17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800" b="1" dirty="0">
                <a:solidFill>
                  <a:srgbClr val="4CAF82"/>
                </a:solidFill>
                <a:latin typeface="Cambria" pitchFamily="34" charset="0"/>
                <a:ea typeface="Cambria" pitchFamily="34" charset="-122"/>
                <a:cs typeface="Cambria" pitchFamily="34" charset="-120"/>
              </a:rPr>
              <a:t>What we achieved</a:t>
            </a:r>
            <a:endParaRPr lang="en-US" sz="18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complete system, tested on unseen contracts</a:t>
            </a:r>
            <a:endParaRPr lang="en-US" sz="16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presence, clause text, risk level and plain English for 41 clause types</a:t>
            </a:r>
            <a:endParaRPr lang="en-US" sz="15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strong result on finding clauses</a:t>
            </a:r>
            <a:endParaRPr lang="en-US" sz="16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AND-ensemble micro-F1 0.779 and accuracy 85.65%; TF-IDF 0.775 is a strong baseline</a:t>
            </a:r>
            <a:endParaRPr lang="en-US" sz="15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Accurate clause text</a:t>
            </a:r>
            <a:endParaRPr lang="en-US" sz="16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token-F1 0.764, with 82.8% good overlap when the window holds the clause</a:t>
            </a:r>
            <a:endParaRPr lang="en-US" sz="15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working, tested app</a:t>
            </a:r>
            <a:endParaRPr lang="en-US" sz="16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Clausify runs locally in about 30 s per contract; 38 of 38 tests pass</a:t>
            </a:r>
            <a:endParaRPr lang="en-US" sz="15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Next steps</a:t>
            </a:r>
            <a:endParaRPr lang="en-US" sz="18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Lawyer review of the risk table</a:t>
            </a:r>
            <a:endParaRPr lang="en-US" sz="16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two or three reviewers, with agreement measured by kappa</a:t>
            </a:r>
            <a:endParaRPr lang="en-US" sz="15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Calibrate the confidence score</a:t>
            </a:r>
            <a:endParaRPr lang="en-US" sz="16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fit it on a validation split so the bar reads as a probability</a:t>
            </a:r>
            <a:endParaRPr lang="en-US" sz="15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A user study</a:t>
            </a:r>
            <a:endParaRPr lang="en-US" sz="16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5 to 10 non-lawyers, measuring time and clauses found</a:t>
            </a:r>
            <a:endParaRPr lang="en-US" sz="15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Explanations for each clause</a:t>
            </a:r>
            <a:endParaRPr lang="en-US" sz="16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grow the 150-clause trial set into a few thousand targets</a:t>
            </a:r>
            <a:endParaRPr lang="en-US" sz="15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600" b="1" dirty="0">
                <a:solidFill>
                  <a:srgbClr val="141B3D"/>
                </a:solidFill>
                <a:latin typeface="Calibri" pitchFamily="34" charset="0"/>
                <a:ea typeface="Calibri" pitchFamily="34" charset="-122"/>
                <a:cs typeface="Calibri" pitchFamily="34" charset="-120"/>
              </a:rPr>
              <a:t>Beyond CUAD</a:t>
            </a:r>
            <a:endParaRPr lang="en-US" sz="16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larger models on a GPU, and contracts from Bangladesh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